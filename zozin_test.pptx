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23A000-300F-4321-BD49-D472AD37DB6F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80EE18-6841-44B7-98B3-4321BA39AF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D9FE1E-E85B-4195-B4E8-C1D1D84C93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14A625-951D-4C96-B60A-EC53579068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33ED59-8629-46C3-AD35-DC26283031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B1084A-B51C-433C-8518-40D78FA7A5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52CAB3-D243-4BCB-A5DF-63320D3763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ECD19D-A3A5-4E2F-B5EF-6B1A4C916B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02FCF-D13D-4F83-B132-897658FD0E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48CF32-AC94-409A-9DDC-E0C3F9D0C5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3DD7CC-A80C-4608-A608-35178B5FA5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C40CFD-615F-4F8B-8E4F-8DFA527060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GB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27.jpg"/><Relationship Id="rId10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947600" y="320040"/>
            <a:ext cx="9966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sz="1400" b="0">
                <a:solidFill>
                  <a:srgbClr val="FFFFFF"/>
                </a:solidFill>
                <a:latin typeface="Arial"/>
              </a:rPr>
              <a:t>Министерство науки и высшего образования Российской Федерации
ФГБОУ ВО «Магнитогорский государственный технический университет им. Г.И. Носова»
Институт энергетики и автоматизированных систем · Кафедра ВТиП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792080" y="246888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sz="2600" b="1">
                <a:solidFill>
                  <a:srgbClr val="FFFFFF"/>
                </a:solidFill>
                <a:latin typeface="Arial"/>
              </a:rPr>
              <a:t>ПРОЕКТИРОВАНИЕ И РАЗРАБОТКА ИНФОРМАЦИОННОЙ СИСТЕМЫ УПРАВЛЕНИЯ ВОЛОНТЕРАМИ С ЭЛЕМЕНТАМИ ГЕЙМИФИКАЦИИ И АНАЛИТИКИ</a:t>
            </a:r>
            <a:endParaRPr b="0" lang="en-GB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218760" y="5650920"/>
            <a:ext cx="8595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Выполнил: обучающийся Зозин П.А.
Направление 09.03.01 — Информатика и вычислительная техника
Руководитель: доцент кафедры ВТиП, к.п.н. Гладышева М.М.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058400" y="651060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sz="1400" b="0">
                <a:solidFill>
                  <a:srgbClr val="FFFFFF"/>
                </a:solidFill>
                <a:latin typeface="Arial"/>
              </a:rPr>
              <a:t>Магнитогорск, 2026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3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noAutofit/>
          </a:bodyPr>
          <a:p>
            <a:pPr defTabSz="914400" algn="ctr">
              <a:lnSpc>
                <a:spcPct val="100000"/>
              </a:lnSpc>
              <a:tabLst>
                <a:tab algn="l" pos="0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Цель, объект, предмет и задачи работы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9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0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2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40080" y="1143000"/>
            <a:ext cx="10881360" cy="1143000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1261872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ЦЕЛЬ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1170432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Повысить эффективность управления волонтерской деятельностью за счет разработки web-ориентированной информационной системы «Пульс» с учетом заявок, задач, часов, сертификатов, геймификации и аналитики.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251460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2670048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ОБЪЕКТ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2587752"/>
            <a:ext cx="3703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637"/>
                </a:solidFill>
                <a:latin typeface="Arial"/>
              </a:rPr>
              <a:t>процесс управления волонтерской деятельностью в организации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25146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2670048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ПРЕДМЕТ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587752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637"/>
                </a:solidFill>
                <a:latin typeface="Arial"/>
              </a:rPr>
              <a:t>информационная система «Пульс» и связанные пользовательские сценарии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3657600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77240" y="3758184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3730752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Проанализировать предметную область и аналоги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657600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09360" y="3758184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3730752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Спроектировать архитектуру, БД и REST API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4370832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77240" y="4471416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34440" y="4443984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Реализовать backend, frontend и роли доступа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2200" y="4370832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309360" y="4471416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4443984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Связать заявки, часы, достижения и сертификаты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5084064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" y="5184648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" y="5157216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Проверить сборку и ключевые сценарии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72200" y="5084064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309360" y="5184648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5157216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Оценить практический эффект и план пилота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noAutofit/>
          </a:bodyPr>
          <a:p>
            <a:pPr defTabSz="914400" algn="ctr">
              <a:lnSpc>
                <a:spcPct val="100000"/>
              </a:lnSpc>
              <a:tabLst>
                <a:tab algn="l" pos="0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Анализ аналогов: нужен локальный полный контур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1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3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3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40080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353312" y="1508760"/>
            <a:ext cx="1024128" cy="658368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59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Добро.рф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2" y="2816352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60" b="0">
                <a:solidFill>
                  <a:srgbClr val="5B6476"/>
                </a:solidFill>
                <a:latin typeface="Arial"/>
              </a:rPr>
              <a:t>масштабная публичная экосистема, но не локальное пространство организации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447287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160520" y="1508760"/>
            <a:ext cx="1024128" cy="658368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I/V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30168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Idealist / VolunteerMatch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03320" y="2816352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60" b="0">
                <a:solidFill>
                  <a:srgbClr val="5B6476"/>
                </a:solidFill>
                <a:latin typeface="Arial"/>
              </a:rPr>
              <a:t>сильный поиск возможностей, но слабый учет внутреннего вклада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54496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967728" y="1508760"/>
            <a:ext cx="1024128" cy="658368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37376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Timecounts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10528" y="2816352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60" b="0">
                <a:solidFill>
                  <a:srgbClr val="5B6476"/>
                </a:solidFill>
                <a:latin typeface="Arial"/>
              </a:rPr>
              <a:t>операционная работа событий, но нужна адаптация под аналитику и сертификаты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061703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774935" y="1508760"/>
            <a:ext cx="1024128" cy="658368"/>
          </a:xfrm>
          <a:prstGeom prst="roundRect">
            <a:avLst/>
          </a:prstGeom>
          <a:solidFill>
            <a:srgbClr val="1F2637"/>
          </a:solidFill>
          <a:ln>
            <a:solidFill>
              <a:srgbClr val="1F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44583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Golden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17735" y="2816352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60" b="0">
                <a:solidFill>
                  <a:srgbClr val="5B6476"/>
                </a:solidFill>
                <a:latin typeface="Arial"/>
              </a:rPr>
              <a:t>коммерческая SaaS-платформа, меньше контроля над моделью данных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080" y="4233672"/>
            <a:ext cx="10881360" cy="960120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8680" y="4343400"/>
            <a:ext cx="9829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FFFFFF"/>
                </a:solidFill>
                <a:latin typeface="Arial"/>
              </a:rPr>
              <a:t>Вывод: существующие решения закрывают отдельные части процесса, но не связывают локальные роли, заявки, подтвержденные часы, достижения, сертификаты и аналитику в одном контуре данных.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1520" y="5413248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B6476"/>
                </a:solidFill>
                <a:latin typeface="Arial"/>
              </a:rPr>
              <a:t>Покрытие полного цикла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71800" y="539496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каталог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120640" y="5431536"/>
            <a:ext cx="-73152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5120640" y="5431536"/>
            <a:ext cx="-243840" cy="146304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89120" y="53675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E5AAC"/>
                </a:solidFill>
                <a:latin typeface="Arial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83480" y="539496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event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132320" y="5431536"/>
            <a:ext cx="-73152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132320" y="5431536"/>
            <a:ext cx="-365760" cy="146304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0" y="53675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E5AAC"/>
                </a:solidFill>
                <a:latin typeface="Arial"/>
              </a:rPr>
              <a:t>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95160" y="539496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SaaS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144000" y="5431536"/>
            <a:ext cx="-73152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9144000" y="5431536"/>
            <a:ext cx="-487680" cy="146304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12480" y="53675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E5AAC"/>
                </a:solidFill>
                <a:latin typeface="Arial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06840" y="539496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Пульс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1155680" y="5431536"/>
            <a:ext cx="-73152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155680" y="5431536"/>
            <a:ext cx="-731520" cy="146304"/>
          </a:xfrm>
          <a:prstGeom prst="roundRect">
            <a:avLst/>
          </a:prstGeom>
          <a:solidFill>
            <a:srgbClr val="1F9D72"/>
          </a:solidFill>
          <a:ln w="12700"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424160" y="53675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F9D72"/>
                </a:solidFill>
                <a:latin typeface="Arial"/>
              </a:rPr>
              <a:t>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79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noAutofit/>
          </a:bodyPr>
          <a:p>
            <a:pPr defTabSz="914400" algn="ctr">
              <a:lnSpc>
                <a:spcPct val="100000"/>
              </a:lnSpc>
              <a:tabLst>
                <a:tab algn="l" pos="0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Технологический стек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2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33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4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130"/>
          <p:cNvSpPr/>
          <p:nvPr/>
        </p:nvSpPr>
        <p:spPr>
          <a:xfrm>
            <a:off x="640080" y="1298448"/>
            <a:ext cx="3246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40080" y="1298448"/>
            <a:ext cx="3246120" cy="621792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0080" y="138988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32688" y="2176272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53312" y="205740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Vue.js 3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32688" y="2798064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53312" y="2679192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TypeScript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32688" y="3419856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53312" y="3300984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Vite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32688" y="4041648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353312" y="3922776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страницы ролей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32688" y="4663440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353312" y="4544568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адаптивный интерфейс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325112" y="1298448"/>
            <a:ext cx="3246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325112" y="1298448"/>
            <a:ext cx="3246120" cy="621792"/>
          </a:xfrm>
          <a:prstGeom prst="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325112" y="138988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617720" y="2176272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038344" y="205740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Go + Gin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617720" y="2798064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038344" y="2679192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REST API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17720" y="3419856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38344" y="3300984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JWT / refresh-сессии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617720" y="4041648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038344" y="3922776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сервисы и репозитории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617720" y="4663440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038344" y="4544568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audit log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010144" y="1298448"/>
            <a:ext cx="3246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010144" y="1298448"/>
            <a:ext cx="32461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010144" y="138988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Данные / DevOps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302752" y="2176272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23376" y="205740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PostgreSQL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302752" y="2798064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723376" y="2679192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миграции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302752" y="3419856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723376" y="3300984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Docker Compose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302752" y="4041648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23376" y="3922776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файловые загрузки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302752" y="4663440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723376" y="4544568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F2637"/>
                </a:solidFill>
                <a:latin typeface="Arial"/>
              </a:rPr>
              <a:t>сертификаты и аналитика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31520" y="5715000"/>
            <a:ext cx="10241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B6476"/>
                </a:solidFill>
                <a:latin typeface="Arial"/>
              </a:rPr>
              <a:t>Стек выбран под web-приложение с разграничением ролей, воспроизводимым развертыванием и реляционной целостностью данных.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32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noAutofit/>
          </a:bodyPr>
          <a:p>
            <a:pPr defTabSz="914400" algn="ctr">
              <a:lnSpc>
                <a:spcPct val="100000"/>
              </a:lnSpc>
              <a:tabLst>
                <a:tab algn="l" pos="0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Архитектура «Пульс» связывает роли, API и данные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5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ounded Rectangle 157"/>
          <p:cNvSpPr/>
          <p:nvPr/>
        </p:nvSpPr>
        <p:spPr>
          <a:xfrm>
            <a:off x="640080" y="123444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0080" y="1234440"/>
            <a:ext cx="3063240" cy="960120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14400" y="1389888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rial"/>
              </a:rPr>
              <a:t>Уровень представления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14400" y="1755648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Vue.js SPA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77639" y="1389888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637"/>
                </a:solidFill>
                <a:latin typeface="Arial"/>
              </a:rPr>
              <a:t>личный кабинет волонтера, панели координатора, администратора организации и суперадминистратора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715000" y="2258568"/>
            <a:ext cx="566928" cy="329184"/>
          </a:xfrm>
          <a:prstGeom prst="roundRect">
            <a:avLst/>
          </a:prstGeom>
          <a:solidFill>
            <a:srgbClr val="1F9D72"/>
          </a:solidFill>
          <a:ln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40080" y="24688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40080" y="2468880"/>
            <a:ext cx="3063240" cy="960120"/>
          </a:xfrm>
          <a:prstGeom prst="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14400" y="2624328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rial"/>
              </a:rPr>
              <a:t>Уровень бизнес-логики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4400" y="2990088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Go / Gin REST API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977639" y="2624328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637"/>
                </a:solidFill>
                <a:latin typeface="Arial"/>
              </a:rPr>
              <a:t>авторизация, организации, мероприятия, заявки, задачи, часы, достижения, сертификаты, аналитика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715000" y="3493008"/>
            <a:ext cx="566928" cy="329184"/>
          </a:xfrm>
          <a:prstGeom prst="roundRect">
            <a:avLst/>
          </a:prstGeom>
          <a:solidFill>
            <a:srgbClr val="1F9D72"/>
          </a:solidFill>
          <a:ln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40080" y="370332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40080" y="3703320"/>
            <a:ext cx="30632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4400" y="3858768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rial"/>
              </a:rPr>
              <a:t>Уровень данных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14400" y="4224528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PostgreSQL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977639" y="3858768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637"/>
                </a:solidFill>
                <a:latin typeface="Arial"/>
              </a:rPr>
              <a:t>пользователи, роли, организации, события, time entries, audit log и агрегаты отчетности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40080" y="5257800"/>
            <a:ext cx="10881360" cy="566928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68680" y="5330952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Ключевой принцип: заявка, посещаемость, подтвержденные часы, достижение, сертификат и KPI не разрознены, а проходят через единую модель данных.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59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noAutofit/>
          </a:bodyPr>
          <a:p>
            <a:pPr defTabSz="914400" algn="ctr">
              <a:lnSpc>
                <a:spcPct val="100000"/>
              </a:lnSpc>
              <a:tabLst>
                <a:tab algn="l" pos="0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Модель данных покрывает обязательный контур управления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4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6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183"/>
          <p:cNvSpPr/>
          <p:nvPr/>
        </p:nvSpPr>
        <p:spPr>
          <a:xfrm>
            <a:off x="640080" y="11704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68680" y="1280160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Пользователи и роли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880360" y="1243584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5B6476"/>
                </a:solidFill>
                <a:latin typeface="Arial"/>
              </a:rPr>
              <a:t>users, system_roles, memberships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40080" y="20848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68680" y="2194560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Организации и события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880360" y="2157984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5B6476"/>
                </a:solidFill>
                <a:latin typeface="Arial"/>
              </a:rPr>
              <a:t>organizations, events, applications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40080" y="29992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68680" y="3108960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Работа и вклад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880360" y="3072384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5B6476"/>
                </a:solidFill>
                <a:latin typeface="Arial"/>
              </a:rPr>
              <a:t>tasks, attendance, time_entries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640080" y="39136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68680" y="4023360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Мотивация и отчетность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880360" y="3986784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5B6476"/>
                </a:solidFill>
                <a:latin typeface="Arial"/>
              </a:rPr>
              <a:t>achievements, certificates, analytics, audit_log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77240" y="4892040"/>
            <a:ext cx="5074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F2637"/>
                </a:solidFill>
                <a:latin typeface="Arial"/>
              </a:rPr>
              <a:t>Физическая модель: 18+ предметных таблиц, внешние ключи, статусы и журнал аудита.</a:t>
            </a:r>
          </a:p>
        </p:txBody>
      </p:sp>
      <p:pic>
        <p:nvPicPr>
          <p:cNvPr id="197" name="Picture 196" descr="image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73501"/>
            <a:ext cx="4617720" cy="2825197"/>
          </a:xfrm>
          <a:prstGeom prst="rect">
            <a:avLst/>
          </a:prstGeom>
        </p:spPr>
      </p:pic>
      <p:sp>
        <p:nvSpPr>
          <p:cNvPr id="198" name="Rounded Rectangle 197"/>
          <p:cNvSpPr/>
          <p:nvPr/>
        </p:nvSpPr>
        <p:spPr>
          <a:xfrm>
            <a:off x="6446520" y="5166360"/>
            <a:ext cx="4617720" cy="530352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629400" y="5239512"/>
            <a:ext cx="4251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FFFFFF"/>
                </a:solidFill>
                <a:latin typeface="Arial"/>
              </a:rPr>
              <a:t>ER-диаграмма ядра: данные волонтера связаны с организацией, заявками, задачами и подтвержденным вкладом.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85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noAutofit/>
          </a:bodyPr>
          <a:p>
            <a:pPr defTabSz="914400" algn="ctr">
              <a:lnSpc>
                <a:spcPct val="100000"/>
              </a:lnSpc>
              <a:tabLst>
                <a:tab algn="l" pos="0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Ключевой сценарий проходит от заявки до управленческого отчета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7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220"/>
          <p:cNvSpPr/>
          <p:nvPr/>
        </p:nvSpPr>
        <p:spPr>
          <a:xfrm>
            <a:off x="685800" y="1234440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886968" y="1463040"/>
            <a:ext cx="475488" cy="475488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554480" y="1399032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Волонтер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554480" y="1664208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подает заявку на мероприятие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172200" y="1234440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6373368" y="1463040"/>
            <a:ext cx="475488" cy="475488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040880" y="1399032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Координатор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040880" y="1664208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рассматривает заявку и фиксирует участие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685800" y="2532888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886968" y="2761488"/>
            <a:ext cx="475488" cy="475488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554480" y="2697480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Система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554480" y="2962656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связывает мероприятие, задачу и запись времени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6172200" y="2532888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6373368" y="2761488"/>
            <a:ext cx="475488" cy="475488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040880" y="2697480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Координатор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040880" y="2962656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подтверждает часы по основанию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685800" y="3831335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ounded Rectangle 237"/>
          <p:cNvSpPr/>
          <p:nvPr/>
        </p:nvSpPr>
        <p:spPr>
          <a:xfrm>
            <a:off x="886968" y="4059935"/>
            <a:ext cx="475488" cy="475488"/>
          </a:xfrm>
          <a:prstGeom prst="roundRect">
            <a:avLst/>
          </a:prstGeom>
          <a:solidFill>
            <a:srgbClr val="1F9D72"/>
          </a:solidFill>
          <a:ln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554480" y="3995927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Пульс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554480" y="4261103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начисляет достижения и формирует сертификат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6172200" y="3831335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6373368" y="4059935"/>
            <a:ext cx="475488" cy="475488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040880" y="3995927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Руководитель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040880" y="4261103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видит KPI и выгружает отчет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685800" y="5422392"/>
            <a:ext cx="10561320" cy="475488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14400" y="5486400"/>
            <a:ext cx="10012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Arial"/>
              </a:rPr>
              <a:t>Главный результат сценария: управленческие показатели строятся на подтвержденных операционных данных, а не на ручном сведении таблиц.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22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noAutofit/>
          </a:bodyPr>
          <a:p>
            <a:pPr defTabSz="914400" algn="ctr">
              <a:lnSpc>
                <a:spcPct val="100000"/>
              </a:lnSpc>
              <a:tabLst>
                <a:tab algn="l" pos="0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Реализованный интерфейс закрывает основные роли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8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ounded Rectangle 225"/>
          <p:cNvSpPr/>
          <p:nvPr/>
        </p:nvSpPr>
        <p:spPr>
          <a:xfrm>
            <a:off x="685800" y="112471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7" name="Picture 226" descr="image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1234440"/>
            <a:ext cx="3118104" cy="1481328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850392" y="275234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вход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4389120" y="112471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0" name="Picture 229" descr="image2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1234440"/>
            <a:ext cx="3118104" cy="1481328"/>
          </a:xfrm>
          <a:prstGeom prst="rect">
            <a:avLst/>
          </a:prstGeom>
        </p:spPr>
      </p:pic>
      <p:sp>
        <p:nvSpPr>
          <p:cNvPr id="231" name="TextBox 230"/>
          <p:cNvSpPr txBox="1"/>
          <p:nvPr/>
        </p:nvSpPr>
        <p:spPr>
          <a:xfrm>
            <a:off x="4553712" y="275234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панель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8092440" y="112471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3" name="Picture 232" descr="image2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167" y="1234440"/>
            <a:ext cx="3118104" cy="1481328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8257031" y="275234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мероприятия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85800" y="336499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6" name="Picture 235" descr="image1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3474720"/>
            <a:ext cx="3118104" cy="1481328"/>
          </a:xfrm>
          <a:prstGeom prst="rect">
            <a:avLst/>
          </a:prstGeom>
        </p:spPr>
      </p:pic>
      <p:sp>
        <p:nvSpPr>
          <p:cNvPr id="237" name="TextBox 236"/>
          <p:cNvSpPr txBox="1"/>
          <p:nvPr/>
        </p:nvSpPr>
        <p:spPr>
          <a:xfrm>
            <a:off x="850392" y="499262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задачи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4389120" y="336499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9" name="Picture 238" descr="image1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8848" y="3474720"/>
            <a:ext cx="3118104" cy="1481328"/>
          </a:xfrm>
          <a:prstGeom prst="rect">
            <a:avLst/>
          </a:prstGeom>
        </p:spPr>
      </p:pic>
      <p:sp>
        <p:nvSpPr>
          <p:cNvPr id="240" name="TextBox 239"/>
          <p:cNvSpPr txBox="1"/>
          <p:nvPr/>
        </p:nvSpPr>
        <p:spPr>
          <a:xfrm>
            <a:off x="4553712" y="499262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часы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8092440" y="336499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2" name="Picture 241" descr="image1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2167" y="3474720"/>
            <a:ext cx="3118104" cy="1481328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8257031" y="499262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сертификаты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77240" y="5687568"/>
            <a:ext cx="10424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>
                <a:solidFill>
                  <a:srgbClr val="5B6476"/>
                </a:solidFill>
                <a:latin typeface="Arial"/>
              </a:rPr>
              <a:t>Экранные формы показывают, что результат работы не ограничен схемами: реализованы рабочие разделы для заявок, задач, часов, сертификатов и администрирования.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27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noAutofit/>
          </a:bodyPr>
          <a:p>
            <a:pPr defTabSz="914400" algn="ctr">
              <a:lnSpc>
                <a:spcPct val="100000"/>
              </a:lnSpc>
              <a:tabLst>
                <a:tab algn="l" pos="0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Проверка работоспособности: что подтверждено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28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9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9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256"/>
          <p:cNvSpPr/>
          <p:nvPr/>
        </p:nvSpPr>
        <p:spPr>
          <a:xfrm>
            <a:off x="685800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22960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npm build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22960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9D72"/>
                </a:solidFill>
                <a:latin typeface="Arial"/>
              </a:rPr>
              <a:t>успешно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22960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1782 модуля Vite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3447288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3584448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go test ./...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584448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E5AAC"/>
                </a:solidFill>
                <a:latin typeface="Arial"/>
              </a:rPr>
              <a:t>сборка OK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3584448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автотестов нет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6208776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345936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Профиль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345936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9D72"/>
                </a:solidFill>
                <a:latin typeface="Arial"/>
              </a:rPr>
              <a:t>проверен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6345936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миграция 020 + API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8970264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9107424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Аватар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107424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9D72"/>
                </a:solidFill>
                <a:latin typeface="Arial"/>
              </a:rPr>
              <a:t>проверен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107424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upload PNG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685800" y="2697480"/>
            <a:ext cx="52578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914400" y="285292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Матрица сценариев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60120" y="333756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подтверждено запуском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3108960" y="3374136"/>
            <a:ext cx="201168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ounded Rectangle 276"/>
          <p:cNvSpPr/>
          <p:nvPr/>
        </p:nvSpPr>
        <p:spPr>
          <a:xfrm>
            <a:off x="3108960" y="3374136"/>
            <a:ext cx="2011680" cy="146304"/>
          </a:xfrm>
          <a:prstGeom prst="roundRect">
            <a:avLst/>
          </a:prstGeom>
          <a:solidFill>
            <a:srgbClr val="1F9D72"/>
          </a:solidFill>
          <a:ln w="12700"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120640" y="33101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F9D72"/>
                </a:solidFill>
                <a:latin typeface="Arial"/>
              </a:rPr>
              <a:t>4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60120" y="384048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подтверждено реализацией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3108960" y="3877056"/>
            <a:ext cx="201168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ounded Rectangle 280"/>
          <p:cNvSpPr/>
          <p:nvPr/>
        </p:nvSpPr>
        <p:spPr>
          <a:xfrm>
            <a:off x="3108960" y="3877056"/>
            <a:ext cx="1005840" cy="146304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120640" y="38130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E5AAC"/>
                </a:solidFill>
                <a:latin typeface="Arial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60120" y="434340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требует опытной проверки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3108960" y="4379976"/>
            <a:ext cx="201168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ounded Rectangle 284"/>
          <p:cNvSpPr/>
          <p:nvPr/>
        </p:nvSpPr>
        <p:spPr>
          <a:xfrm>
            <a:off x="3108960" y="4379976"/>
            <a:ext cx="1005840" cy="146304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120640" y="431596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0392B"/>
                </a:solidFill>
                <a:latin typeface="Arial"/>
              </a:rPr>
              <a:t>2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14400" y="4983480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5B6476"/>
                </a:solidFill>
                <a:latin typeface="Arial"/>
              </a:rPr>
              <a:t>Формулировка результата остается корректной: подтверждены сборка, часть API и реализованный контур; полный приемочный вывод переносится в пилот.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6263640" y="2697480"/>
            <a:ext cx="49834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6492240" y="285292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Ограничения закрываются планом пилота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6492240" y="3273552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чистая PostgreSQL и миграции</a:t>
            </a:r>
          </a:p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сценарий заявка -&gt; часы -&gt; аналитика -&gt; сертификат</a:t>
            </a:r>
          </a:p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unit/integration tests прав доступа</a:t>
            </a:r>
          </a:p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измерение времени на контрольных сценариях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Image 0" descr="header_bar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58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algn="bl" blurRad="38160" dir="5400000" dist="12600" kx="0" ky="0" rotWithShape="0" sx="100000" sy="100000">
              <a:srgbClr val="1a205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 wrap="square">
            <a:noAutofit/>
          </a:bodyPr>
          <a:p>
            <a:pPr defTabSz="914400" algn="ctr">
              <a:lnSpc>
                <a:spcPct val="100000"/>
              </a:lnSpc>
              <a:tabLst>
                <a:tab algn="l" pos="0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Практический эффект: меньше ручного сведения и быстрее сценарии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10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731520" y="1252728"/>
            <a:ext cx="5120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B6476"/>
                </a:solidFill>
                <a:latin typeface="Arial"/>
              </a:rPr>
              <a:t>Расчетная оценка времени основных сценариев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896112" y="2372868"/>
            <a:ext cx="1377695" cy="1376172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896112" y="2061972"/>
            <a:ext cx="137769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E5AAC"/>
                </a:solidFill>
                <a:latin typeface="Arial"/>
              </a:rPr>
              <a:t>35 с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850392" y="3794760"/>
            <a:ext cx="146913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B6476"/>
                </a:solidFill>
                <a:latin typeface="Arial"/>
              </a:rPr>
              <a:t>заявка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602992" y="1979676"/>
            <a:ext cx="1377695" cy="1769364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2602992" y="1668780"/>
            <a:ext cx="137769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E5AAC"/>
                </a:solidFill>
                <a:latin typeface="Arial"/>
              </a:rPr>
              <a:t>45 с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2557272" y="3794760"/>
            <a:ext cx="146913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B6476"/>
                </a:solidFill>
                <a:latin typeface="Arial"/>
              </a:rPr>
              <a:t>часы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4309872" y="1783080"/>
            <a:ext cx="1377695" cy="1965960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309872" y="1472184"/>
            <a:ext cx="137769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E5AAC"/>
                </a:solidFill>
                <a:latin typeface="Arial"/>
              </a:rPr>
              <a:t>50 с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4264152" y="3794760"/>
            <a:ext cx="146913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B6476"/>
                </a:solidFill>
                <a:latin typeface="Arial"/>
              </a:rPr>
              <a:t>KPI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731520" y="3749040"/>
            <a:ext cx="5120640" cy="9144"/>
          </a:xfrm>
          <a:prstGeom prst="rect">
            <a:avLst/>
          </a:prstGeom>
          <a:solidFill>
            <a:srgbClr val="EAECF6"/>
          </a:solidFill>
          <a:ln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ounded Rectangle 288"/>
          <p:cNvSpPr/>
          <p:nvPr/>
        </p:nvSpPr>
        <p:spPr>
          <a:xfrm>
            <a:off x="6263640" y="1234440"/>
            <a:ext cx="48920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492240" y="1417320"/>
            <a:ext cx="4434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Что заменяет система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492240" y="1874519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Сбор заявок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8001000" y="1874519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476"/>
                </a:solidFill>
                <a:latin typeface="Arial"/>
              </a:rPr>
              <a:t>статусная заявка в системе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6492240" y="231343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Учет часов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001000" y="2313432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476"/>
                </a:solidFill>
                <a:latin typeface="Arial"/>
              </a:rPr>
              <a:t>запись связана с задачей/событием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492240" y="2752344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Сертификат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8001000" y="2752344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476"/>
                </a:solidFill>
                <a:latin typeface="Arial"/>
              </a:rPr>
              <a:t>формируется по подтвержденным данным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6492240" y="3191256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Отчетность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8001000" y="3191256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476"/>
                </a:solidFill>
                <a:latin typeface="Arial"/>
              </a:rPr>
              <a:t>KPI строятся из операционной БД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731520" y="4434840"/>
            <a:ext cx="10424160" cy="1051560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960120" y="4590288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Arial"/>
              </a:rPr>
              <a:t>Практическая значимость: «Пульс» можно использовать как основу автоматизации малых и средних волонтерских организаций, студенческих объединений и социальных проектов.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1828800" y="265176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4200" b="1">
                <a:solidFill>
                  <a:srgbClr val="FFFFFF"/>
                </a:solidFill>
                <a:latin typeface="Arial"/>
              </a:rPr>
              <a:t>Спасибо за внимание!</a:t>
            </a:r>
            <a:endParaRPr b="0" lang="en-GB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1828800" y="38404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sz="1800" b="0">
                <a:solidFill>
                  <a:srgbClr val="FFFFFF"/>
                </a:solidFill>
                <a:latin typeface="Arial"/>
              </a:rPr>
              <a:t>Информационная система «Пульс»: заявки, задачи, часы, достижения, сертификаты и аналитика в едином контуре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2026-06-15T16:22:23Z</dcterms:created>
  <dc:creator>Поляков С.А.</dc:creator>
  <dc:description/>
  <dc:language>en-GB</dc:language>
  <cp:lastModifiedBy/>
  <dcterms:modified xsi:type="dcterms:W3CDTF">2026-06-15T18:31:15Z</dcterms:modified>
  <cp:revision>2</cp:revision>
  <dc:subject>PptxGenJS Presentation</dc:subject>
  <dc:title>ВКР — AI Image Editor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