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86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2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2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3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3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4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5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ec79b6855f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g3ec79b6855f_0_97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g3ec79b6855f_0_97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ec79b6855f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2" name="Google Shape;182;g3ec79b6855f_0_106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g3ec79b6855f_0_106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ec79b6855f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2" name="Google Shape;192;g3ec79b6855f_0_115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g3ec79b6855f_0_115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2" name="Google Shape;202;p7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ec79b6855f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g3ec79b6855f_0_130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g3ec79b6855f_0_130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ec79b6855f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g3ec79b6855f_0_141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g3ec79b6855f_0_141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ec79b6855f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7" name="Google Shape;257;g3ec79b6855f_0_156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g3ec79b6855f_0_156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7" name="Google Shape;267;p9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9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p10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0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2" name="Google Shape;342;p11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1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200" b="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 type="blank">
  <p:cSld name="BLANK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1947600" y="320040"/>
            <a:ext cx="9966600" cy="1554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Федерации</a:t>
            </a:r>
            <a:br>
              <a:rPr lang="en-US" sz="1400" b="0" i="0" u="none" strike="noStrike" cap="none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i="0" u="none" strike="noStrike" cap="none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ФГБОУ ВО «Магнитогорский государственный технический университет им. Г.И. Носова»</a:t>
            </a:r>
            <a:br>
              <a:rPr lang="en-US" sz="1400" b="0" i="0" u="none" strike="noStrike" cap="none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i="0" u="none" strike="noStrike" cap="none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Институт энергетики и автоматизированных систем · Кафедра ВТиП</a:t>
            </a:r>
            <a:endParaRPr sz="15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1792080" y="2468880"/>
            <a:ext cx="10058040" cy="21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cap="none">
                <a:solidFill>
                  <a:srgbClr val="323C8D"/>
                </a:solidFill>
                <a:latin typeface="Arial"/>
                <a:ea typeface="Arial"/>
                <a:cs typeface="Arial"/>
                <a:sym typeface="Arial"/>
              </a:rPr>
              <a:t>ПРОЕКТИРОВАНИЕ И РАЗРАБОТКА ИНФОРМАЦИОННОЙ СИСТЕМЫ УПРАВЛЕНИЯ ВОЛОНТЕРАМИ С ЭЛЕМЕНТАМИ ГЕЙМИФИКАЦИИ И АНАЛИТИКИ</a:t>
            </a:r>
            <a:endParaRPr sz="3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3218760" y="5650920"/>
            <a:ext cx="8595000" cy="868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Выполнил: обучающийся Зозин П.А.</a:t>
            </a:r>
            <a:br>
              <a:rPr lang="en-US" sz="1400" b="0" i="0" u="none" strike="noStrike" cap="none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i="0" u="none" strike="noStrike" cap="none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Направление 09.03.01 — Информатика и вычислительная техника</a:t>
            </a:r>
            <a:br>
              <a:rPr lang="en-US" sz="1400" b="0" i="0" u="none" strike="noStrike" cap="none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i="0" u="none" strike="noStrike" cap="none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Руководитель: доцент кафедры ВТиП, к.п.н. Гладышева М.М.</a:t>
            </a:r>
            <a:endParaRPr sz="13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10058400" y="6510600"/>
            <a:ext cx="1828440" cy="29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Магнитогорск, 2026</a:t>
            </a:r>
            <a:endParaRPr sz="12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4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/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Цель, объект, предмет и задачи работы</a:t>
            </a:r>
            <a:endParaRPr sz="2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" y="1143000"/>
            <a:ext cx="10881360" cy="1143000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12700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868680" y="1553000"/>
            <a:ext cx="1325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ЦЕЛЬ</a:t>
            </a:r>
            <a:endParaRPr/>
          </a:p>
        </p:txBody>
      </p:sp>
      <p:sp>
        <p:nvSpPr>
          <p:cNvPr id="33" name="Google Shape;33;p4"/>
          <p:cNvSpPr txBox="1"/>
          <p:nvPr/>
        </p:nvSpPr>
        <p:spPr>
          <a:xfrm>
            <a:off x="1920240" y="1257407"/>
            <a:ext cx="91440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Повысить эффективность управления волонтерской деятельностью за счет разработки web-ориентированной информационной системы «Пульс» с учетом заявок, задач, часов, сертификатов, геймификации и аналитики.</a:t>
            </a:r>
            <a:endParaRPr sz="1800" b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40080" y="2514600"/>
            <a:ext cx="525780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868680" y="2820924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ОБЪЕКТ</a:t>
            </a:r>
            <a:endParaRPr/>
          </a:p>
        </p:txBody>
      </p:sp>
      <p:sp>
        <p:nvSpPr>
          <p:cNvPr id="36" name="Google Shape;36;p4"/>
          <p:cNvSpPr txBox="1"/>
          <p:nvPr/>
        </p:nvSpPr>
        <p:spPr>
          <a:xfrm>
            <a:off x="1874519" y="2671941"/>
            <a:ext cx="370332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Процесс управления</a:t>
            </a:r>
            <a:r>
              <a:rPr lang="en-US" sz="150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 волонтерской деятельностью в организации</a:t>
            </a:r>
            <a:endParaRPr sz="150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6172200" y="2514600"/>
            <a:ext cx="534924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6400800" y="2788920"/>
            <a:ext cx="1325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ПРЕДМЕТ</a:t>
            </a:r>
            <a:endParaRPr/>
          </a:p>
        </p:txBody>
      </p:sp>
      <p:sp>
        <p:nvSpPr>
          <p:cNvPr id="39" name="Google Shape;39;p4"/>
          <p:cNvSpPr txBox="1"/>
          <p:nvPr/>
        </p:nvSpPr>
        <p:spPr>
          <a:xfrm>
            <a:off x="7635240" y="2661791"/>
            <a:ext cx="361188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Информационная система «Пульс» и связанные пользовательские сценарии</a:t>
            </a:r>
            <a:endParaRPr sz="140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737575" y="3657600"/>
            <a:ext cx="9509400" cy="808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1985644" y="3919610"/>
            <a:ext cx="628200" cy="310800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42" name="Google Shape;42;p4"/>
          <p:cNvSpPr txBox="1"/>
          <p:nvPr/>
        </p:nvSpPr>
        <p:spPr>
          <a:xfrm>
            <a:off x="2812549" y="3797950"/>
            <a:ext cx="8020800" cy="5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1">
                <a:solidFill>
                  <a:schemeClr val="dk1"/>
                </a:solidFill>
              </a:rPr>
              <a:t>Провести теоретико–информационный анализ управления волонтерской деятельностью, существующих решений и сформировать дерево целей и требования к Пульс</a:t>
            </a:r>
            <a:endParaRPr sz="1300" b="1"/>
          </a:p>
        </p:txBody>
      </p:sp>
      <p:sp>
        <p:nvSpPr>
          <p:cNvPr id="43" name="Google Shape;43;p4"/>
          <p:cNvSpPr/>
          <p:nvPr/>
        </p:nvSpPr>
        <p:spPr>
          <a:xfrm>
            <a:off x="1737575" y="4568800"/>
            <a:ext cx="9509400" cy="808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985644" y="4867322"/>
            <a:ext cx="628200" cy="310800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</a:rPr>
              <a:t>2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2812540" y="4695990"/>
            <a:ext cx="8020800" cy="5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1">
                <a:solidFill>
                  <a:schemeClr val="dk1"/>
                </a:solidFill>
              </a:rPr>
              <a:t>Спроектировать и реализовать информационную систему Пульс, включая архитектуру, модели данных, алгоритмы, интерфейс и визуализацию итогов</a:t>
            </a:r>
            <a:endParaRPr sz="1300" b="1"/>
          </a:p>
        </p:txBody>
      </p:sp>
      <p:sp>
        <p:nvSpPr>
          <p:cNvPr id="46" name="Google Shape;46;p4"/>
          <p:cNvSpPr/>
          <p:nvPr/>
        </p:nvSpPr>
        <p:spPr>
          <a:xfrm>
            <a:off x="1737575" y="5466925"/>
            <a:ext cx="9509400" cy="808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1985644" y="5715710"/>
            <a:ext cx="628200" cy="310800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48" name="Google Shape;48;p4"/>
          <p:cNvSpPr txBox="1"/>
          <p:nvPr/>
        </p:nvSpPr>
        <p:spPr>
          <a:xfrm>
            <a:off x="2812540" y="5574927"/>
            <a:ext cx="8020800" cy="5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1">
                <a:solidFill>
                  <a:schemeClr val="dk1"/>
                </a:solidFill>
              </a:rPr>
              <a:t>Провести проверку работоспособности и оценить результаты эксплуатации Пульс на ключевых пользовательских сценариях</a:t>
            </a:r>
            <a:endParaRPr sz="1300"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5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"/>
          <p:cNvSpPr/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Анализ аналогов</a:t>
            </a:r>
            <a:endParaRPr sz="24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0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640080" y="1234440"/>
            <a:ext cx="2468880" cy="274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1353312" y="1508760"/>
            <a:ext cx="1024128" cy="658368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/>
          </a:p>
        </p:txBody>
      </p:sp>
      <p:sp>
        <p:nvSpPr>
          <p:cNvPr id="60" name="Google Shape;60;p5"/>
          <p:cNvSpPr txBox="1"/>
          <p:nvPr/>
        </p:nvSpPr>
        <p:spPr>
          <a:xfrm>
            <a:off x="822959" y="2331720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Добро.рф</a:t>
            </a:r>
            <a:endParaRPr/>
          </a:p>
        </p:txBody>
      </p:sp>
      <p:sp>
        <p:nvSpPr>
          <p:cNvPr id="61" name="Google Shape;61;p5"/>
          <p:cNvSpPr txBox="1"/>
          <p:nvPr/>
        </p:nvSpPr>
        <p:spPr>
          <a:xfrm>
            <a:off x="896112" y="2816352"/>
            <a:ext cx="19659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М</a:t>
            </a:r>
            <a:r>
              <a:rPr lang="en-US" sz="116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асштабная публичная экосистема, но не локальное пространство организации</a:t>
            </a:r>
            <a:endParaRPr sz="1160" b="0">
              <a:solidFill>
                <a:srgbClr val="5B647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3447287" y="1234440"/>
            <a:ext cx="2468880" cy="274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4160520" y="1508760"/>
            <a:ext cx="1024128" cy="658368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I/V</a:t>
            </a:r>
            <a:endParaRPr/>
          </a:p>
        </p:txBody>
      </p:sp>
      <p:sp>
        <p:nvSpPr>
          <p:cNvPr id="64" name="Google Shape;64;p5"/>
          <p:cNvSpPr txBox="1"/>
          <p:nvPr/>
        </p:nvSpPr>
        <p:spPr>
          <a:xfrm>
            <a:off x="3630168" y="2331720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Idealist / VolunteerMatch</a:t>
            </a:r>
            <a:endParaRPr/>
          </a:p>
        </p:txBody>
      </p:sp>
      <p:sp>
        <p:nvSpPr>
          <p:cNvPr id="65" name="Google Shape;65;p5"/>
          <p:cNvSpPr txBox="1"/>
          <p:nvPr/>
        </p:nvSpPr>
        <p:spPr>
          <a:xfrm>
            <a:off x="3703320" y="2913900"/>
            <a:ext cx="196596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С</a:t>
            </a:r>
            <a:r>
              <a:rPr lang="en-US" sz="116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ильный поиск возможностей, но слабый учет внутреннего вклада</a:t>
            </a:r>
            <a:endParaRPr sz="1160" b="0">
              <a:solidFill>
                <a:srgbClr val="5B647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6254496" y="1234440"/>
            <a:ext cx="2468880" cy="274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967728" y="1508760"/>
            <a:ext cx="1024128" cy="658368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ap="flat" cmpd="sng">
            <a:solidFill>
              <a:srgbClr val="C0392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endParaRPr/>
          </a:p>
        </p:txBody>
      </p:sp>
      <p:sp>
        <p:nvSpPr>
          <p:cNvPr id="68" name="Google Shape;68;p5"/>
          <p:cNvSpPr txBox="1"/>
          <p:nvPr/>
        </p:nvSpPr>
        <p:spPr>
          <a:xfrm>
            <a:off x="6437376" y="2331720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Timecounts</a:t>
            </a:r>
            <a:endParaRPr/>
          </a:p>
        </p:txBody>
      </p:sp>
      <p:sp>
        <p:nvSpPr>
          <p:cNvPr id="69" name="Google Shape;69;p5"/>
          <p:cNvSpPr txBox="1"/>
          <p:nvPr/>
        </p:nvSpPr>
        <p:spPr>
          <a:xfrm>
            <a:off x="6510528" y="2816352"/>
            <a:ext cx="19659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О</a:t>
            </a:r>
            <a:r>
              <a:rPr lang="en-US" sz="116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перационная работа событий, но нужна адаптация под аналитику и сертификаты</a:t>
            </a:r>
            <a:endParaRPr sz="1160" b="0">
              <a:solidFill>
                <a:srgbClr val="5B647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9061703" y="1234440"/>
            <a:ext cx="2468880" cy="274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9774935" y="1508760"/>
            <a:ext cx="1024128" cy="658368"/>
          </a:xfrm>
          <a:prstGeom prst="roundRect">
            <a:avLst>
              <a:gd name="adj" fmla="val 16667"/>
            </a:avLst>
          </a:prstGeom>
          <a:solidFill>
            <a:srgbClr val="1F2637"/>
          </a:solidFill>
          <a:ln w="9525" cap="flat" cmpd="sng">
            <a:solidFill>
              <a:srgbClr val="1F2637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endParaRPr/>
          </a:p>
        </p:txBody>
      </p:sp>
      <p:sp>
        <p:nvSpPr>
          <p:cNvPr id="72" name="Google Shape;72;p5"/>
          <p:cNvSpPr txBox="1"/>
          <p:nvPr/>
        </p:nvSpPr>
        <p:spPr>
          <a:xfrm>
            <a:off x="9244583" y="2331720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Golden</a:t>
            </a:r>
            <a:endParaRPr/>
          </a:p>
        </p:txBody>
      </p:sp>
      <p:sp>
        <p:nvSpPr>
          <p:cNvPr id="73" name="Google Shape;73;p5"/>
          <p:cNvSpPr txBox="1"/>
          <p:nvPr/>
        </p:nvSpPr>
        <p:spPr>
          <a:xfrm>
            <a:off x="9317735" y="2816352"/>
            <a:ext cx="19659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К</a:t>
            </a:r>
            <a:r>
              <a:rPr lang="en-US" sz="116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оммерческая SaaS-платформа, меньше контроля над моделью данных</a:t>
            </a:r>
            <a:endParaRPr sz="1160" b="0">
              <a:solidFill>
                <a:srgbClr val="5B647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640080" y="4233672"/>
            <a:ext cx="10881360" cy="960120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12700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868679" y="4268347"/>
            <a:ext cx="10415015" cy="854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Вывод: Существующие решения закрывают отдельные части процесса, но не связывают локальные роли, заявки, подтвержденные часы, достижения, сертификаты и аналитику в одном контуре данных.</a:t>
            </a:r>
            <a:endParaRPr/>
          </a:p>
        </p:txBody>
      </p:sp>
      <p:sp>
        <p:nvSpPr>
          <p:cNvPr id="76" name="Google Shape;76;p5"/>
          <p:cNvSpPr txBox="1"/>
          <p:nvPr/>
        </p:nvSpPr>
        <p:spPr>
          <a:xfrm>
            <a:off x="731520" y="5413248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Покрытие полного цикла</a:t>
            </a:r>
            <a:endParaRPr/>
          </a:p>
        </p:txBody>
      </p:sp>
      <p:sp>
        <p:nvSpPr>
          <p:cNvPr id="77" name="Google Shape;77;p5"/>
          <p:cNvSpPr txBox="1"/>
          <p:nvPr/>
        </p:nvSpPr>
        <p:spPr>
          <a:xfrm>
            <a:off x="3017520" y="5376672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каталог</a:t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3730752" y="5449824"/>
            <a:ext cx="822960" cy="118872"/>
          </a:xfrm>
          <a:prstGeom prst="roundRect">
            <a:avLst>
              <a:gd name="adj" fmla="val 16667"/>
            </a:avLst>
          </a:prstGeom>
          <a:solidFill>
            <a:srgbClr val="EAECF6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3730752" y="5449824"/>
            <a:ext cx="274320" cy="118872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12700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 txBox="1"/>
          <p:nvPr/>
        </p:nvSpPr>
        <p:spPr>
          <a:xfrm>
            <a:off x="4590288" y="5358384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81" name="Google Shape;81;p5"/>
          <p:cNvSpPr txBox="1"/>
          <p:nvPr/>
        </p:nvSpPr>
        <p:spPr>
          <a:xfrm>
            <a:off x="4983479" y="5376672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event</a:t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5696712" y="5449824"/>
            <a:ext cx="822960" cy="118872"/>
          </a:xfrm>
          <a:prstGeom prst="roundRect">
            <a:avLst>
              <a:gd name="adj" fmla="val 16667"/>
            </a:avLst>
          </a:prstGeom>
          <a:solidFill>
            <a:srgbClr val="EAECF6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5696712" y="5449824"/>
            <a:ext cx="411480" cy="118872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12700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6556247" y="5358384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6949440" y="5376672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SaaS</a:t>
            </a: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7662671" y="5449824"/>
            <a:ext cx="822960" cy="118872"/>
          </a:xfrm>
          <a:prstGeom prst="roundRect">
            <a:avLst>
              <a:gd name="adj" fmla="val 16667"/>
            </a:avLst>
          </a:prstGeom>
          <a:solidFill>
            <a:srgbClr val="EAECF6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7662671" y="5449824"/>
            <a:ext cx="548640" cy="118872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12700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 txBox="1"/>
          <p:nvPr/>
        </p:nvSpPr>
        <p:spPr>
          <a:xfrm>
            <a:off x="8522208" y="5358384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89" name="Google Shape;89;p5"/>
          <p:cNvSpPr txBox="1"/>
          <p:nvPr/>
        </p:nvSpPr>
        <p:spPr>
          <a:xfrm>
            <a:off x="8915400" y="5376672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Пульс</a:t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9628632" y="5449824"/>
            <a:ext cx="822960" cy="118872"/>
          </a:xfrm>
          <a:prstGeom prst="roundRect">
            <a:avLst>
              <a:gd name="adj" fmla="val 16667"/>
            </a:avLst>
          </a:prstGeom>
          <a:solidFill>
            <a:srgbClr val="EAECF6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9628632" y="5449824"/>
            <a:ext cx="822960" cy="118872"/>
          </a:xfrm>
          <a:prstGeom prst="roundRect">
            <a:avLst>
              <a:gd name="adj" fmla="val 16667"/>
            </a:avLst>
          </a:prstGeom>
          <a:solidFill>
            <a:srgbClr val="1F9D72"/>
          </a:solidFill>
          <a:ln w="12700" cap="flat" cmpd="sng">
            <a:solidFill>
              <a:srgbClr val="1F9D7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10488168" y="5358384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F9D72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6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6"/>
          <p:cNvSpPr/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Технологический стек</a:t>
            </a:r>
            <a:endParaRPr sz="26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0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640080" y="1298448"/>
            <a:ext cx="3246120" cy="2741793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640080" y="1298448"/>
            <a:ext cx="3246120" cy="621792"/>
          </a:xfrm>
          <a:prstGeom prst="rect">
            <a:avLst/>
          </a:prstGeom>
          <a:solidFill>
            <a:srgbClr val="2E5AAC"/>
          </a:solidFill>
          <a:ln w="12700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640080" y="1389888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932688" y="2176272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 txBox="1"/>
          <p:nvPr/>
        </p:nvSpPr>
        <p:spPr>
          <a:xfrm>
            <a:off x="1353312" y="2135011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Vue.js 3</a:t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932688" y="2798064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 txBox="1"/>
          <p:nvPr/>
        </p:nvSpPr>
        <p:spPr>
          <a:xfrm>
            <a:off x="1353312" y="2756803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932688" y="3419856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 txBox="1"/>
          <p:nvPr/>
        </p:nvSpPr>
        <p:spPr>
          <a:xfrm>
            <a:off x="1353312" y="3378595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Vite</a:t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4325112" y="1298448"/>
            <a:ext cx="3246120" cy="34423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4325112" y="1298448"/>
            <a:ext cx="3246120" cy="621792"/>
          </a:xfrm>
          <a:prstGeom prst="rect">
            <a:avLst/>
          </a:prstGeom>
          <a:solidFill>
            <a:srgbClr val="323C8D"/>
          </a:solidFill>
          <a:ln w="12700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 txBox="1"/>
          <p:nvPr/>
        </p:nvSpPr>
        <p:spPr>
          <a:xfrm>
            <a:off x="4325112" y="1389888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4617720" y="2176272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 txBox="1"/>
          <p:nvPr/>
        </p:nvSpPr>
        <p:spPr>
          <a:xfrm>
            <a:off x="5038344" y="2130791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Go + Gin</a:t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4617720" y="2798064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 txBox="1"/>
          <p:nvPr/>
        </p:nvSpPr>
        <p:spPr>
          <a:xfrm>
            <a:off x="5038344" y="2752583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REST API</a:t>
            </a: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4617720" y="3419856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 txBox="1"/>
          <p:nvPr/>
        </p:nvSpPr>
        <p:spPr>
          <a:xfrm>
            <a:off x="5038344" y="3251265"/>
            <a:ext cx="210312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JWT / refresh-сессии</a:t>
            </a:r>
            <a:endParaRPr/>
          </a:p>
        </p:txBody>
      </p:sp>
      <p:sp>
        <p:nvSpPr>
          <p:cNvPr id="120" name="Google Shape;120;p6"/>
          <p:cNvSpPr/>
          <p:nvPr/>
        </p:nvSpPr>
        <p:spPr>
          <a:xfrm>
            <a:off x="4617720" y="4040241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 txBox="1"/>
          <p:nvPr/>
        </p:nvSpPr>
        <p:spPr>
          <a:xfrm>
            <a:off x="5038344" y="3994760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Audit log</a:t>
            </a:r>
            <a:endParaRPr/>
          </a:p>
        </p:txBody>
      </p:sp>
      <p:sp>
        <p:nvSpPr>
          <p:cNvPr id="122" name="Google Shape;122;p6"/>
          <p:cNvSpPr/>
          <p:nvPr/>
        </p:nvSpPr>
        <p:spPr>
          <a:xfrm>
            <a:off x="8010144" y="1298448"/>
            <a:ext cx="3246120" cy="2741793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8010144" y="1298448"/>
            <a:ext cx="3246120" cy="621792"/>
          </a:xfrm>
          <a:prstGeom prst="rect">
            <a:avLst/>
          </a:prstGeom>
          <a:solidFill>
            <a:srgbClr val="C0392B"/>
          </a:solidFill>
          <a:ln w="12700" cap="flat" cmpd="sng">
            <a:solidFill>
              <a:srgbClr val="C0392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 txBox="1"/>
          <p:nvPr/>
        </p:nvSpPr>
        <p:spPr>
          <a:xfrm>
            <a:off x="8010144" y="1389888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Данные / DevOps</a:t>
            </a: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8302752" y="2176272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ap="flat" cmpd="sng">
            <a:solidFill>
              <a:srgbClr val="C0392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 txBox="1"/>
          <p:nvPr/>
        </p:nvSpPr>
        <p:spPr>
          <a:xfrm>
            <a:off x="8723376" y="2130791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PostgreSQL</a:t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8302752" y="2798064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ap="flat" cmpd="sng">
            <a:solidFill>
              <a:srgbClr val="C0392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8723376" y="2752583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Миграции</a:t>
            </a:r>
            <a:endParaRPr sz="1600" b="1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8302752" y="3419856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ap="flat" cmpd="sng">
            <a:solidFill>
              <a:srgbClr val="C0392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 txBox="1"/>
          <p:nvPr/>
        </p:nvSpPr>
        <p:spPr>
          <a:xfrm>
            <a:off x="8723376" y="3374375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Docker Compose</a:t>
            </a:r>
            <a:endParaRPr/>
          </a:p>
        </p:txBody>
      </p:sp>
      <p:sp>
        <p:nvSpPr>
          <p:cNvPr id="131" name="Google Shape;131;p6"/>
          <p:cNvSpPr txBox="1"/>
          <p:nvPr/>
        </p:nvSpPr>
        <p:spPr>
          <a:xfrm>
            <a:off x="731520" y="5715000"/>
            <a:ext cx="102412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Стек выбран под web-приложение с разграничением ролей, воспроизводимым развертыванием и реляционной целостностью данных.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7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7"/>
          <p:cNvSpPr/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Архитектура «Пульс»</a:t>
            </a:r>
            <a:endParaRPr sz="24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0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640080" y="1234440"/>
            <a:ext cx="10881360" cy="96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640080" y="1234440"/>
            <a:ext cx="3063240" cy="960120"/>
          </a:xfrm>
          <a:prstGeom prst="rect">
            <a:avLst/>
          </a:prstGeom>
          <a:solidFill>
            <a:srgbClr val="2E5AAC"/>
          </a:solidFill>
          <a:ln w="12700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 txBox="1"/>
          <p:nvPr/>
        </p:nvSpPr>
        <p:spPr>
          <a:xfrm>
            <a:off x="914400" y="1444815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Уровень представления</a:t>
            </a:r>
            <a:endParaRPr sz="1650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914400" y="1810575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Vue.js SPA</a:t>
            </a:r>
            <a:endParaRPr/>
          </a:p>
        </p:txBody>
      </p:sp>
      <p:sp>
        <p:nvSpPr>
          <p:cNvPr id="145" name="Google Shape;145;p7"/>
          <p:cNvSpPr txBox="1"/>
          <p:nvPr/>
        </p:nvSpPr>
        <p:spPr>
          <a:xfrm>
            <a:off x="3977639" y="1364349"/>
            <a:ext cx="690372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Л</a:t>
            </a:r>
            <a:r>
              <a:rPr lang="en-US" sz="150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ичный кабинет волонтера, панели координатора, администратора организации и суперадминистратора</a:t>
            </a:r>
            <a:endParaRPr sz="150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715000" y="2249550"/>
            <a:ext cx="566928" cy="329184"/>
          </a:xfrm>
          <a:prstGeom prst="roundRect">
            <a:avLst>
              <a:gd name="adj" fmla="val 16667"/>
            </a:avLst>
          </a:prstGeom>
          <a:solidFill>
            <a:srgbClr val="1F9D72"/>
          </a:solidFill>
          <a:ln w="9525" cap="flat" cmpd="sng">
            <a:solidFill>
              <a:srgbClr val="1F9D7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640080" y="2648796"/>
            <a:ext cx="10881360" cy="96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640080" y="2648796"/>
            <a:ext cx="3063240" cy="960120"/>
          </a:xfrm>
          <a:prstGeom prst="rect">
            <a:avLst/>
          </a:prstGeom>
          <a:solidFill>
            <a:srgbClr val="323C8D"/>
          </a:solidFill>
          <a:ln w="12700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 txBox="1"/>
          <p:nvPr/>
        </p:nvSpPr>
        <p:spPr>
          <a:xfrm>
            <a:off x="914400" y="2862072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Уровень бизнес-логики</a:t>
            </a:r>
            <a:endParaRPr/>
          </a:p>
        </p:txBody>
      </p:sp>
      <p:sp>
        <p:nvSpPr>
          <p:cNvPr id="150" name="Google Shape;150;p7"/>
          <p:cNvSpPr txBox="1"/>
          <p:nvPr/>
        </p:nvSpPr>
        <p:spPr>
          <a:xfrm>
            <a:off x="914400" y="3227832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Go / Gin REST API</a:t>
            </a:r>
            <a:endParaRPr/>
          </a:p>
        </p:txBody>
      </p:sp>
      <p:sp>
        <p:nvSpPr>
          <p:cNvPr id="151" name="Google Shape;151;p7"/>
          <p:cNvSpPr txBox="1"/>
          <p:nvPr/>
        </p:nvSpPr>
        <p:spPr>
          <a:xfrm>
            <a:off x="3977639" y="2778705"/>
            <a:ext cx="690372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А</a:t>
            </a:r>
            <a:r>
              <a:rPr lang="en-US" sz="150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вторизация, организации, мероприятия, заявки, задачи, часы, достижения, сертификаты, аналитика</a:t>
            </a:r>
            <a:endParaRPr sz="150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5715000" y="3669934"/>
            <a:ext cx="566928" cy="329184"/>
          </a:xfrm>
          <a:prstGeom prst="roundRect">
            <a:avLst>
              <a:gd name="adj" fmla="val 16667"/>
            </a:avLst>
          </a:prstGeom>
          <a:solidFill>
            <a:srgbClr val="1F9D72"/>
          </a:solidFill>
          <a:ln w="9525" cap="flat" cmpd="sng">
            <a:solidFill>
              <a:srgbClr val="1F9D7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640080" y="4059936"/>
            <a:ext cx="10881360" cy="96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640080" y="4059936"/>
            <a:ext cx="3063240" cy="960120"/>
          </a:xfrm>
          <a:prstGeom prst="rect">
            <a:avLst/>
          </a:prstGeom>
          <a:solidFill>
            <a:srgbClr val="C0392B"/>
          </a:solidFill>
          <a:ln w="12700" cap="flat" cmpd="sng">
            <a:solidFill>
              <a:srgbClr val="C0392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 txBox="1"/>
          <p:nvPr/>
        </p:nvSpPr>
        <p:spPr>
          <a:xfrm>
            <a:off x="914400" y="4215384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Уровень данных</a:t>
            </a:r>
            <a:endParaRPr sz="1650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914400" y="4581144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PostgreSQL</a:t>
            </a:r>
            <a:endParaRPr/>
          </a:p>
        </p:txBody>
      </p:sp>
      <p:sp>
        <p:nvSpPr>
          <p:cNvPr id="157" name="Google Shape;157;p7"/>
          <p:cNvSpPr txBox="1"/>
          <p:nvPr/>
        </p:nvSpPr>
        <p:spPr>
          <a:xfrm>
            <a:off x="3977639" y="4189845"/>
            <a:ext cx="690372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П</a:t>
            </a:r>
            <a:r>
              <a:rPr lang="en-US" sz="150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ользователи, роли, организации, события, time entries, audit log и агрегаты отчетности</a:t>
            </a:r>
            <a:endParaRPr sz="150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640080" y="5257800"/>
            <a:ext cx="10881360" cy="566928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12700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868680" y="5276532"/>
            <a:ext cx="996696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Ключевой принцип: заявка, посещаемость, подтвержденные часы, достижение, сертификат и KPI не разрознены, а проходят через единую модель данных.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9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18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9"/>
          <p:cNvSpPr/>
          <p:nvPr/>
        </p:nvSpPr>
        <p:spPr>
          <a:xfrm>
            <a:off x="1325880" y="0"/>
            <a:ext cx="9811200" cy="94620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FFFFFF"/>
                </a:solidFill>
              </a:rPr>
              <a:t>ER-диаграмма: </a:t>
            </a:r>
            <a:r>
              <a:rPr lang="en-US" sz="2400" b="1">
                <a:solidFill>
                  <a:schemeClr val="lt1"/>
                </a:solidFill>
              </a:rPr>
              <a:t>Модуль геймификации</a:t>
            </a:r>
            <a:endParaRPr sz="2400" b="1">
              <a:solidFill>
                <a:schemeClr val="lt1"/>
              </a:solidFill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640080" y="6492240"/>
            <a:ext cx="8686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11274480" y="6492240"/>
            <a:ext cx="456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rgbClr val="5B6476"/>
                </a:solidFill>
              </a:rPr>
              <a:t>6</a:t>
            </a:r>
            <a:endParaRPr sz="1000" b="0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9" name="Google Shape;179;p9" descr="image34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63545" y="946199"/>
            <a:ext cx="9064893" cy="5546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10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18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0"/>
          <p:cNvSpPr/>
          <p:nvPr/>
        </p:nvSpPr>
        <p:spPr>
          <a:xfrm>
            <a:off x="1325880" y="0"/>
            <a:ext cx="9811200" cy="94620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FFFFFF"/>
                </a:solidFill>
              </a:rPr>
              <a:t>ER-диаграмма: </a:t>
            </a:r>
            <a:r>
              <a:rPr lang="en-US" sz="2400" b="1">
                <a:solidFill>
                  <a:schemeClr val="lt1"/>
                </a:solidFill>
              </a:rPr>
              <a:t>Модуль контента и уведомлений</a:t>
            </a:r>
            <a:endParaRPr sz="2400" b="1" strike="noStrike">
              <a:solidFill>
                <a:schemeClr val="lt1"/>
              </a:solidFill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640080" y="6492240"/>
            <a:ext cx="8686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11274480" y="6492240"/>
            <a:ext cx="456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rgbClr val="5B6476"/>
                </a:solidFill>
              </a:rPr>
              <a:t>7</a:t>
            </a:r>
            <a:endParaRPr sz="1000" b="0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9" name="Google Shape;18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813" y="946075"/>
            <a:ext cx="11574364" cy="554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11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18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1"/>
          <p:cNvSpPr/>
          <p:nvPr/>
        </p:nvSpPr>
        <p:spPr>
          <a:xfrm>
            <a:off x="1325880" y="0"/>
            <a:ext cx="9811200" cy="94620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FFFFFF"/>
                </a:solidFill>
              </a:rPr>
              <a:t>ER-диаграмма: </a:t>
            </a:r>
            <a:r>
              <a:rPr lang="en-US" sz="2400" b="1">
                <a:solidFill>
                  <a:schemeClr val="lt1"/>
                </a:solidFill>
              </a:rPr>
              <a:t>Роли и организации</a:t>
            </a:r>
            <a:endParaRPr sz="2400" b="1" strike="noStrike">
              <a:solidFill>
                <a:schemeClr val="lt1"/>
              </a:solidFill>
            </a:endParaRPr>
          </a:p>
        </p:txBody>
      </p:sp>
      <p:sp>
        <p:nvSpPr>
          <p:cNvPr id="197" name="Google Shape;197;p11"/>
          <p:cNvSpPr/>
          <p:nvPr/>
        </p:nvSpPr>
        <p:spPr>
          <a:xfrm>
            <a:off x="640080" y="6492240"/>
            <a:ext cx="8686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1"/>
          <p:cNvSpPr/>
          <p:nvPr/>
        </p:nvSpPr>
        <p:spPr>
          <a:xfrm>
            <a:off x="11274480" y="6492240"/>
            <a:ext cx="456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rgbClr val="5B6476"/>
                </a:solidFill>
              </a:rPr>
              <a:t>8</a:t>
            </a:r>
            <a:endParaRPr sz="1000" b="0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98888" y="946075"/>
            <a:ext cx="7065185" cy="554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12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2"/>
          <p:cNvSpPr/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Ключевой сценарий проходит от заявки до управленческого отчета</a:t>
            </a: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2"/>
          <p:cNvSpPr/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2"/>
          <p:cNvSpPr/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rgbClr val="5B6476"/>
                </a:solidFill>
              </a:rPr>
              <a:t>9</a:t>
            </a:r>
            <a:endParaRPr sz="1000" b="0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2"/>
          <p:cNvSpPr/>
          <p:nvPr/>
        </p:nvSpPr>
        <p:spPr>
          <a:xfrm>
            <a:off x="685800" y="1234440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2"/>
          <p:cNvSpPr/>
          <p:nvPr/>
        </p:nvSpPr>
        <p:spPr>
          <a:xfrm>
            <a:off x="886968" y="1463040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211" name="Google Shape;211;p12"/>
          <p:cNvSpPr txBox="1"/>
          <p:nvPr/>
        </p:nvSpPr>
        <p:spPr>
          <a:xfrm>
            <a:off x="1554480" y="143385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Волонтер</a:t>
            </a:r>
            <a:endParaRPr sz="1450" b="1">
              <a:solidFill>
                <a:srgbClr val="2E5AA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2"/>
          <p:cNvSpPr txBox="1"/>
          <p:nvPr/>
        </p:nvSpPr>
        <p:spPr>
          <a:xfrm>
            <a:off x="1554480" y="1686145"/>
            <a:ext cx="3794760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П</a:t>
            </a:r>
            <a:r>
              <a:rPr lang="en-US" sz="135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одает заявку на мероприятие</a:t>
            </a:r>
            <a:endParaRPr sz="135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2"/>
          <p:cNvSpPr/>
          <p:nvPr/>
        </p:nvSpPr>
        <p:spPr>
          <a:xfrm>
            <a:off x="6172200" y="1234440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2"/>
          <p:cNvSpPr/>
          <p:nvPr/>
        </p:nvSpPr>
        <p:spPr>
          <a:xfrm>
            <a:off x="6373368" y="1463040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215" name="Google Shape;215;p12"/>
          <p:cNvSpPr txBox="1"/>
          <p:nvPr/>
        </p:nvSpPr>
        <p:spPr>
          <a:xfrm>
            <a:off x="7040880" y="1463727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Координатор</a:t>
            </a:r>
            <a:endParaRPr sz="1450" b="1">
              <a:solidFill>
                <a:srgbClr val="2E5AA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2"/>
          <p:cNvSpPr txBox="1"/>
          <p:nvPr/>
        </p:nvSpPr>
        <p:spPr>
          <a:xfrm>
            <a:off x="7040880" y="1716022"/>
            <a:ext cx="3794760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Р</a:t>
            </a:r>
            <a:r>
              <a:rPr lang="en-US" sz="135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ассматривает заявку и фиксирует участие</a:t>
            </a:r>
            <a:endParaRPr sz="135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2"/>
          <p:cNvSpPr/>
          <p:nvPr/>
        </p:nvSpPr>
        <p:spPr>
          <a:xfrm>
            <a:off x="685800" y="2532888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/>
          <p:nvPr/>
        </p:nvSpPr>
        <p:spPr>
          <a:xfrm>
            <a:off x="886968" y="2761488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ap="flat" cmpd="sng">
            <a:solidFill>
              <a:srgbClr val="C0392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219" name="Google Shape;219;p12"/>
          <p:cNvSpPr txBox="1"/>
          <p:nvPr/>
        </p:nvSpPr>
        <p:spPr>
          <a:xfrm>
            <a:off x="1554480" y="2644595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Система</a:t>
            </a:r>
            <a:endParaRPr/>
          </a:p>
        </p:txBody>
      </p:sp>
      <p:sp>
        <p:nvSpPr>
          <p:cNvPr id="220" name="Google Shape;220;p12"/>
          <p:cNvSpPr txBox="1"/>
          <p:nvPr/>
        </p:nvSpPr>
        <p:spPr>
          <a:xfrm>
            <a:off x="1554480" y="2875842"/>
            <a:ext cx="379476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Связывает мероприятие, задачу и запись времени</a:t>
            </a:r>
            <a:endParaRPr sz="135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2"/>
          <p:cNvSpPr/>
          <p:nvPr/>
        </p:nvSpPr>
        <p:spPr>
          <a:xfrm>
            <a:off x="6172200" y="2532888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6373368" y="2761488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223" name="Google Shape;223;p12"/>
          <p:cNvSpPr txBox="1"/>
          <p:nvPr/>
        </p:nvSpPr>
        <p:spPr>
          <a:xfrm>
            <a:off x="7040880" y="2762175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Координатор</a:t>
            </a:r>
            <a:endParaRPr sz="1450" b="1">
              <a:solidFill>
                <a:srgbClr val="2E5AA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2"/>
          <p:cNvSpPr txBox="1"/>
          <p:nvPr/>
        </p:nvSpPr>
        <p:spPr>
          <a:xfrm>
            <a:off x="7040880" y="3014470"/>
            <a:ext cx="3794760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П</a:t>
            </a:r>
            <a:r>
              <a:rPr lang="en-US" sz="135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одтверждает часы по основанию</a:t>
            </a:r>
            <a:endParaRPr sz="135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2"/>
          <p:cNvSpPr/>
          <p:nvPr/>
        </p:nvSpPr>
        <p:spPr>
          <a:xfrm>
            <a:off x="685800" y="3831335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886968" y="4059935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1F9D72"/>
          </a:solidFill>
          <a:ln w="9525" cap="flat" cmpd="sng">
            <a:solidFill>
              <a:srgbClr val="1F9D7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227" name="Google Shape;227;p12"/>
          <p:cNvSpPr txBox="1"/>
          <p:nvPr/>
        </p:nvSpPr>
        <p:spPr>
          <a:xfrm>
            <a:off x="1554480" y="3900201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Пульс</a:t>
            </a:r>
            <a:endParaRPr sz="1450" b="1">
              <a:solidFill>
                <a:srgbClr val="2E5AA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2"/>
          <p:cNvSpPr txBox="1"/>
          <p:nvPr/>
        </p:nvSpPr>
        <p:spPr>
          <a:xfrm>
            <a:off x="1554480" y="4172467"/>
            <a:ext cx="379476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Н</a:t>
            </a:r>
            <a:r>
              <a:rPr lang="en-US" sz="135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ачисляет достижения и формирует сертификат</a:t>
            </a:r>
            <a:endParaRPr sz="135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6172200" y="3831335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6373368" y="4059935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231" name="Google Shape;231;p12"/>
          <p:cNvSpPr txBox="1"/>
          <p:nvPr/>
        </p:nvSpPr>
        <p:spPr>
          <a:xfrm>
            <a:off x="7040880" y="4060622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Руководитель</a:t>
            </a:r>
            <a:endParaRPr/>
          </a:p>
        </p:txBody>
      </p:sp>
      <p:sp>
        <p:nvSpPr>
          <p:cNvPr id="232" name="Google Shape;232;p12"/>
          <p:cNvSpPr txBox="1"/>
          <p:nvPr/>
        </p:nvSpPr>
        <p:spPr>
          <a:xfrm>
            <a:off x="7040880" y="4289222"/>
            <a:ext cx="3794760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В</a:t>
            </a:r>
            <a:r>
              <a:rPr lang="en-US" sz="135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идит KPI и выгружает отчет</a:t>
            </a:r>
            <a:endParaRPr sz="1350" b="0">
              <a:solidFill>
                <a:srgbClr val="1F263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685800" y="5422391"/>
            <a:ext cx="10561320" cy="665381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12700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 txBox="1"/>
          <p:nvPr/>
        </p:nvSpPr>
        <p:spPr>
          <a:xfrm>
            <a:off x="914400" y="5466704"/>
            <a:ext cx="1001268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Главный результат сценария: управленческие показатели строятся на подтвержденных операционных данных, а не на ручном сведении таблиц.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13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18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13"/>
          <p:cNvSpPr/>
          <p:nvPr/>
        </p:nvSpPr>
        <p:spPr>
          <a:xfrm>
            <a:off x="1325880" y="0"/>
            <a:ext cx="9811200" cy="94620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2600" b="1">
                <a:solidFill>
                  <a:srgbClr val="FFFFFF"/>
                </a:solidFill>
              </a:rPr>
              <a:t>Блок-схема алгоритма обработки заявки на мероприятие</a:t>
            </a:r>
            <a:endParaRPr sz="2600" b="1" strike="noStrike">
              <a:solidFill>
                <a:schemeClr val="lt1"/>
              </a:solidFill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640080" y="6492240"/>
            <a:ext cx="8686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11285179" y="6492240"/>
            <a:ext cx="456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rgbClr val="5B6476"/>
                </a:solidFill>
              </a:rPr>
              <a:t>10</a:t>
            </a:r>
            <a:endParaRPr sz="1000" b="0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78375" y="1067137"/>
            <a:ext cx="8906194" cy="5304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14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18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4"/>
          <p:cNvSpPr/>
          <p:nvPr/>
        </p:nvSpPr>
        <p:spPr>
          <a:xfrm>
            <a:off x="1325880" y="0"/>
            <a:ext cx="9811200" cy="94620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FFFFFF"/>
                </a:solidFill>
              </a:rPr>
              <a:t>Блок-схема алгоритма подтверждения волонтерских </a:t>
            </a:r>
            <a:endParaRPr sz="2600" b="1" strike="noStrike">
              <a:solidFill>
                <a:schemeClr val="lt1"/>
              </a:solidFill>
            </a:endParaRPr>
          </a:p>
        </p:txBody>
      </p:sp>
      <p:sp>
        <p:nvSpPr>
          <p:cNvPr id="252" name="Google Shape;252;p14"/>
          <p:cNvSpPr/>
          <p:nvPr/>
        </p:nvSpPr>
        <p:spPr>
          <a:xfrm>
            <a:off x="640080" y="6492240"/>
            <a:ext cx="8686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4"/>
          <p:cNvSpPr/>
          <p:nvPr/>
        </p:nvSpPr>
        <p:spPr>
          <a:xfrm>
            <a:off x="11274480" y="6492240"/>
            <a:ext cx="456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rgbClr val="5B6476"/>
                </a:solidFill>
              </a:rPr>
              <a:t>11</a:t>
            </a:r>
            <a:endParaRPr dirty="0">
              <a:solidFill>
                <a:srgbClr val="5B6476"/>
              </a:solidFill>
            </a:endParaRPr>
          </a:p>
        </p:txBody>
      </p:sp>
      <p:pic>
        <p:nvPicPr>
          <p:cNvPr id="254" name="Google Shape;25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78375" y="1067125"/>
            <a:ext cx="8906199" cy="53042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Google Shape;260;p15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18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5"/>
          <p:cNvSpPr/>
          <p:nvPr/>
        </p:nvSpPr>
        <p:spPr>
          <a:xfrm>
            <a:off x="1325880" y="0"/>
            <a:ext cx="9811200" cy="94620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FFFFFF"/>
                </a:solidFill>
              </a:rPr>
              <a:t>Логика бизнес процесса</a:t>
            </a:r>
            <a:endParaRPr sz="2600" b="1">
              <a:solidFill>
                <a:srgbClr val="FFFFFF"/>
              </a:solidFill>
            </a:endParaRPr>
          </a:p>
        </p:txBody>
      </p:sp>
      <p:sp>
        <p:nvSpPr>
          <p:cNvPr id="262" name="Google Shape;262;p15"/>
          <p:cNvSpPr/>
          <p:nvPr/>
        </p:nvSpPr>
        <p:spPr>
          <a:xfrm>
            <a:off x="640080" y="6492240"/>
            <a:ext cx="8686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5A647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5A647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5"/>
          <p:cNvSpPr/>
          <p:nvPr/>
        </p:nvSpPr>
        <p:spPr>
          <a:xfrm>
            <a:off x="11285179" y="6492240"/>
            <a:ext cx="456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rgbClr val="5B6476"/>
                </a:solidFill>
              </a:rPr>
              <a:t>12</a:t>
            </a:r>
            <a:endParaRPr sz="1000" b="0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4" name="Google Shape;26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0000" y="946075"/>
            <a:ext cx="10504474" cy="5911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16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6"/>
          <p:cNvSpPr/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Проверка работоспособности</a:t>
            </a:r>
            <a:endParaRPr sz="24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6"/>
          <p:cNvSpPr/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6"/>
          <p:cNvSpPr/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rgbClr val="5B6476"/>
                </a:solidFill>
              </a:rPr>
              <a:t>13</a:t>
            </a:r>
            <a:endParaRPr sz="1000" b="0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6"/>
          <p:cNvSpPr/>
          <p:nvPr/>
        </p:nvSpPr>
        <p:spPr>
          <a:xfrm>
            <a:off x="685800" y="1234440"/>
            <a:ext cx="2423160" cy="106070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6"/>
          <p:cNvSpPr txBox="1"/>
          <p:nvPr/>
        </p:nvSpPr>
        <p:spPr>
          <a:xfrm>
            <a:off x="822960" y="135331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npm build</a:t>
            </a:r>
            <a:endParaRPr/>
          </a:p>
        </p:txBody>
      </p:sp>
      <p:sp>
        <p:nvSpPr>
          <p:cNvPr id="276" name="Google Shape;276;p16"/>
          <p:cNvSpPr txBox="1"/>
          <p:nvPr/>
        </p:nvSpPr>
        <p:spPr>
          <a:xfrm>
            <a:off x="822960" y="1609344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1F9D72"/>
                </a:solidFill>
                <a:latin typeface="Arial"/>
                <a:ea typeface="Arial"/>
                <a:cs typeface="Arial"/>
                <a:sym typeface="Arial"/>
              </a:rPr>
              <a:t>успешно</a:t>
            </a:r>
            <a:endParaRPr/>
          </a:p>
        </p:txBody>
      </p:sp>
      <p:sp>
        <p:nvSpPr>
          <p:cNvPr id="277" name="Google Shape;277;p16"/>
          <p:cNvSpPr txBox="1"/>
          <p:nvPr/>
        </p:nvSpPr>
        <p:spPr>
          <a:xfrm>
            <a:off x="822960" y="1947672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1782 модуля Vite</a:t>
            </a:r>
            <a:endParaRPr/>
          </a:p>
        </p:txBody>
      </p:sp>
      <p:sp>
        <p:nvSpPr>
          <p:cNvPr id="278" name="Google Shape;278;p16"/>
          <p:cNvSpPr/>
          <p:nvPr/>
        </p:nvSpPr>
        <p:spPr>
          <a:xfrm>
            <a:off x="3447288" y="1234440"/>
            <a:ext cx="2423160" cy="106070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6"/>
          <p:cNvSpPr txBox="1"/>
          <p:nvPr/>
        </p:nvSpPr>
        <p:spPr>
          <a:xfrm>
            <a:off x="3584448" y="135331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go test ./...</a:t>
            </a:r>
            <a:endParaRPr/>
          </a:p>
        </p:txBody>
      </p:sp>
      <p:sp>
        <p:nvSpPr>
          <p:cNvPr id="280" name="Google Shape;280;p16"/>
          <p:cNvSpPr txBox="1"/>
          <p:nvPr/>
        </p:nvSpPr>
        <p:spPr>
          <a:xfrm>
            <a:off x="3584448" y="1609344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сборка OK</a:t>
            </a:r>
            <a:endParaRPr/>
          </a:p>
        </p:txBody>
      </p:sp>
      <p:sp>
        <p:nvSpPr>
          <p:cNvPr id="281" name="Google Shape;281;p16"/>
          <p:cNvSpPr txBox="1"/>
          <p:nvPr/>
        </p:nvSpPr>
        <p:spPr>
          <a:xfrm>
            <a:off x="3584448" y="1947672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автотестов нет</a:t>
            </a:r>
            <a:endParaRPr/>
          </a:p>
        </p:txBody>
      </p:sp>
      <p:sp>
        <p:nvSpPr>
          <p:cNvPr id="282" name="Google Shape;282;p16"/>
          <p:cNvSpPr/>
          <p:nvPr/>
        </p:nvSpPr>
        <p:spPr>
          <a:xfrm>
            <a:off x="6208776" y="1234440"/>
            <a:ext cx="2423160" cy="106070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6"/>
          <p:cNvSpPr txBox="1"/>
          <p:nvPr/>
        </p:nvSpPr>
        <p:spPr>
          <a:xfrm>
            <a:off x="6345936" y="135331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Профиль</a:t>
            </a:r>
            <a:endParaRPr/>
          </a:p>
        </p:txBody>
      </p:sp>
      <p:sp>
        <p:nvSpPr>
          <p:cNvPr id="284" name="Google Shape;284;p16"/>
          <p:cNvSpPr txBox="1"/>
          <p:nvPr/>
        </p:nvSpPr>
        <p:spPr>
          <a:xfrm>
            <a:off x="6345936" y="1609344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1F9D72"/>
                </a:solidFill>
                <a:latin typeface="Arial"/>
                <a:ea typeface="Arial"/>
                <a:cs typeface="Arial"/>
                <a:sym typeface="Arial"/>
              </a:rPr>
              <a:t>проверен</a:t>
            </a:r>
            <a:endParaRPr/>
          </a:p>
        </p:txBody>
      </p:sp>
      <p:sp>
        <p:nvSpPr>
          <p:cNvPr id="285" name="Google Shape;285;p16"/>
          <p:cNvSpPr txBox="1"/>
          <p:nvPr/>
        </p:nvSpPr>
        <p:spPr>
          <a:xfrm>
            <a:off x="6345936" y="1947672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миграция 020 + API</a:t>
            </a:r>
            <a:endParaRPr/>
          </a:p>
        </p:txBody>
      </p:sp>
      <p:sp>
        <p:nvSpPr>
          <p:cNvPr id="286" name="Google Shape;286;p16"/>
          <p:cNvSpPr/>
          <p:nvPr/>
        </p:nvSpPr>
        <p:spPr>
          <a:xfrm>
            <a:off x="8970264" y="1234440"/>
            <a:ext cx="2423160" cy="106070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6"/>
          <p:cNvSpPr txBox="1"/>
          <p:nvPr/>
        </p:nvSpPr>
        <p:spPr>
          <a:xfrm>
            <a:off x="9107424" y="135331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Аватар</a:t>
            </a:r>
            <a:endParaRPr/>
          </a:p>
        </p:txBody>
      </p:sp>
      <p:sp>
        <p:nvSpPr>
          <p:cNvPr id="288" name="Google Shape;288;p16"/>
          <p:cNvSpPr txBox="1"/>
          <p:nvPr/>
        </p:nvSpPr>
        <p:spPr>
          <a:xfrm>
            <a:off x="9107424" y="1609344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1F9D72"/>
                </a:solidFill>
                <a:latin typeface="Arial"/>
                <a:ea typeface="Arial"/>
                <a:cs typeface="Arial"/>
                <a:sym typeface="Arial"/>
              </a:rPr>
              <a:t>проверен</a:t>
            </a:r>
            <a:endParaRPr/>
          </a:p>
        </p:txBody>
      </p:sp>
      <p:sp>
        <p:nvSpPr>
          <p:cNvPr id="289" name="Google Shape;289;p16"/>
          <p:cNvSpPr txBox="1"/>
          <p:nvPr/>
        </p:nvSpPr>
        <p:spPr>
          <a:xfrm>
            <a:off x="9107424" y="1947672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upload PNG</a:t>
            </a:r>
            <a:endParaRPr/>
          </a:p>
        </p:txBody>
      </p:sp>
      <p:sp>
        <p:nvSpPr>
          <p:cNvPr id="290" name="Google Shape;290;p16"/>
          <p:cNvSpPr/>
          <p:nvPr/>
        </p:nvSpPr>
        <p:spPr>
          <a:xfrm>
            <a:off x="685800" y="2697474"/>
            <a:ext cx="5257800" cy="2919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6"/>
          <p:cNvSpPr txBox="1"/>
          <p:nvPr/>
        </p:nvSpPr>
        <p:spPr>
          <a:xfrm>
            <a:off x="914400" y="285292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Матрица сценариев</a:t>
            </a:r>
            <a:endParaRPr/>
          </a:p>
        </p:txBody>
      </p:sp>
      <p:sp>
        <p:nvSpPr>
          <p:cNvPr id="292" name="Google Shape;292;p16"/>
          <p:cNvSpPr txBox="1"/>
          <p:nvPr/>
        </p:nvSpPr>
        <p:spPr>
          <a:xfrm>
            <a:off x="960120" y="3337560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подтверждено запуском</a:t>
            </a:r>
            <a:endParaRPr/>
          </a:p>
        </p:txBody>
      </p:sp>
      <p:sp>
        <p:nvSpPr>
          <p:cNvPr id="293" name="Google Shape;293;p16"/>
          <p:cNvSpPr/>
          <p:nvPr/>
        </p:nvSpPr>
        <p:spPr>
          <a:xfrm>
            <a:off x="3108960" y="3374136"/>
            <a:ext cx="2011680" cy="146304"/>
          </a:xfrm>
          <a:prstGeom prst="roundRect">
            <a:avLst>
              <a:gd name="adj" fmla="val 16667"/>
            </a:avLst>
          </a:prstGeom>
          <a:solidFill>
            <a:srgbClr val="EAECF6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/>
          <p:nvPr/>
        </p:nvSpPr>
        <p:spPr>
          <a:xfrm>
            <a:off x="3108960" y="3374136"/>
            <a:ext cx="2011680" cy="146304"/>
          </a:xfrm>
          <a:prstGeom prst="roundRect">
            <a:avLst>
              <a:gd name="adj" fmla="val 16667"/>
            </a:avLst>
          </a:prstGeom>
          <a:solidFill>
            <a:srgbClr val="1F9D72"/>
          </a:solidFill>
          <a:ln w="12700" cap="flat" cmpd="sng">
            <a:solidFill>
              <a:srgbClr val="1F9D7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6"/>
          <p:cNvSpPr txBox="1"/>
          <p:nvPr/>
        </p:nvSpPr>
        <p:spPr>
          <a:xfrm>
            <a:off x="5120640" y="331012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F9D72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296" name="Google Shape;296;p16"/>
          <p:cNvSpPr txBox="1"/>
          <p:nvPr/>
        </p:nvSpPr>
        <p:spPr>
          <a:xfrm>
            <a:off x="960120" y="3840480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подтверждено реализацией</a:t>
            </a:r>
            <a:endParaRPr/>
          </a:p>
        </p:txBody>
      </p:sp>
      <p:sp>
        <p:nvSpPr>
          <p:cNvPr id="297" name="Google Shape;297;p16"/>
          <p:cNvSpPr/>
          <p:nvPr/>
        </p:nvSpPr>
        <p:spPr>
          <a:xfrm>
            <a:off x="3108960" y="3877056"/>
            <a:ext cx="2011680" cy="146304"/>
          </a:xfrm>
          <a:prstGeom prst="roundRect">
            <a:avLst>
              <a:gd name="adj" fmla="val 16667"/>
            </a:avLst>
          </a:prstGeom>
          <a:solidFill>
            <a:srgbClr val="EAECF6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3108960" y="3877056"/>
            <a:ext cx="1005840" cy="146304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12700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6"/>
          <p:cNvSpPr txBox="1"/>
          <p:nvPr/>
        </p:nvSpPr>
        <p:spPr>
          <a:xfrm>
            <a:off x="5120640" y="381304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300" name="Google Shape;300;p16"/>
          <p:cNvSpPr txBox="1"/>
          <p:nvPr/>
        </p:nvSpPr>
        <p:spPr>
          <a:xfrm>
            <a:off x="960120" y="4343400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требует опытной проверки</a:t>
            </a:r>
            <a:endParaRPr/>
          </a:p>
        </p:txBody>
      </p:sp>
      <p:sp>
        <p:nvSpPr>
          <p:cNvPr id="301" name="Google Shape;301;p16"/>
          <p:cNvSpPr/>
          <p:nvPr/>
        </p:nvSpPr>
        <p:spPr>
          <a:xfrm>
            <a:off x="3108960" y="4379976"/>
            <a:ext cx="2011680" cy="146304"/>
          </a:xfrm>
          <a:prstGeom prst="roundRect">
            <a:avLst>
              <a:gd name="adj" fmla="val 16667"/>
            </a:avLst>
          </a:prstGeom>
          <a:solidFill>
            <a:srgbClr val="EAECF6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6"/>
          <p:cNvSpPr/>
          <p:nvPr/>
        </p:nvSpPr>
        <p:spPr>
          <a:xfrm>
            <a:off x="3108960" y="4379976"/>
            <a:ext cx="1005840" cy="146304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12700" cap="flat" cmpd="sng">
            <a:solidFill>
              <a:srgbClr val="C0392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6"/>
          <p:cNvSpPr txBox="1"/>
          <p:nvPr/>
        </p:nvSpPr>
        <p:spPr>
          <a:xfrm>
            <a:off x="5120640" y="431596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C0392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304" name="Google Shape;304;p16"/>
          <p:cNvSpPr txBox="1"/>
          <p:nvPr/>
        </p:nvSpPr>
        <p:spPr>
          <a:xfrm>
            <a:off x="914400" y="498348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7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Формулировка результата остается корректной: подтверждены сборка, часть API и реализованный контур; полный приемочный вывод переносится в пилот.</a:t>
            </a:r>
            <a:endParaRPr/>
          </a:p>
        </p:txBody>
      </p:sp>
      <p:sp>
        <p:nvSpPr>
          <p:cNvPr id="305" name="Google Shape;305;p16"/>
          <p:cNvSpPr/>
          <p:nvPr/>
        </p:nvSpPr>
        <p:spPr>
          <a:xfrm>
            <a:off x="6263650" y="2697474"/>
            <a:ext cx="4983600" cy="2919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6"/>
          <p:cNvSpPr txBox="1"/>
          <p:nvPr/>
        </p:nvSpPr>
        <p:spPr>
          <a:xfrm>
            <a:off x="6492240" y="285292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Ограничения закрываются планом пилота</a:t>
            </a:r>
            <a:endParaRPr/>
          </a:p>
        </p:txBody>
      </p:sp>
      <p:sp>
        <p:nvSpPr>
          <p:cNvPr id="307" name="Google Shape;307;p16"/>
          <p:cNvSpPr txBox="1"/>
          <p:nvPr/>
        </p:nvSpPr>
        <p:spPr>
          <a:xfrm>
            <a:off x="6492265" y="3347052"/>
            <a:ext cx="4480500" cy="19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1F2637"/>
                </a:solidFill>
              </a:rPr>
              <a:t>Чистая PostgreSQL и миграции</a:t>
            </a:r>
            <a:endParaRPr sz="1350" b="1">
              <a:solidFill>
                <a:srgbClr val="1F2637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rgbClr val="1F2637"/>
              </a:solidFill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1F2637"/>
                </a:solidFill>
              </a:rPr>
              <a:t>Сценарий заявка -&gt; часы -&gt; аналитика -&gt; сертификат</a:t>
            </a:r>
            <a:endParaRPr sz="1350" b="1">
              <a:solidFill>
                <a:srgbClr val="1F2637"/>
              </a:solidFill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350" b="1">
              <a:solidFill>
                <a:srgbClr val="1F2637"/>
              </a:solidFill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1F2637"/>
                </a:solidFill>
              </a:rPr>
              <a:t>Unit/integration tests прав доступа</a:t>
            </a:r>
            <a:endParaRPr sz="1350" b="1">
              <a:solidFill>
                <a:srgbClr val="1F2637"/>
              </a:solidFill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350" b="1">
              <a:solidFill>
                <a:srgbClr val="1F2637"/>
              </a:solidFill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1F2637"/>
                </a:solidFill>
              </a:rPr>
              <a:t>Измерение времени на контрольных сценариях</a:t>
            </a:r>
            <a:endParaRPr sz="1500"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Google Shape;313;p17" descr="header_ba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17"/>
          <p:cNvSpPr/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Практический эффект</a:t>
            </a:r>
            <a:endParaRPr sz="24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strike="noStrike">
                <a:solidFill>
                  <a:srgbClr val="5A6473"/>
                </a:solidFill>
                <a:latin typeface="Calibri"/>
                <a:ea typeface="Calibri"/>
                <a:cs typeface="Calibri"/>
                <a:sym typeface="Calibri"/>
              </a:rPr>
              <a:t>ФГБОУ ВО «МГТУ им. Г.И. Носова» · Институт энергетики и автоматизированных систем</a:t>
            </a:r>
            <a:endParaRPr sz="9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7"/>
          <p:cNvSpPr/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rgbClr val="5B6476"/>
                </a:solidFill>
              </a:rPr>
              <a:t>14</a:t>
            </a:r>
            <a:endParaRPr sz="1000" b="0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7"/>
          <p:cNvSpPr txBox="1"/>
          <p:nvPr/>
        </p:nvSpPr>
        <p:spPr>
          <a:xfrm>
            <a:off x="731520" y="1252728"/>
            <a:ext cx="5120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Расчетная оценка времени основных сценариев</a:t>
            </a:r>
            <a:endParaRPr/>
          </a:p>
        </p:txBody>
      </p:sp>
      <p:sp>
        <p:nvSpPr>
          <p:cNvPr id="318" name="Google Shape;318;p17"/>
          <p:cNvSpPr/>
          <p:nvPr/>
        </p:nvSpPr>
        <p:spPr>
          <a:xfrm>
            <a:off x="896112" y="2372868"/>
            <a:ext cx="1377695" cy="1376172"/>
          </a:xfrm>
          <a:prstGeom prst="rect">
            <a:avLst/>
          </a:prstGeom>
          <a:solidFill>
            <a:srgbClr val="2E5AAC"/>
          </a:solidFill>
          <a:ln w="12700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7"/>
          <p:cNvSpPr txBox="1"/>
          <p:nvPr/>
        </p:nvSpPr>
        <p:spPr>
          <a:xfrm>
            <a:off x="896112" y="2061972"/>
            <a:ext cx="137769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35 с</a:t>
            </a:r>
            <a:endParaRPr/>
          </a:p>
        </p:txBody>
      </p:sp>
      <p:sp>
        <p:nvSpPr>
          <p:cNvPr id="320" name="Google Shape;320;p17"/>
          <p:cNvSpPr txBox="1"/>
          <p:nvPr/>
        </p:nvSpPr>
        <p:spPr>
          <a:xfrm>
            <a:off x="850392" y="3794760"/>
            <a:ext cx="1469135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заявка</a:t>
            </a:r>
            <a:endParaRPr/>
          </a:p>
        </p:txBody>
      </p:sp>
      <p:sp>
        <p:nvSpPr>
          <p:cNvPr id="321" name="Google Shape;321;p17"/>
          <p:cNvSpPr/>
          <p:nvPr/>
        </p:nvSpPr>
        <p:spPr>
          <a:xfrm>
            <a:off x="2602992" y="1979676"/>
            <a:ext cx="1377695" cy="1769364"/>
          </a:xfrm>
          <a:prstGeom prst="rect">
            <a:avLst/>
          </a:prstGeom>
          <a:solidFill>
            <a:srgbClr val="2E5AAC"/>
          </a:solidFill>
          <a:ln w="12700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 txBox="1"/>
          <p:nvPr/>
        </p:nvSpPr>
        <p:spPr>
          <a:xfrm>
            <a:off x="2602992" y="1668780"/>
            <a:ext cx="137769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45 с</a:t>
            </a:r>
            <a:endParaRPr/>
          </a:p>
        </p:txBody>
      </p:sp>
      <p:sp>
        <p:nvSpPr>
          <p:cNvPr id="323" name="Google Shape;323;p17"/>
          <p:cNvSpPr txBox="1"/>
          <p:nvPr/>
        </p:nvSpPr>
        <p:spPr>
          <a:xfrm>
            <a:off x="2557272" y="3794760"/>
            <a:ext cx="1469135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часы</a:t>
            </a:r>
            <a:endParaRPr/>
          </a:p>
        </p:txBody>
      </p:sp>
      <p:sp>
        <p:nvSpPr>
          <p:cNvPr id="324" name="Google Shape;324;p17"/>
          <p:cNvSpPr/>
          <p:nvPr/>
        </p:nvSpPr>
        <p:spPr>
          <a:xfrm>
            <a:off x="4309872" y="1783080"/>
            <a:ext cx="1377695" cy="1965960"/>
          </a:xfrm>
          <a:prstGeom prst="rect">
            <a:avLst/>
          </a:prstGeom>
          <a:solidFill>
            <a:srgbClr val="2E5AAC"/>
          </a:solidFill>
          <a:ln w="12700" cap="flat" cmpd="sng">
            <a:solidFill>
              <a:srgbClr val="2E5AA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7"/>
          <p:cNvSpPr txBox="1"/>
          <p:nvPr/>
        </p:nvSpPr>
        <p:spPr>
          <a:xfrm>
            <a:off x="4309872" y="1472184"/>
            <a:ext cx="137769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50 с</a:t>
            </a:r>
            <a:endParaRPr/>
          </a:p>
        </p:txBody>
      </p:sp>
      <p:sp>
        <p:nvSpPr>
          <p:cNvPr id="326" name="Google Shape;326;p17"/>
          <p:cNvSpPr txBox="1"/>
          <p:nvPr/>
        </p:nvSpPr>
        <p:spPr>
          <a:xfrm>
            <a:off x="4264152" y="3794760"/>
            <a:ext cx="1469135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KPI</a:t>
            </a:r>
            <a:endParaRPr/>
          </a:p>
        </p:txBody>
      </p:sp>
      <p:sp>
        <p:nvSpPr>
          <p:cNvPr id="327" name="Google Shape;327;p17"/>
          <p:cNvSpPr/>
          <p:nvPr/>
        </p:nvSpPr>
        <p:spPr>
          <a:xfrm>
            <a:off x="731520" y="3749040"/>
            <a:ext cx="5120640" cy="9144"/>
          </a:xfrm>
          <a:prstGeom prst="rect">
            <a:avLst/>
          </a:prstGeom>
          <a:solidFill>
            <a:srgbClr val="EAECF6"/>
          </a:solidFill>
          <a:ln w="9525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7"/>
          <p:cNvSpPr/>
          <p:nvPr/>
        </p:nvSpPr>
        <p:spPr>
          <a:xfrm>
            <a:off x="6263640" y="1234440"/>
            <a:ext cx="4892040" cy="2788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ECF6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7"/>
          <p:cNvSpPr txBox="1"/>
          <p:nvPr/>
        </p:nvSpPr>
        <p:spPr>
          <a:xfrm>
            <a:off x="6492240" y="1417320"/>
            <a:ext cx="44348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E5AAC"/>
                </a:solidFill>
                <a:latin typeface="Arial"/>
                <a:ea typeface="Arial"/>
                <a:cs typeface="Arial"/>
                <a:sym typeface="Arial"/>
              </a:rPr>
              <a:t>Что заменяет система</a:t>
            </a:r>
            <a:endParaRPr/>
          </a:p>
        </p:txBody>
      </p:sp>
      <p:sp>
        <p:nvSpPr>
          <p:cNvPr id="330" name="Google Shape;330;p17"/>
          <p:cNvSpPr txBox="1"/>
          <p:nvPr/>
        </p:nvSpPr>
        <p:spPr>
          <a:xfrm>
            <a:off x="6492240" y="1874519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Сбор заявок</a:t>
            </a:r>
            <a:endParaRPr/>
          </a:p>
        </p:txBody>
      </p:sp>
      <p:sp>
        <p:nvSpPr>
          <p:cNvPr id="331" name="Google Shape;331;p17"/>
          <p:cNvSpPr txBox="1"/>
          <p:nvPr/>
        </p:nvSpPr>
        <p:spPr>
          <a:xfrm>
            <a:off x="8001000" y="1854167"/>
            <a:ext cx="278892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С</a:t>
            </a:r>
            <a:r>
              <a:rPr lang="en-US" sz="115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татусная заявка в системе</a:t>
            </a:r>
            <a:endParaRPr sz="1150" b="0">
              <a:solidFill>
                <a:srgbClr val="5B647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7"/>
          <p:cNvSpPr txBox="1"/>
          <p:nvPr/>
        </p:nvSpPr>
        <p:spPr>
          <a:xfrm>
            <a:off x="6492240" y="231343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Учет часов</a:t>
            </a:r>
            <a:endParaRPr/>
          </a:p>
        </p:txBody>
      </p:sp>
      <p:sp>
        <p:nvSpPr>
          <p:cNvPr id="333" name="Google Shape;333;p17"/>
          <p:cNvSpPr txBox="1"/>
          <p:nvPr/>
        </p:nvSpPr>
        <p:spPr>
          <a:xfrm>
            <a:off x="8001000" y="2293080"/>
            <a:ext cx="278892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З</a:t>
            </a:r>
            <a:r>
              <a:rPr lang="en-US" sz="115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апись связана с задачей/событием</a:t>
            </a:r>
            <a:endParaRPr sz="1150" b="0">
              <a:solidFill>
                <a:srgbClr val="5B647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7"/>
          <p:cNvSpPr txBox="1"/>
          <p:nvPr/>
        </p:nvSpPr>
        <p:spPr>
          <a:xfrm>
            <a:off x="6492240" y="2752344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Сертификат</a:t>
            </a:r>
            <a:endParaRPr/>
          </a:p>
        </p:txBody>
      </p:sp>
      <p:sp>
        <p:nvSpPr>
          <p:cNvPr id="335" name="Google Shape;335;p17"/>
          <p:cNvSpPr txBox="1"/>
          <p:nvPr/>
        </p:nvSpPr>
        <p:spPr>
          <a:xfrm>
            <a:off x="8001000" y="2643506"/>
            <a:ext cx="2788920" cy="446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Ф</a:t>
            </a:r>
            <a:r>
              <a:rPr lang="en-US" sz="115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ормируется по подтвержденным данным</a:t>
            </a:r>
            <a:endParaRPr sz="1150" b="0">
              <a:solidFill>
                <a:srgbClr val="5B647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7"/>
          <p:cNvSpPr txBox="1"/>
          <p:nvPr/>
        </p:nvSpPr>
        <p:spPr>
          <a:xfrm>
            <a:off x="6492240" y="3191256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1F2637"/>
                </a:solidFill>
                <a:latin typeface="Arial"/>
                <a:ea typeface="Arial"/>
                <a:cs typeface="Arial"/>
                <a:sym typeface="Arial"/>
              </a:rPr>
              <a:t>Отчетность</a:t>
            </a:r>
            <a:endParaRPr/>
          </a:p>
        </p:txBody>
      </p:sp>
      <p:sp>
        <p:nvSpPr>
          <p:cNvPr id="337" name="Google Shape;337;p17"/>
          <p:cNvSpPr txBox="1"/>
          <p:nvPr/>
        </p:nvSpPr>
        <p:spPr>
          <a:xfrm>
            <a:off x="8001000" y="3191256"/>
            <a:ext cx="27889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KPI строятся из операционной БД</a:t>
            </a:r>
            <a:endParaRPr/>
          </a:p>
        </p:txBody>
      </p:sp>
      <p:sp>
        <p:nvSpPr>
          <p:cNvPr id="338" name="Google Shape;338;p17"/>
          <p:cNvSpPr/>
          <p:nvPr/>
        </p:nvSpPr>
        <p:spPr>
          <a:xfrm>
            <a:off x="731520" y="4434840"/>
            <a:ext cx="10424160" cy="1051560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12700" cap="flat" cmpd="sng">
            <a:solidFill>
              <a:srgbClr val="323C8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7"/>
          <p:cNvSpPr txBox="1"/>
          <p:nvPr/>
        </p:nvSpPr>
        <p:spPr>
          <a:xfrm>
            <a:off x="1005840" y="4522039"/>
            <a:ext cx="9875520" cy="87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Практическая значимость: «Пульс» можно использовать как основу автоматизации малых и средних волонтерских организаций, студенческих объединений и социальных проектов.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8"/>
          <p:cNvSpPr/>
          <p:nvPr/>
        </p:nvSpPr>
        <p:spPr>
          <a:xfrm>
            <a:off x="1828800" y="2651760"/>
            <a:ext cx="9600840" cy="1096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>
                <a:solidFill>
                  <a:srgbClr val="323C8D"/>
                </a:solidFill>
                <a:latin typeface="Arial"/>
                <a:ea typeface="Arial"/>
                <a:cs typeface="Arial"/>
                <a:sym typeface="Arial"/>
              </a:rPr>
              <a:t>Спасибо за внимание!</a:t>
            </a:r>
            <a:endParaRPr sz="4600" b="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8"/>
          <p:cNvSpPr/>
          <p:nvPr/>
        </p:nvSpPr>
        <p:spPr>
          <a:xfrm>
            <a:off x="1828800" y="3840480"/>
            <a:ext cx="9600840" cy="54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>
                <a:solidFill>
                  <a:srgbClr val="5B6476"/>
                </a:solidFill>
                <a:latin typeface="Arial"/>
                <a:ea typeface="Arial"/>
                <a:cs typeface="Arial"/>
                <a:sym typeface="Arial"/>
              </a:rPr>
              <a:t>Информационная система «Пульс»: заявки, задачи, часы, достижения, сертификаты и аналитика в едином контуре</a:t>
            </a:r>
            <a:endParaRPr sz="1800" b="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840</Words>
  <Application>Microsoft Office PowerPoint</Application>
  <PresentationFormat>Широкоэкранный</PresentationFormat>
  <Paragraphs>183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Павел</cp:lastModifiedBy>
  <cp:revision>1</cp:revision>
  <dcterms:modified xsi:type="dcterms:W3CDTF">2026-06-18T05:10:38Z</dcterms:modified>
</cp:coreProperties>
</file>