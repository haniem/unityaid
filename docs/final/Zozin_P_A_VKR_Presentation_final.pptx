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bce8956cea4c10" /><Relationship Type="http://schemas.openxmlformats.org/officeDocument/2006/relationships/extended-properties" Target="/docProps/app.xml" Id="R4315193386794b1b" /><Relationship Type="http://schemas.openxmlformats.org/officeDocument/2006/relationships/officeDocument" Target="/ppt/presentation.xml" Id="R7aa5a05ae14749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d7d0caee194d39"/>
  </p:sldMasterIdLst>
  <p:notesMasterIdLst>
    <p:notesMasterId xmlns:r="http://schemas.openxmlformats.org/officeDocument/2006/relationships" r:id="R73688a4b6b9542e2"/>
  </p:notesMasterIdLst>
  <p:sldIdLst>
    <p:sldId xmlns:r="http://schemas.openxmlformats.org/officeDocument/2006/relationships" id="256" r:id="R591560be51b345e2"/>
    <p:sldId xmlns:r="http://schemas.openxmlformats.org/officeDocument/2006/relationships" id="257" r:id="R1ccf8b9955354c70"/>
    <p:sldId xmlns:r="http://schemas.openxmlformats.org/officeDocument/2006/relationships" id="258" r:id="R8355f8b633cf447a"/>
    <p:sldId xmlns:r="http://schemas.openxmlformats.org/officeDocument/2006/relationships" id="259" r:id="R2d41038db4194069"/>
    <p:sldId xmlns:r="http://schemas.openxmlformats.org/officeDocument/2006/relationships" id="260" r:id="Rccfbc0ae63ad406b"/>
    <p:sldId xmlns:r="http://schemas.openxmlformats.org/officeDocument/2006/relationships" id="261" r:id="Rc34062e4917e4a8a"/>
    <p:sldId xmlns:r="http://schemas.openxmlformats.org/officeDocument/2006/relationships" id="262" r:id="R14bd7e76efdc4e31"/>
    <p:sldId xmlns:r="http://schemas.openxmlformats.org/officeDocument/2006/relationships" id="263" r:id="R366313f3cdf94e07"/>
    <p:sldId xmlns:r="http://schemas.openxmlformats.org/officeDocument/2006/relationships" id="264" r:id="Rfd9ea1fe71214fed"/>
    <p:sldId xmlns:r="http://schemas.openxmlformats.org/officeDocument/2006/relationships" id="265" r:id="Re6b8d6132d484211"/>
    <p:sldId xmlns:r="http://schemas.openxmlformats.org/officeDocument/2006/relationships" id="266" r:id="Ra9ea125943244e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b94f69f3864c23" /><Relationship Type="http://schemas.openxmlformats.org/officeDocument/2006/relationships/slideMaster" Target="/ppt/slideMasters/slideMaster1.xml" Id="R22d7d0caee194d39" /><Relationship Type="http://schemas.openxmlformats.org/officeDocument/2006/relationships/notesMaster" Target="/ppt/notesMasters/notesMaster1.xml" Id="R73688a4b6b9542e2" /><Relationship Type="http://schemas.openxmlformats.org/officeDocument/2006/relationships/presProps" Target="/ppt/presProps.xml" Id="Rcc37eb1bf43c447d" /><Relationship Type="http://schemas.openxmlformats.org/officeDocument/2006/relationships/tableStyles" Target="/ppt/tableStyles.xml" Id="R5bf09645788f44a9" /><Relationship Type="http://schemas.openxmlformats.org/officeDocument/2006/relationships/slide" Target="/ppt/slides/slide1.xml" Id="R591560be51b345e2" /><Relationship Type="http://schemas.openxmlformats.org/officeDocument/2006/relationships/slide" Target="/ppt/slides/slide2.xml" Id="R1ccf8b9955354c70" /><Relationship Type="http://schemas.openxmlformats.org/officeDocument/2006/relationships/slide" Target="/ppt/slides/slide3.xml" Id="R8355f8b633cf447a" /><Relationship Type="http://schemas.openxmlformats.org/officeDocument/2006/relationships/slide" Target="/ppt/slides/slide4.xml" Id="R2d41038db4194069" /><Relationship Type="http://schemas.openxmlformats.org/officeDocument/2006/relationships/slide" Target="/ppt/slides/slide5.xml" Id="Rccfbc0ae63ad406b" /><Relationship Type="http://schemas.openxmlformats.org/officeDocument/2006/relationships/slide" Target="/ppt/slides/slide6.xml" Id="Rc34062e4917e4a8a" /><Relationship Type="http://schemas.openxmlformats.org/officeDocument/2006/relationships/slide" Target="/ppt/slides/slide7.xml" Id="R14bd7e76efdc4e31" /><Relationship Type="http://schemas.openxmlformats.org/officeDocument/2006/relationships/slide" Target="/ppt/slides/slide8.xml" Id="R366313f3cdf94e07" /><Relationship Type="http://schemas.openxmlformats.org/officeDocument/2006/relationships/slide" Target="/ppt/slides/slide9.xml" Id="Rfd9ea1fe71214fed" /><Relationship Type="http://schemas.openxmlformats.org/officeDocument/2006/relationships/slide" Target="/ppt/slides/slide10.xml" Id="Re6b8d6132d484211" /><Relationship Type="http://schemas.openxmlformats.org/officeDocument/2006/relationships/slide" Target="/ppt/slides/slide11.xml" Id="Ra9ea125943244e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d71cd5a5514c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f6687d715c43c5" /><Relationship Type="http://schemas.openxmlformats.org/officeDocument/2006/relationships/notesMaster" Target="/ppt/notesMasters/notesMaster1.xml" Id="R47a7beef93f345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c4af6ffc494c25" /><Relationship Type="http://schemas.openxmlformats.org/officeDocument/2006/relationships/notesMaster" Target="/ppt/notesMasters/notesMaster1.xml" Id="R095489618f184d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1c9214c7424c03" /><Relationship Type="http://schemas.openxmlformats.org/officeDocument/2006/relationships/notesMaster" Target="/ppt/notesMasters/notesMaster1.xml" Id="R75aa4bc042ea42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06f4f7d7454dd1" /><Relationship Type="http://schemas.openxmlformats.org/officeDocument/2006/relationships/notesMaster" Target="/ppt/notesMasters/notesMaster1.xml" Id="R1154729405bc4f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1b8ba9265e4af3" /><Relationship Type="http://schemas.openxmlformats.org/officeDocument/2006/relationships/notesMaster" Target="/ppt/notesMasters/notesMaster1.xml" Id="R15bef6f51f6747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c5e0b0dd854414" /><Relationship Type="http://schemas.openxmlformats.org/officeDocument/2006/relationships/notesMaster" Target="/ppt/notesMasters/notesMaster1.xml" Id="Rf1792dc849de4a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d7ef53f4664270" /><Relationship Type="http://schemas.openxmlformats.org/officeDocument/2006/relationships/notesMaster" Target="/ppt/notesMasters/notesMaster1.xml" Id="R75c483157ec24e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cef40be0bf4ca5" /><Relationship Type="http://schemas.openxmlformats.org/officeDocument/2006/relationships/notesMaster" Target="/ppt/notesMasters/notesMaster1.xml" Id="Rba9e2440092744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a215057a94443c" /><Relationship Type="http://schemas.openxmlformats.org/officeDocument/2006/relationships/notesMaster" Target="/ppt/notesMasters/notesMaster1.xml" Id="R6d8781b3cf8740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e86c272606402b" /><Relationship Type="http://schemas.openxmlformats.org/officeDocument/2006/relationships/notesMaster" Target="/ppt/notesMasters/notesMaster1.xml" Id="R336edd04cc7049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0ec193b8b44945" /><Relationship Type="http://schemas.openxmlformats.org/officeDocument/2006/relationships/notesMaster" Target="/ppt/notesMasters/notesMaster1.xml" Id="Rb158453d9c6e45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304f70e024ec0" /></Relationships>
</file>

<file path=ppt/slideLayouts/slideLayout1.xml><?xml version="1.0" encoding="utf-8"?>
<p:sldLayout xmlns:p="http://schemas.openxmlformats.org/presentationml/2006/main" matchingName="DEFAULT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8b2564bcd54397" /><Relationship Type="http://schemas.openxmlformats.org/officeDocument/2006/relationships/slideLayout" Target="/ppt/slideLayouts/slideLayout1.xml" Id="R525a86415c8d4f9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F5A8B859-97BB-4408-85C1-749C200F19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51A33683-E852-48FD-A143-78E2922FBE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5a86415c8d4f9b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33552fcde42fd" /><Relationship Type="http://schemas.openxmlformats.org/officeDocument/2006/relationships/image" Target="/ppt/media/image.png" Id="R17db0fed51c34e31" /><Relationship Type="http://schemas.openxmlformats.org/officeDocument/2006/relationships/notesSlide" Target="/ppt/notesSlides/notesSlide1.xml" Id="Re408d4dd76354c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4e81a59d0438f" /><Relationship Type="http://schemas.openxmlformats.org/officeDocument/2006/relationships/image" Target="/ppt/media/image2.png" Id="R8aca9c163cfe4334" /><Relationship Type="http://schemas.openxmlformats.org/officeDocument/2006/relationships/notesSlide" Target="/ppt/notesSlides/notesSlide2.xml" Id="Ra177a4b44f0845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d3e815ba64907" /><Relationship Type="http://schemas.openxmlformats.org/officeDocument/2006/relationships/image" Target="/ppt/media/image2.png" Id="Rb47d14341ced4542" /><Relationship Type="http://schemas.openxmlformats.org/officeDocument/2006/relationships/notesSlide" Target="/ppt/notesSlides/notesSlide3.xml" Id="R708948b20a1a46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d73df8e734091" /><Relationship Type="http://schemas.openxmlformats.org/officeDocument/2006/relationships/image" Target="/ppt/media/image2.png" Id="R73e06fc236614171" /><Relationship Type="http://schemas.openxmlformats.org/officeDocument/2006/relationships/notesSlide" Target="/ppt/notesSlides/notesSlide4.xml" Id="Rf8d8e8cd16324e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e4176f9a2448e" /><Relationship Type="http://schemas.openxmlformats.org/officeDocument/2006/relationships/image" Target="/ppt/media/image2.png" Id="Red30be9fea224f48" /><Relationship Type="http://schemas.openxmlformats.org/officeDocument/2006/relationships/notesSlide" Target="/ppt/notesSlides/notesSlide5.xml" Id="R587ae14b0fa04f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f168af6b3443a" /><Relationship Type="http://schemas.openxmlformats.org/officeDocument/2006/relationships/image" Target="/ppt/media/image2.png" Id="R394196425e5445b1" /><Relationship Type="http://schemas.openxmlformats.org/officeDocument/2006/relationships/image" Target="/ppt/media/image3.png" Id="R2946737a85524cd6" /><Relationship Type="http://schemas.openxmlformats.org/officeDocument/2006/relationships/notesSlide" Target="/ppt/notesSlides/notesSlide6.xml" Id="Rf642aba3e56944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9a1c95b2b4cbd" /><Relationship Type="http://schemas.openxmlformats.org/officeDocument/2006/relationships/image" Target="/ppt/media/image2.png" Id="Rf43c418d3faf4b63" /><Relationship Type="http://schemas.openxmlformats.org/officeDocument/2006/relationships/notesSlide" Target="/ppt/notesSlides/notesSlide7.xml" Id="Ra0bb3b84a2004a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2ca91a71848a7" /><Relationship Type="http://schemas.openxmlformats.org/officeDocument/2006/relationships/image" Target="/ppt/media/image2.png" Id="Rde250488c85d4c3d" /><Relationship Type="http://schemas.openxmlformats.org/officeDocument/2006/relationships/image" Target="/ppt/media/image4.png" Id="R00826c9e972f4705" /><Relationship Type="http://schemas.openxmlformats.org/officeDocument/2006/relationships/notesSlide" Target="/ppt/notesSlides/notesSlide8.xml" Id="Rc98fa9f0e37646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6d327f0da42c5" /><Relationship Type="http://schemas.openxmlformats.org/officeDocument/2006/relationships/image" Target="/ppt/media/image2.png" Id="R377d01e4097949e5" /><Relationship Type="http://schemas.openxmlformats.org/officeDocument/2006/relationships/notesSlide" Target="/ppt/notesSlides/notesSlide9.xml" Id="R5dc9b37291ab43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06e8b143d4dfa" /><Relationship Type="http://schemas.openxmlformats.org/officeDocument/2006/relationships/image" Target="/ppt/media/image2.png" Id="R2dbb9934d8954752" /><Relationship Type="http://schemas.openxmlformats.org/officeDocument/2006/relationships/notesSlide" Target="/ppt/notesSlides/notesSlide10.xml" Id="R004d3c2bf5c14b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ed7ea07ee4808" /><Relationship Type="http://schemas.openxmlformats.org/officeDocument/2006/relationships/image" Target="/ppt/media/image.png" Id="R5b6bec5e9ce848b5" /><Relationship Type="http://schemas.openxmlformats.org/officeDocument/2006/relationships/notesSlide" Target="/ppt/notesSlides/notesSlide11.xml" Id="Raa413540598e4d39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7db0fed51c34e3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1C8C5C06-82A0-4707-BBB6-6CA46728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00" y="320040"/>
            <a:ext cx="9966600" cy="1554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Министерство науки и высшего образования Российской Федерации</a:t>
            </a:r>
            <a:br/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ФГБОУ ВО «Магнитогорский государственный технический университет им. Г.И. Носова»</a:t>
            </a:r>
            <a:br/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Институт энергетики и автоматизированных систем · Кафедра ВТиП</a:t>
            </a: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4F39141E-01A8-4119-BB71-B1C991A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080" y="2468880"/>
            <a:ext cx="10058040" cy="21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cap="none">
                <a:solidFill>
                  <a:srgbClr val="323C8D"/>
                </a:solidFill>
                <a:latin typeface="Arial"/>
                <a:ea typeface="Arial"/>
                <a:cs typeface="Arial"/>
              </a:rPr>
              <a:t>ПРОЕКТИРОВАНИЕ И РАЗРАБОТКА ИНФОРМАЦИОННОЙ СИСТЕМЫ УПРАВЛЕНИЯ ВОЛОНТЕРАМИ С ЭЛЕМЕНТАМИ ГЕЙМИФИКАЦИИ И АНАЛИТИКИ</a:t>
            </a: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D5561753-9515-4526-BD86-99708420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760" y="5650920"/>
            <a:ext cx="859500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Выполнил: обучающийся Зозин П.А.</a:t>
            </a:r>
            <a:br/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Направление 09.03.01 — Информатика и вычислительная техника</a:t>
            </a:r>
            <a:br/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Руководитель: доцент кафедры ВТиП, к.п.н. Гладышева М.М.</a:t>
            </a: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25D1FFF4-2302-4D39-97BF-AC703C89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6510600"/>
            <a:ext cx="18284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Магнитогорск, 2026</a:t>
            </a:r>
          </a:p>
        </p:txBody>
      </p:sp>
    </p:spTree>
    <p:extLst>
      <p:ext uri="{BB962C8B-B14F-4D97-AF65-F5344CB8AC3E}">
        <p14:creationId xmlns:p14="http://schemas.microsoft.com/office/powerpoint/2010/main" val="15083842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Google Shape;27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ca9c163cfe43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4D665121-864E-47EB-9EC1-491A36DE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Цель, объект, предмет и задачи работы</a:t>
            </a:r>
          </a:p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50E9C37E-16F5-4969-93AB-4BF4AACB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8C840D37-C526-4489-8452-CC445A0B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912709B9-907A-4E2D-B47D-636C416A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43000"/>
            <a:ext cx="10881360" cy="1143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B8E07959-47EA-4A2C-BCFD-7CB13068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3000"/>
            <a:ext cx="132588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ЦЕЛЬ</a:t>
            </a: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6ABADABD-1984-4DDB-8207-0BC3DB39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257407"/>
            <a:ext cx="9144000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Повысить эффективность управления волонтерской деятельностью за счет разработки web-ориентированной информационной системы «Пульс» с учетом заявок, задач, часов, сертификатов, геймификации и аналитики.</a:t>
            </a: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FE2206B8-16AC-4B44-B40D-39827CA4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5257800" cy="8686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C8282E10-B335-4511-820D-FA967528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20924"/>
            <a:ext cx="11430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ОБЪЕКТ</a:t>
            </a: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356AD5AB-1DB0-4A09-8882-B673394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2671941"/>
            <a:ext cx="370332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1F2637"/>
                </a:solidFill>
                <a:latin typeface="Arial"/>
                <a:ea typeface="Arial"/>
                <a:cs typeface="Arial"/>
              </a:rPr>
              <a:t>Процесс управления</a:t>
            </a:r>
            <a:r>
              <a:rPr sz="150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 волонтерской деятельностью в организации</a:t>
            </a: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8072AC22-611C-4B51-A46B-3F65F889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14600"/>
            <a:ext cx="5349240" cy="8686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16A0288C-E4CC-4E49-ABF9-02686A33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132588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ПРЕДМЕТ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701BE399-DFAF-420A-80BC-5D256074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661791"/>
            <a:ext cx="3611880" cy="523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F2637"/>
                </a:solidFill>
                <a:latin typeface="Arial"/>
                <a:ea typeface="Arial"/>
                <a:cs typeface="Arial"/>
              </a:rPr>
              <a:t>Информационная система «Пульс» и связанные пользовательские сценарии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82ABC8EE-00EE-4180-9A08-9970501A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575" y="3657600"/>
            <a:ext cx="9509400" cy="808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8759AA26-911A-4811-90AF-DD8E8F20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644" y="3919610"/>
            <a:ext cx="628200" cy="310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331C339E-1612-4BB7-95EA-2282BBDB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549" y="3797950"/>
            <a:ext cx="8020800" cy="59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</a:rPr>
              <a:t>Провести теоретико–информационный анализ управления волонтерской деятельностью, существующих решений и сформировать дерево целей и требования к Пульс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3E0FA04D-394E-4DC3-8D35-DA1004EA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575" y="4568800"/>
            <a:ext cx="9509400" cy="808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CF726348-F304-4CE5-A001-69955D50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644" y="4867322"/>
            <a:ext cx="628200" cy="310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35CE32D7-0DE8-4D1E-AAD9-4A28CBD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540" y="4695990"/>
            <a:ext cx="8020800" cy="59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</a:rPr>
              <a:t>Спроектировать и реализовать информационную систему Пульс, включая архитектуру, модели данных, алгоритмы, интерфейс и визуализацию итогов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086E33DA-6082-4F93-A6D7-D75898A1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575" y="5466925"/>
            <a:ext cx="9509400" cy="808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" name="Google Shape;47;p4">
            <a:extLst xmlns:a="http://schemas.openxmlformats.org/drawingml/2006/main">
              <a:ext uri="{FF2B5EF4-FFF2-40B4-BE49-F238E27FC236}">
                <a16:creationId xmlns:a16="http://schemas.microsoft.com/office/drawing/2014/main" id="{505F9FB9-27EE-4664-BCE4-18455D47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644" y="5715710"/>
            <a:ext cx="628200" cy="310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77F15D41-4CA3-4132-B8BC-72DDC125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540" y="5574927"/>
            <a:ext cx="8020800" cy="59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</a:rPr>
              <a:t>Провести проверку работоспособности и оценить результаты эксплуатации Пульс на ключевых пользовательских сценариях</a:t>
            </a:r>
          </a:p>
        </p:txBody>
      </p:sp>
    </p:spTree>
    <p:extLst>
      <p:ext uri="{BB962C8B-B14F-4D97-AF65-F5344CB8AC3E}">
        <p14:creationId xmlns:p14="http://schemas.microsoft.com/office/powerpoint/2010/main" val="6857828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4" name="Google Shape;5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7d14341ced45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ACDDD587-6A93-4837-960B-016B50F5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Анализ аналогов</a:t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F60E8740-9BBB-4974-A0BD-A0E22888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FA934F56-F3FB-4431-A13B-486C279D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B84245FC-006A-481E-B32F-95F2389B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2468880" cy="2743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98F449F6-4DDD-4687-9EB9-F65A6338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508760"/>
            <a:ext cx="1024128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D26A2885-7E52-4C06-BBB0-34A3EE9B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331720"/>
            <a:ext cx="2103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Добро.рф</a:t>
            </a: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90B32231-947F-454E-998D-506A2552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16352"/>
            <a:ext cx="19659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60">
                <a:solidFill>
                  <a:srgbClr val="5B6476"/>
                </a:solidFill>
                <a:latin typeface="Arial"/>
                <a:ea typeface="Arial"/>
                <a:cs typeface="Arial"/>
              </a:rPr>
              <a:t>М</a:t>
            </a:r>
            <a:r>
              <a:rPr sz="116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асштабная публичная экосистема, но не локальное пространство организации</a:t>
            </a:r>
          </a:p>
        </p:txBody>
      </p:sp>
      <p:sp>
        <p:nvSpPr>
          <p:cNvPr id="62" name="Google Shape;62;p5">
            <a:extLst xmlns:a="http://schemas.openxmlformats.org/drawingml/2006/main">
              <a:ext uri="{FF2B5EF4-FFF2-40B4-BE49-F238E27FC236}">
                <a16:creationId xmlns:a16="http://schemas.microsoft.com/office/drawing/2014/main" id="{A2D64FAB-1EA2-4003-818F-AC34BBA2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7" y="1234440"/>
            <a:ext cx="2468880" cy="2743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5">
            <a:extLst xmlns:a="http://schemas.openxmlformats.org/drawingml/2006/main">
              <a:ext uri="{FF2B5EF4-FFF2-40B4-BE49-F238E27FC236}">
                <a16:creationId xmlns:a16="http://schemas.microsoft.com/office/drawing/2014/main" id="{8CF35533-2B2E-4EC2-86B7-48A1DE8B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508760"/>
            <a:ext cx="1024128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I/V</a:t>
            </a:r>
          </a:p>
        </p:txBody>
      </p:sp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DFC53D6B-F377-4A3C-AC27-78280207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168" y="2331720"/>
            <a:ext cx="2103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Idealist / VolunteerMatch</a:t>
            </a:r>
          </a:p>
        </p:txBody>
      </p:sp>
      <p:sp>
        <p:nvSpPr>
          <p:cNvPr id="65" name="Google Shape;65;p5">
            <a:extLst xmlns:a="http://schemas.openxmlformats.org/drawingml/2006/main">
              <a:ext uri="{FF2B5EF4-FFF2-40B4-BE49-F238E27FC236}">
                <a16:creationId xmlns:a16="http://schemas.microsoft.com/office/drawing/2014/main" id="{730E3230-CDAE-453D-B8BF-56858C21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913900"/>
            <a:ext cx="1965960" cy="627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60">
                <a:solidFill>
                  <a:srgbClr val="5B6476"/>
                </a:solidFill>
                <a:latin typeface="Arial"/>
                <a:ea typeface="Arial"/>
                <a:cs typeface="Arial"/>
              </a:rPr>
              <a:t>С</a:t>
            </a:r>
            <a:r>
              <a:rPr sz="116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ильный поиск возможностей, но слабый учет внутреннего вклада</a:t>
            </a:r>
          </a:p>
        </p:txBody>
      </p:sp>
      <p:sp>
        <p:nvSpPr>
          <p:cNvPr id="66" name="Google Shape;66;p5">
            <a:extLst xmlns:a="http://schemas.openxmlformats.org/drawingml/2006/main">
              <a:ext uri="{FF2B5EF4-FFF2-40B4-BE49-F238E27FC236}">
                <a16:creationId xmlns:a16="http://schemas.microsoft.com/office/drawing/2014/main" id="{7DBCFF0B-2ACE-4879-BDE0-31BBD44E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234440"/>
            <a:ext cx="2468880" cy="2743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5D00E6E0-8832-46DC-A843-59C87B96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1508760"/>
            <a:ext cx="1024128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9525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D29EF5A8-99E8-4FE4-AB84-2080A5D3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331720"/>
            <a:ext cx="2103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Timecounts</a:t>
            </a: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71A8ACBA-B1E0-4ADB-82E9-9E85671A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816352"/>
            <a:ext cx="19659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60">
                <a:solidFill>
                  <a:srgbClr val="5B6476"/>
                </a:solidFill>
                <a:latin typeface="Arial"/>
                <a:ea typeface="Arial"/>
                <a:cs typeface="Arial"/>
              </a:rPr>
              <a:t>О</a:t>
            </a:r>
            <a:r>
              <a:rPr sz="116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перационная работа событий, но нужна адаптация под аналитику и сертификаты</a:t>
            </a: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4AE5F206-A606-42D5-B2B2-FE4F46A9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3" y="1234440"/>
            <a:ext cx="2468880" cy="2743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373E6FB2-243E-4EFA-8F85-59135501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5" y="1508760"/>
            <a:ext cx="1024128" cy="65836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2637"/>
          </a:solidFill>
          <a:ln xmlns:a="http://schemas.openxmlformats.org/drawingml/2006/main" w="9525" cmpd="sng">
            <a:solidFill>
              <a:srgbClr val="1F2637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F1262620-4442-4996-818A-F6CAB3BE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3" y="2331720"/>
            <a:ext cx="2103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Golden</a:t>
            </a: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56468369-6321-4D09-A579-1EC5EFAB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5" y="2816352"/>
            <a:ext cx="19659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60">
                <a:solidFill>
                  <a:srgbClr val="5B6476"/>
                </a:solidFill>
                <a:latin typeface="Arial"/>
                <a:ea typeface="Arial"/>
                <a:cs typeface="Arial"/>
              </a:rPr>
              <a:t>К</a:t>
            </a:r>
            <a:r>
              <a:rPr sz="116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оммерческая SaaS-платформа, меньше контроля над моделью данных</a:t>
            </a:r>
          </a:p>
        </p:txBody>
      </p:sp>
      <p:sp>
        <p:nvSpPr>
          <p:cNvPr id="74" name="Google Shape;74;p5">
            <a:extLst xmlns:a="http://schemas.openxmlformats.org/drawingml/2006/main">
              <a:ext uri="{FF2B5EF4-FFF2-40B4-BE49-F238E27FC236}">
                <a16:creationId xmlns:a16="http://schemas.microsoft.com/office/drawing/2014/main" id="{94826D58-8269-489C-BCE3-D8C859A4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33672"/>
            <a:ext cx="10881360" cy="9601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75;p5">
            <a:extLst xmlns:a="http://schemas.openxmlformats.org/drawingml/2006/main">
              <a:ext uri="{FF2B5EF4-FFF2-40B4-BE49-F238E27FC236}">
                <a16:creationId xmlns:a16="http://schemas.microsoft.com/office/drawing/2014/main" id="{F3286D60-04F8-4BF3-BAFF-E091D950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79" y="4268347"/>
            <a:ext cx="10415015" cy="85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Вывод: Существующие решения закрывают отдельные части процесса, но не связывают локальные роли, заявки, подтвержденные часы, достижения, сертификаты и аналитику в одном контуре данных.</a:t>
            </a:r>
          </a:p>
        </p:txBody>
      </p:sp>
      <p:sp>
        <p:nvSpPr>
          <p:cNvPr id="76" name="Google Shape;76;p5">
            <a:extLst xmlns:a="http://schemas.openxmlformats.org/drawingml/2006/main">
              <a:ext uri="{FF2B5EF4-FFF2-40B4-BE49-F238E27FC236}">
                <a16:creationId xmlns:a16="http://schemas.microsoft.com/office/drawing/2014/main" id="{550A9940-8948-4E30-945F-E6F0A0E9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13248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Покрытие полного цикла</a:t>
            </a:r>
          </a:p>
        </p:txBody>
      </p:sp>
      <p:sp>
        <p:nvSpPr>
          <p:cNvPr id="77" name="Google Shape;77;p5">
            <a:extLst xmlns:a="http://schemas.openxmlformats.org/drawingml/2006/main">
              <a:ext uri="{FF2B5EF4-FFF2-40B4-BE49-F238E27FC236}">
                <a16:creationId xmlns:a16="http://schemas.microsoft.com/office/drawing/2014/main" id="{D823F654-57E2-4F57-A886-37D98AEA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76672"/>
            <a:ext cx="7772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каталог</a:t>
            </a:r>
          </a:p>
        </p:txBody>
      </p:sp>
      <p:sp>
        <p:nvSpPr>
          <p:cNvPr id="78" name="Google Shape;78;p5">
            <a:extLst xmlns:a="http://schemas.openxmlformats.org/drawingml/2006/main">
              <a:ext uri="{FF2B5EF4-FFF2-40B4-BE49-F238E27FC236}">
                <a16:creationId xmlns:a16="http://schemas.microsoft.com/office/drawing/2014/main" id="{6D2DC8CE-6E7D-42F6-8473-65210D6F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49824"/>
            <a:ext cx="82296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5">
            <a:extLst xmlns:a="http://schemas.openxmlformats.org/drawingml/2006/main">
              <a:ext uri="{FF2B5EF4-FFF2-40B4-BE49-F238E27FC236}">
                <a16:creationId xmlns:a16="http://schemas.microsoft.com/office/drawing/2014/main" id="{1D62E1A3-061D-41A2-B91B-6BD13837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49824"/>
            <a:ext cx="27432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5">
            <a:extLst xmlns:a="http://schemas.openxmlformats.org/drawingml/2006/main">
              <a:ext uri="{FF2B5EF4-FFF2-40B4-BE49-F238E27FC236}">
                <a16:creationId xmlns:a16="http://schemas.microsoft.com/office/drawing/2014/main" id="{8BF13EDE-5D01-4915-BEF4-27814CCD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358384"/>
            <a:ext cx="2011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1" name="Google Shape;81;p5">
            <a:extLst xmlns:a="http://schemas.openxmlformats.org/drawingml/2006/main">
              <a:ext uri="{FF2B5EF4-FFF2-40B4-BE49-F238E27FC236}">
                <a16:creationId xmlns:a16="http://schemas.microsoft.com/office/drawing/2014/main" id="{9B373B36-A53A-4E2C-9330-BD823232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79" y="5376672"/>
            <a:ext cx="7772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event</a:t>
            </a:r>
          </a:p>
        </p:txBody>
      </p:sp>
      <p:sp>
        <p:nvSpPr>
          <p:cNvPr id="82" name="Google Shape;82;p5">
            <a:extLst xmlns:a="http://schemas.openxmlformats.org/drawingml/2006/main">
              <a:ext uri="{FF2B5EF4-FFF2-40B4-BE49-F238E27FC236}">
                <a16:creationId xmlns:a16="http://schemas.microsoft.com/office/drawing/2014/main" id="{5E4D907D-7065-442B-B616-4D58EA33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712" y="5449824"/>
            <a:ext cx="82296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5">
            <a:extLst xmlns:a="http://schemas.openxmlformats.org/drawingml/2006/main">
              <a:ext uri="{FF2B5EF4-FFF2-40B4-BE49-F238E27FC236}">
                <a16:creationId xmlns:a16="http://schemas.microsoft.com/office/drawing/2014/main" id="{C252035E-8CD7-411D-84EA-7728726B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712" y="5449824"/>
            <a:ext cx="41148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5">
            <a:extLst xmlns:a="http://schemas.openxmlformats.org/drawingml/2006/main">
              <a:ext uri="{FF2B5EF4-FFF2-40B4-BE49-F238E27FC236}">
                <a16:creationId xmlns:a16="http://schemas.microsoft.com/office/drawing/2014/main" id="{7943C5D2-ACBF-4BA8-B738-96E693D8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7" y="5358384"/>
            <a:ext cx="2011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5" name="Google Shape;85;p5">
            <a:extLst xmlns:a="http://schemas.openxmlformats.org/drawingml/2006/main">
              <a:ext uri="{FF2B5EF4-FFF2-40B4-BE49-F238E27FC236}">
                <a16:creationId xmlns:a16="http://schemas.microsoft.com/office/drawing/2014/main" id="{FEC4144F-7973-4B28-AC32-406DD9DC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376672"/>
            <a:ext cx="7772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SaaS</a:t>
            </a:r>
          </a:p>
        </p:txBody>
      </p:sp>
      <p:sp>
        <p:nvSpPr>
          <p:cNvPr id="86" name="Google Shape;86;p5">
            <a:extLst xmlns:a="http://schemas.openxmlformats.org/drawingml/2006/main">
              <a:ext uri="{FF2B5EF4-FFF2-40B4-BE49-F238E27FC236}">
                <a16:creationId xmlns:a16="http://schemas.microsoft.com/office/drawing/2014/main" id="{6FBB01D0-3727-4630-83F4-3E80E309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1" y="5449824"/>
            <a:ext cx="82296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5">
            <a:extLst xmlns:a="http://schemas.openxmlformats.org/drawingml/2006/main">
              <a:ext uri="{FF2B5EF4-FFF2-40B4-BE49-F238E27FC236}">
                <a16:creationId xmlns:a16="http://schemas.microsoft.com/office/drawing/2014/main" id="{2364D12C-07E7-4544-8511-99D78D57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1" y="5449824"/>
            <a:ext cx="54864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8" name="Google Shape;88;p5">
            <a:extLst xmlns:a="http://schemas.openxmlformats.org/drawingml/2006/main">
              <a:ext uri="{FF2B5EF4-FFF2-40B4-BE49-F238E27FC236}">
                <a16:creationId xmlns:a16="http://schemas.microsoft.com/office/drawing/2014/main" id="{7131EA93-CCC6-4281-AC2B-89DCCD49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5358384"/>
            <a:ext cx="2011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9" name="Google Shape;89;p5">
            <a:extLst xmlns:a="http://schemas.openxmlformats.org/drawingml/2006/main">
              <a:ext uri="{FF2B5EF4-FFF2-40B4-BE49-F238E27FC236}">
                <a16:creationId xmlns:a16="http://schemas.microsoft.com/office/drawing/2014/main" id="{D550A23C-A9DB-42E6-9471-3D6DE54F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76672"/>
            <a:ext cx="7772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Пульс</a:t>
            </a:r>
          </a:p>
        </p:txBody>
      </p:sp>
      <p:sp>
        <p:nvSpPr>
          <p:cNvPr id="90" name="Google Shape;90;p5">
            <a:extLst xmlns:a="http://schemas.openxmlformats.org/drawingml/2006/main">
              <a:ext uri="{FF2B5EF4-FFF2-40B4-BE49-F238E27FC236}">
                <a16:creationId xmlns:a16="http://schemas.microsoft.com/office/drawing/2014/main" id="{62366D95-971E-446F-9E48-60E80183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632" y="5449824"/>
            <a:ext cx="82296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5">
            <a:extLst xmlns:a="http://schemas.openxmlformats.org/drawingml/2006/main">
              <a:ext uri="{FF2B5EF4-FFF2-40B4-BE49-F238E27FC236}">
                <a16:creationId xmlns:a16="http://schemas.microsoft.com/office/drawing/2014/main" id="{59F5814E-C801-440E-A663-0CA6F567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632" y="5449824"/>
            <a:ext cx="822960" cy="11887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9D72"/>
          </a:solidFill>
          <a:ln xmlns:a="http://schemas.openxmlformats.org/drawingml/2006/main" w="12700" cmpd="sng">
            <a:solidFill>
              <a:srgbClr val="1F9D72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5">
            <a:extLst xmlns:a="http://schemas.openxmlformats.org/drawingml/2006/main">
              <a:ext uri="{FF2B5EF4-FFF2-40B4-BE49-F238E27FC236}">
                <a16:creationId xmlns:a16="http://schemas.microsoft.com/office/drawing/2014/main" id="{2A506615-F498-4336-BA1B-1DECB1EE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8168" y="5358384"/>
            <a:ext cx="20116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1F9D72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36950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3" name="Google Shape;98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e06fc2366141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875B3396-567A-437B-AE8D-3570C758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Технологический стек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C56EA15D-3DBB-4B51-BBDC-1A3DD8FF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62B1A7D4-7AC9-45C7-9D1F-C23951C4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2" name="Google Shape;102;p6">
            <a:extLst xmlns:a="http://schemas.openxmlformats.org/drawingml/2006/main">
              <a:ext uri="{FF2B5EF4-FFF2-40B4-BE49-F238E27FC236}">
                <a16:creationId xmlns:a16="http://schemas.microsoft.com/office/drawing/2014/main" id="{F330BFBC-F3EC-4599-9E84-3BD7AAC8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98448"/>
            <a:ext cx="3246120" cy="2741793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D12D4709-9DA0-43B5-BC15-A94608B6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98448"/>
            <a:ext cx="3246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E834507E-7912-4A31-A20A-6991215C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89888"/>
            <a:ext cx="3246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9EC9715E-43D0-4636-921E-5FE09B86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76272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2C2C0D31-0FD1-4BEE-A1E9-43DB45DE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135011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Vue.js 3</a:t>
            </a:r>
          </a:p>
        </p:txBody>
      </p:sp>
      <p:sp>
        <p:nvSpPr>
          <p:cNvPr id="107" name="Google Shape;107;p6">
            <a:extLst xmlns:a="http://schemas.openxmlformats.org/drawingml/2006/main">
              <a:ext uri="{FF2B5EF4-FFF2-40B4-BE49-F238E27FC236}">
                <a16:creationId xmlns:a16="http://schemas.microsoft.com/office/drawing/2014/main" id="{82573D80-F1D4-4AD3-AD37-D023C0F4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798064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6CA84281-7508-490D-8748-F8528387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56803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TypeScript</a:t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D51D2B34-D761-440E-A7FC-63A1DBB1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419856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724B7487-C16E-499F-99CF-4831A5B7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78595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Vite</a:t>
            </a: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EA6E780A-1D0A-4828-AD23-801EE07E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298448"/>
            <a:ext cx="3246120" cy="344239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6">
            <a:extLst xmlns:a="http://schemas.openxmlformats.org/drawingml/2006/main">
              <a:ext uri="{FF2B5EF4-FFF2-40B4-BE49-F238E27FC236}">
                <a16:creationId xmlns:a16="http://schemas.microsoft.com/office/drawing/2014/main" id="{70409020-25A5-4E02-8776-F281EFE3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298448"/>
            <a:ext cx="3246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8158007A-978C-4627-AE60-48F8DB53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389888"/>
            <a:ext cx="3246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73E299DC-8BEA-4102-AB80-73D0E345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176272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5" name="Google Shape;115;p6">
            <a:extLst xmlns:a="http://schemas.openxmlformats.org/drawingml/2006/main">
              <a:ext uri="{FF2B5EF4-FFF2-40B4-BE49-F238E27FC236}">
                <a16:creationId xmlns:a16="http://schemas.microsoft.com/office/drawing/2014/main" id="{E32FF90A-3301-470E-915C-A0203FC4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2130791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Go + Gin</a:t>
            </a:r>
          </a:p>
        </p:txBody>
      </p:sp>
      <p:sp>
        <p:nvSpPr>
          <p:cNvPr id="116" name="Google Shape;116;p6">
            <a:extLst xmlns:a="http://schemas.openxmlformats.org/drawingml/2006/main">
              <a:ext uri="{FF2B5EF4-FFF2-40B4-BE49-F238E27FC236}">
                <a16:creationId xmlns:a16="http://schemas.microsoft.com/office/drawing/2014/main" id="{932A8193-AA36-48E9-A895-B976C6A9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798064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p6">
            <a:extLst xmlns:a="http://schemas.openxmlformats.org/drawingml/2006/main">
              <a:ext uri="{FF2B5EF4-FFF2-40B4-BE49-F238E27FC236}">
                <a16:creationId xmlns:a16="http://schemas.microsoft.com/office/drawing/2014/main" id="{6AB7CFDB-387F-44BF-BE60-B49FD2D8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2752583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REST API</a:t>
            </a:r>
          </a:p>
        </p:txBody>
      </p:sp>
      <p:sp>
        <p:nvSpPr>
          <p:cNvPr id="118" name="Google Shape;118;p6">
            <a:extLst xmlns:a="http://schemas.openxmlformats.org/drawingml/2006/main">
              <a:ext uri="{FF2B5EF4-FFF2-40B4-BE49-F238E27FC236}">
                <a16:creationId xmlns:a16="http://schemas.microsoft.com/office/drawing/2014/main" id="{2A7631CA-E158-4642-A219-B2233268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419856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6">
            <a:extLst xmlns:a="http://schemas.openxmlformats.org/drawingml/2006/main">
              <a:ext uri="{FF2B5EF4-FFF2-40B4-BE49-F238E27FC236}">
                <a16:creationId xmlns:a16="http://schemas.microsoft.com/office/drawing/2014/main" id="{42F833E7-67E2-4755-806B-1890BD96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3251265"/>
            <a:ext cx="2103120" cy="58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JWT / refresh-сессии</a:t>
            </a:r>
          </a:p>
        </p:txBody>
      </p:sp>
      <p:sp>
        <p:nvSpPr>
          <p:cNvPr id="120" name="Google Shape;120;p6">
            <a:extLst xmlns:a="http://schemas.openxmlformats.org/drawingml/2006/main">
              <a:ext uri="{FF2B5EF4-FFF2-40B4-BE49-F238E27FC236}">
                <a16:creationId xmlns:a16="http://schemas.microsoft.com/office/drawing/2014/main" id="{B0244B62-C21D-4D9D-B697-48CFC7DA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040241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6">
            <a:extLst xmlns:a="http://schemas.openxmlformats.org/drawingml/2006/main">
              <a:ext uri="{FF2B5EF4-FFF2-40B4-BE49-F238E27FC236}">
                <a16:creationId xmlns:a16="http://schemas.microsoft.com/office/drawing/2014/main" id="{45A0D416-D7A2-4FB8-9B13-3F9CCE07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3994760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Audit log</a:t>
            </a:r>
          </a:p>
        </p:txBody>
      </p:sp>
      <p:sp>
        <p:nvSpPr>
          <p:cNvPr id="122" name="Google Shape;122;p6">
            <a:extLst xmlns:a="http://schemas.openxmlformats.org/drawingml/2006/main">
              <a:ext uri="{FF2B5EF4-FFF2-40B4-BE49-F238E27FC236}">
                <a16:creationId xmlns:a16="http://schemas.microsoft.com/office/drawing/2014/main" id="{BAC96732-B5DE-46FF-9C25-7332AF5E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298448"/>
            <a:ext cx="3246120" cy="2741793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6">
            <a:extLst xmlns:a="http://schemas.openxmlformats.org/drawingml/2006/main">
              <a:ext uri="{FF2B5EF4-FFF2-40B4-BE49-F238E27FC236}">
                <a16:creationId xmlns:a16="http://schemas.microsoft.com/office/drawing/2014/main" id="{BDDBB2C4-562C-4119-A488-94A3643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298448"/>
            <a:ext cx="3246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6">
            <a:extLst xmlns:a="http://schemas.openxmlformats.org/drawingml/2006/main">
              <a:ext uri="{FF2B5EF4-FFF2-40B4-BE49-F238E27FC236}">
                <a16:creationId xmlns:a16="http://schemas.microsoft.com/office/drawing/2014/main" id="{7EC7D230-A1A0-4981-A6DA-107003D4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389888"/>
            <a:ext cx="324612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Данные / DevOps</a:t>
            </a:r>
          </a:p>
        </p:txBody>
      </p:sp>
      <p:sp>
        <p:nvSpPr>
          <p:cNvPr id="125" name="Google Shape;125;p6">
            <a:extLst xmlns:a="http://schemas.openxmlformats.org/drawingml/2006/main">
              <a:ext uri="{FF2B5EF4-FFF2-40B4-BE49-F238E27FC236}">
                <a16:creationId xmlns:a16="http://schemas.microsoft.com/office/drawing/2014/main" id="{C2488E6F-F636-49FC-BDA8-E24B24BB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176272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9525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6" name="Google Shape;126;p6">
            <a:extLst xmlns:a="http://schemas.openxmlformats.org/drawingml/2006/main">
              <a:ext uri="{FF2B5EF4-FFF2-40B4-BE49-F238E27FC236}">
                <a16:creationId xmlns:a16="http://schemas.microsoft.com/office/drawing/2014/main" id="{BFC1DC55-27DA-4D51-82D0-8C45A41C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130791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27" name="Google Shape;127;p6">
            <a:extLst xmlns:a="http://schemas.openxmlformats.org/drawingml/2006/main">
              <a:ext uri="{FF2B5EF4-FFF2-40B4-BE49-F238E27FC236}">
                <a16:creationId xmlns:a16="http://schemas.microsoft.com/office/drawing/2014/main" id="{11C7A04F-58CC-4AD5-85B2-99B7A286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798064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9525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6">
            <a:extLst xmlns:a="http://schemas.openxmlformats.org/drawingml/2006/main">
              <a:ext uri="{FF2B5EF4-FFF2-40B4-BE49-F238E27FC236}">
                <a16:creationId xmlns:a16="http://schemas.microsoft.com/office/drawing/2014/main" id="{9F8F4216-1538-40FF-9F74-82ADF3D2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752583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Миграции</a:t>
            </a:r>
          </a:p>
        </p:txBody>
      </p:sp>
      <p:sp>
        <p:nvSpPr>
          <p:cNvPr id="129" name="Google Shape;129;p6">
            <a:extLst xmlns:a="http://schemas.openxmlformats.org/drawingml/2006/main">
              <a:ext uri="{FF2B5EF4-FFF2-40B4-BE49-F238E27FC236}">
                <a16:creationId xmlns:a16="http://schemas.microsoft.com/office/drawing/2014/main" id="{474A9CC7-FE1A-4FCD-A809-263C4619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419856"/>
            <a:ext cx="256032" cy="25603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9525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6">
            <a:extLst xmlns:a="http://schemas.openxmlformats.org/drawingml/2006/main">
              <a:ext uri="{FF2B5EF4-FFF2-40B4-BE49-F238E27FC236}">
                <a16:creationId xmlns:a16="http://schemas.microsoft.com/office/drawing/2014/main" id="{64A739ED-2D02-481C-B9B3-16573986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3374375"/>
            <a:ext cx="210312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131" name="Google Shape;131;p6">
            <a:extLst xmlns:a="http://schemas.openxmlformats.org/drawingml/2006/main">
              <a:ext uri="{FF2B5EF4-FFF2-40B4-BE49-F238E27FC236}">
                <a16:creationId xmlns:a16="http://schemas.microsoft.com/office/drawing/2014/main" id="{E5F87AA7-44DE-457B-A296-68927E00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715000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Стек выбран под web-приложение с разграничением ролей, воспроизводимым развертыванием и реляционной целостностью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064208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1" name="Google Shape;137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30be9fea224f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953370BC-B69E-40E3-88A9-B87E6C08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Архитектура «Пульс»</a:t>
            </a: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F3C815C-D7EC-4D78-AED5-5805928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31D2B56D-2D31-4A1B-A657-8659008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9B8F367F-1EE7-4A93-A0DC-2C6859D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10881360" cy="9601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F00D456-A996-4BA4-830B-14CFFBF5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30632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BEF82489-0428-497D-A4F9-CB632C72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44815"/>
            <a:ext cx="23317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представления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CADA5D99-B1BB-4903-877D-7FC0E723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0575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Vue.js SPA</a:t>
            </a: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5CAD5412-FDA8-41A3-B7A9-7A5039BA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1364349"/>
            <a:ext cx="690372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1F2637"/>
                </a:solidFill>
                <a:latin typeface="Arial"/>
                <a:ea typeface="Arial"/>
                <a:cs typeface="Arial"/>
              </a:rPr>
              <a:t>Л</a:t>
            </a:r>
            <a:r>
              <a:rPr sz="150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ичный кабинет волонтера, панели координатора, администратора организации и суперадминистратора</a:t>
            </a: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B3112935-92EB-495B-8935-68AC19F1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9550"/>
            <a:ext cx="566928" cy="32918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9D72"/>
          </a:solidFill>
          <a:ln xmlns:a="http://schemas.openxmlformats.org/drawingml/2006/main" w="9525" cmpd="sng">
            <a:solidFill>
              <a:srgbClr val="1F9D72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D924FF46-E337-4B0E-B236-760AA3C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48796"/>
            <a:ext cx="10881360" cy="9601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947665EF-EE31-49B1-A82C-885CFFB7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48796"/>
            <a:ext cx="30632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9B4DC6E6-4E25-4352-B2B6-655D83D3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2072"/>
            <a:ext cx="23317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бизнес-логики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191B26E0-C958-4EE8-9A6E-D1849278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27832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Go / Gin REST API</a:t>
            </a: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A0A898F7-B8B0-431E-A8D8-83A4989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2778705"/>
            <a:ext cx="690372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1F2637"/>
                </a:solidFill>
                <a:latin typeface="Arial"/>
                <a:ea typeface="Arial"/>
                <a:cs typeface="Arial"/>
              </a:rPr>
              <a:t>А</a:t>
            </a:r>
            <a:r>
              <a:rPr sz="150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вторизация, организации, мероприятия, заявки, задачи, часы, достижения, сертификаты, аналитика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3D85BCF1-C68B-45F7-9CAF-FC7ED670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69934"/>
            <a:ext cx="566928" cy="32918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9D72"/>
          </a:solidFill>
          <a:ln xmlns:a="http://schemas.openxmlformats.org/drawingml/2006/main" w="9525" cmpd="sng">
            <a:solidFill>
              <a:srgbClr val="1F9D72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53" name="Google Shape;153;p7">
            <a:extLst xmlns:a="http://schemas.openxmlformats.org/drawingml/2006/main">
              <a:ext uri="{FF2B5EF4-FFF2-40B4-BE49-F238E27FC236}">
                <a16:creationId xmlns:a16="http://schemas.microsoft.com/office/drawing/2014/main" id="{DA17B944-C114-4E74-A9F9-EEC1F105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10881360" cy="9601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4" name="Google Shape;154;p7">
            <a:extLst xmlns:a="http://schemas.openxmlformats.org/drawingml/2006/main">
              <a:ext uri="{FF2B5EF4-FFF2-40B4-BE49-F238E27FC236}">
                <a16:creationId xmlns:a16="http://schemas.microsoft.com/office/drawing/2014/main" id="{345733E3-F364-456C-98F1-5F4A41D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30632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7">
            <a:extLst xmlns:a="http://schemas.openxmlformats.org/drawingml/2006/main">
              <a:ext uri="{FF2B5EF4-FFF2-40B4-BE49-F238E27FC236}">
                <a16:creationId xmlns:a16="http://schemas.microsoft.com/office/drawing/2014/main" id="{D736665C-7508-4496-B610-E5AF2EE6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5384"/>
            <a:ext cx="23317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данных</a:t>
            </a:r>
          </a:p>
        </p:txBody>
      </p:sp>
      <p:sp>
        <p:nvSpPr>
          <p:cNvPr id="156" name="Google Shape;156;p7">
            <a:extLst xmlns:a="http://schemas.openxmlformats.org/drawingml/2006/main">
              <a:ext uri="{FF2B5EF4-FFF2-40B4-BE49-F238E27FC236}">
                <a16:creationId xmlns:a16="http://schemas.microsoft.com/office/drawing/2014/main" id="{B99F4C9C-CCA9-4804-8276-4A9B1312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81144"/>
            <a:ext cx="2331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57" name="Google Shape;157;p7">
            <a:extLst xmlns:a="http://schemas.openxmlformats.org/drawingml/2006/main">
              <a:ext uri="{FF2B5EF4-FFF2-40B4-BE49-F238E27FC236}">
                <a16:creationId xmlns:a16="http://schemas.microsoft.com/office/drawing/2014/main" id="{EA7ABBE0-07ED-4887-BA73-4BD08126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4189845"/>
            <a:ext cx="690372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1F2637"/>
                </a:solidFill>
                <a:latin typeface="Arial"/>
                <a:ea typeface="Arial"/>
                <a:cs typeface="Arial"/>
              </a:rPr>
              <a:t>П</a:t>
            </a:r>
            <a:r>
              <a:rPr sz="150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ользователи, роли, организации, события, time entries, audit log и агрегаты отчетности</a:t>
            </a:r>
          </a:p>
        </p:txBody>
      </p:sp>
      <p:sp>
        <p:nvSpPr>
          <p:cNvPr id="158" name="Google Shape;158;p7">
            <a:extLst xmlns:a="http://schemas.openxmlformats.org/drawingml/2006/main">
              <a:ext uri="{FF2B5EF4-FFF2-40B4-BE49-F238E27FC236}">
                <a16:creationId xmlns:a16="http://schemas.microsoft.com/office/drawing/2014/main" id="{2022D8DA-3E43-42A1-BFB9-EBB82B49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881360" cy="56692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7">
            <a:extLst xmlns:a="http://schemas.openxmlformats.org/drawingml/2006/main">
              <a:ext uri="{FF2B5EF4-FFF2-40B4-BE49-F238E27FC236}">
                <a16:creationId xmlns:a16="http://schemas.microsoft.com/office/drawing/2014/main" id="{DD571ACB-58E1-40CB-85F0-5109BE8C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76532"/>
            <a:ext cx="9966960" cy="5386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Ключевой принцип: заявка, посещаемость, подтвержденные часы, достижение, сертификат и KPI не разрознены, а проходят через единую модель данных.</a:t>
            </a:r>
          </a:p>
        </p:txBody>
      </p:sp>
    </p:spTree>
    <p:extLst>
      <p:ext uri="{BB962C8B-B14F-4D97-AF65-F5344CB8AC3E}">
        <p14:creationId xmlns:p14="http://schemas.microsoft.com/office/powerpoint/2010/main" val="9774359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1" name="Google Shape;195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4196425e5445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18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6" name="Google Shape;196;p11">
            <a:extLst xmlns:a="http://schemas.openxmlformats.org/drawingml/2006/main">
              <a:ext uri="{FF2B5EF4-FFF2-40B4-BE49-F238E27FC236}">
                <a16:creationId xmlns:a16="http://schemas.microsoft.com/office/drawing/2014/main" id="{F88FD54B-82D2-4883-8934-09218B4B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200" cy="94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</a:rPr>
              <a:t>ER-диаграмма: </a:t>
            </a:r>
            <a:r>
              <a:rPr sz="2400" b="1">
                <a:solidFill>
                  <a:schemeClr val="lt1"/>
                </a:solidFill>
              </a:rPr>
              <a:t>Роли и организации</a:t>
            </a:r>
          </a:p>
        </p:txBody>
      </p:sp>
      <p:sp>
        <p:nvSpPr>
          <p:cNvPr id="197" name="Google Shape;197;p11">
            <a:extLst xmlns:a="http://schemas.openxmlformats.org/drawingml/2006/main">
              <a:ext uri="{FF2B5EF4-FFF2-40B4-BE49-F238E27FC236}">
                <a16:creationId xmlns:a16="http://schemas.microsoft.com/office/drawing/2014/main" id="{8EE47EF4-949C-4831-AD3F-6894A7F7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5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198" name="Google Shape;198;p11">
            <a:extLst xmlns:a="http://schemas.openxmlformats.org/drawingml/2006/main">
              <a:ext uri="{FF2B5EF4-FFF2-40B4-BE49-F238E27FC236}">
                <a16:creationId xmlns:a16="http://schemas.microsoft.com/office/drawing/2014/main" id="{C5E958E5-359A-469D-8074-20D81595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9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5B6476"/>
                </a:solidFill>
              </a:rPr>
              <a:t>8</a:t>
            </a:r>
          </a:p>
        </p:txBody>
      </p:sp>
      <p:pic>
        <p:nvPicPr>
          <p:cNvPr id="205" name="Google Shape;199;p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6737a85524cd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98888" y="946075"/>
            <a:ext cx="7065185" cy="5546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315663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6" name="Google Shape;205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3c418d3faf4b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6" name="Google Shape;206;p12">
            <a:extLst xmlns:a="http://schemas.openxmlformats.org/drawingml/2006/main">
              <a:ext uri="{FF2B5EF4-FFF2-40B4-BE49-F238E27FC236}">
                <a16:creationId xmlns:a16="http://schemas.microsoft.com/office/drawing/2014/main" id="{E81C2E58-EC92-4F4F-BB9F-4E8383B9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Ключевой сценарий проходит от заявки до управленческого отчета</a:t>
            </a:r>
          </a:p>
        </p:txBody>
      </p:sp>
      <p:sp>
        <p:nvSpPr>
          <p:cNvPr id="207" name="Google Shape;207;p12">
            <a:extLst xmlns:a="http://schemas.openxmlformats.org/drawingml/2006/main">
              <a:ext uri="{FF2B5EF4-FFF2-40B4-BE49-F238E27FC236}">
                <a16:creationId xmlns:a16="http://schemas.microsoft.com/office/drawing/2014/main" id="{069F4235-05A5-41B4-AA6F-C2F34A43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208" name="Google Shape;208;p12">
            <a:extLst xmlns:a="http://schemas.openxmlformats.org/drawingml/2006/main">
              <a:ext uri="{FF2B5EF4-FFF2-40B4-BE49-F238E27FC236}">
                <a16:creationId xmlns:a16="http://schemas.microsoft.com/office/drawing/2014/main" id="{D34EF6E0-B1AF-4E17-B6C6-C2D795CD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5B6476"/>
                </a:solidFill>
              </a:rPr>
              <a:t>9</a:t>
            </a:r>
          </a:p>
        </p:txBody>
      </p:sp>
      <p:sp>
        <p:nvSpPr>
          <p:cNvPr id="209" name="Google Shape;209;p12">
            <a:extLst xmlns:a="http://schemas.openxmlformats.org/drawingml/2006/main">
              <a:ext uri="{FF2B5EF4-FFF2-40B4-BE49-F238E27FC236}">
                <a16:creationId xmlns:a16="http://schemas.microsoft.com/office/drawing/2014/main" id="{DDD72FDD-EC02-4929-B1FC-C0F80518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4440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2">
            <a:extLst xmlns:a="http://schemas.openxmlformats.org/drawingml/2006/main">
              <a:ext uri="{FF2B5EF4-FFF2-40B4-BE49-F238E27FC236}">
                <a16:creationId xmlns:a16="http://schemas.microsoft.com/office/drawing/2014/main" id="{8F0C128F-1DE5-49AC-9BCF-EDB8C918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463040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1" name="Google Shape;211;p12">
            <a:extLst xmlns:a="http://schemas.openxmlformats.org/drawingml/2006/main">
              <a:ext uri="{FF2B5EF4-FFF2-40B4-BE49-F238E27FC236}">
                <a16:creationId xmlns:a16="http://schemas.microsoft.com/office/drawing/2014/main" id="{C2C63D65-412A-4440-BE3F-82F70A51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433850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Волонтер</a:t>
            </a:r>
          </a:p>
        </p:txBody>
      </p:sp>
      <p:sp>
        <p:nvSpPr>
          <p:cNvPr id="212" name="Google Shape;212;p12">
            <a:extLst xmlns:a="http://schemas.openxmlformats.org/drawingml/2006/main">
              <a:ext uri="{FF2B5EF4-FFF2-40B4-BE49-F238E27FC236}">
                <a16:creationId xmlns:a16="http://schemas.microsoft.com/office/drawing/2014/main" id="{212AADA9-DB32-4B7B-8C82-A793049E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686145"/>
            <a:ext cx="3794760" cy="3000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П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одает заявку на мероприятие</a:t>
            </a:r>
          </a:p>
        </p:txBody>
      </p:sp>
      <p:sp>
        <p:nvSpPr>
          <p:cNvPr id="213" name="Google Shape;213;p12">
            <a:extLst xmlns:a="http://schemas.openxmlformats.org/drawingml/2006/main">
              <a:ext uri="{FF2B5EF4-FFF2-40B4-BE49-F238E27FC236}">
                <a16:creationId xmlns:a16="http://schemas.microsoft.com/office/drawing/2014/main" id="{98E6145F-77FC-43A5-9E0D-CFC6773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234440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p12">
            <a:extLst xmlns:a="http://schemas.openxmlformats.org/drawingml/2006/main">
              <a:ext uri="{FF2B5EF4-FFF2-40B4-BE49-F238E27FC236}">
                <a16:creationId xmlns:a16="http://schemas.microsoft.com/office/drawing/2014/main" id="{DB8BFD2B-37E0-444E-824C-1C238C09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463040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5" name="Google Shape;215;p12">
            <a:extLst xmlns:a="http://schemas.openxmlformats.org/drawingml/2006/main">
              <a:ext uri="{FF2B5EF4-FFF2-40B4-BE49-F238E27FC236}">
                <a16:creationId xmlns:a16="http://schemas.microsoft.com/office/drawing/2014/main" id="{99B2FE0B-16A0-491D-9A2A-24EE93F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463727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Координатор</a:t>
            </a:r>
          </a:p>
        </p:txBody>
      </p:sp>
      <p:sp>
        <p:nvSpPr>
          <p:cNvPr id="216" name="Google Shape;216;p12">
            <a:extLst xmlns:a="http://schemas.openxmlformats.org/drawingml/2006/main">
              <a:ext uri="{FF2B5EF4-FFF2-40B4-BE49-F238E27FC236}">
                <a16:creationId xmlns:a16="http://schemas.microsoft.com/office/drawing/2014/main" id="{28D8FE26-B4D3-4EFD-824F-83654227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716022"/>
            <a:ext cx="3794760" cy="3000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Р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ассматривает заявку и фиксирует участие</a:t>
            </a:r>
          </a:p>
        </p:txBody>
      </p:sp>
      <p:sp>
        <p:nvSpPr>
          <p:cNvPr id="217" name="Google Shape;217;p12">
            <a:extLst xmlns:a="http://schemas.openxmlformats.org/drawingml/2006/main">
              <a:ext uri="{FF2B5EF4-FFF2-40B4-BE49-F238E27FC236}">
                <a16:creationId xmlns:a16="http://schemas.microsoft.com/office/drawing/2014/main" id="{81A38ACE-7034-4106-9384-D090D6EA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2888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12">
            <a:extLst xmlns:a="http://schemas.openxmlformats.org/drawingml/2006/main">
              <a:ext uri="{FF2B5EF4-FFF2-40B4-BE49-F238E27FC236}">
                <a16:creationId xmlns:a16="http://schemas.microsoft.com/office/drawing/2014/main" id="{665AA225-DB69-4DA8-B064-0907106E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761488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9525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9" name="Google Shape;219;p12">
            <a:extLst xmlns:a="http://schemas.openxmlformats.org/drawingml/2006/main">
              <a:ext uri="{FF2B5EF4-FFF2-40B4-BE49-F238E27FC236}">
                <a16:creationId xmlns:a16="http://schemas.microsoft.com/office/drawing/2014/main" id="{579B4FD3-52FD-4512-A44B-DB4A292A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2644595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Система</a:t>
            </a:r>
          </a:p>
        </p:txBody>
      </p:sp>
      <p:sp>
        <p:nvSpPr>
          <p:cNvPr id="220" name="Google Shape;220;p12">
            <a:extLst xmlns:a="http://schemas.openxmlformats.org/drawingml/2006/main">
              <a:ext uri="{FF2B5EF4-FFF2-40B4-BE49-F238E27FC236}">
                <a16:creationId xmlns:a16="http://schemas.microsoft.com/office/drawing/2014/main" id="{D8D5801C-D0AD-4D2F-ADB7-32A2B99B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2875842"/>
            <a:ext cx="3794760" cy="507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Связывает мероприятие, задачу и запись времени</a:t>
            </a:r>
          </a:p>
        </p:txBody>
      </p:sp>
      <p:sp>
        <p:nvSpPr>
          <p:cNvPr id="221" name="Google Shape;221;p12">
            <a:extLst xmlns:a="http://schemas.openxmlformats.org/drawingml/2006/main">
              <a:ext uri="{FF2B5EF4-FFF2-40B4-BE49-F238E27FC236}">
                <a16:creationId xmlns:a16="http://schemas.microsoft.com/office/drawing/2014/main" id="{CE8E3A7A-0BD0-40DE-AA72-1CA0BD63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32888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p12">
            <a:extLst xmlns:a="http://schemas.openxmlformats.org/drawingml/2006/main">
              <a:ext uri="{FF2B5EF4-FFF2-40B4-BE49-F238E27FC236}">
                <a16:creationId xmlns:a16="http://schemas.microsoft.com/office/drawing/2014/main" id="{B13D9493-0A30-4BAF-A670-3855B3B9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761488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9525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3" name="Google Shape;223;p12">
            <a:extLst xmlns:a="http://schemas.openxmlformats.org/drawingml/2006/main">
              <a:ext uri="{FF2B5EF4-FFF2-40B4-BE49-F238E27FC236}">
                <a16:creationId xmlns:a16="http://schemas.microsoft.com/office/drawing/2014/main" id="{23106BB1-562D-45E0-9F10-7B41B0D6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762175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Координатор</a:t>
            </a:r>
          </a:p>
        </p:txBody>
      </p:sp>
      <p:sp>
        <p:nvSpPr>
          <p:cNvPr id="224" name="Google Shape;224;p12">
            <a:extLst xmlns:a="http://schemas.openxmlformats.org/drawingml/2006/main">
              <a:ext uri="{FF2B5EF4-FFF2-40B4-BE49-F238E27FC236}">
                <a16:creationId xmlns:a16="http://schemas.microsoft.com/office/drawing/2014/main" id="{6CE73275-CBBF-401B-9BFF-850171EF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014470"/>
            <a:ext cx="3794760" cy="3000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П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одтверждает часы по основанию</a:t>
            </a:r>
          </a:p>
        </p:txBody>
      </p:sp>
      <p:sp>
        <p:nvSpPr>
          <p:cNvPr id="225" name="Google Shape;225;p12">
            <a:extLst xmlns:a="http://schemas.openxmlformats.org/drawingml/2006/main">
              <a:ext uri="{FF2B5EF4-FFF2-40B4-BE49-F238E27FC236}">
                <a16:creationId xmlns:a16="http://schemas.microsoft.com/office/drawing/2014/main" id="{E034C2F9-80B4-4FEC-ABFF-3E1409AB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31335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12">
            <a:extLst xmlns:a="http://schemas.openxmlformats.org/drawingml/2006/main">
              <a:ext uri="{FF2B5EF4-FFF2-40B4-BE49-F238E27FC236}">
                <a16:creationId xmlns:a16="http://schemas.microsoft.com/office/drawing/2014/main" id="{79FEE43B-C405-488B-A7CD-687D0DA1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059935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9D72"/>
          </a:solidFill>
          <a:ln xmlns:a="http://schemas.openxmlformats.org/drawingml/2006/main" w="9525" cmpd="sng">
            <a:solidFill>
              <a:srgbClr val="1F9D72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7" name="Google Shape;227;p12">
            <a:extLst xmlns:a="http://schemas.openxmlformats.org/drawingml/2006/main">
              <a:ext uri="{FF2B5EF4-FFF2-40B4-BE49-F238E27FC236}">
                <a16:creationId xmlns:a16="http://schemas.microsoft.com/office/drawing/2014/main" id="{DAC0A0CB-E4E8-4DCD-BD99-434E6EF1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3900201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Пульс</a:t>
            </a:r>
          </a:p>
        </p:txBody>
      </p:sp>
      <p:sp>
        <p:nvSpPr>
          <p:cNvPr id="228" name="Google Shape;228;p12">
            <a:extLst xmlns:a="http://schemas.openxmlformats.org/drawingml/2006/main">
              <a:ext uri="{FF2B5EF4-FFF2-40B4-BE49-F238E27FC236}">
                <a16:creationId xmlns:a16="http://schemas.microsoft.com/office/drawing/2014/main" id="{DE0559D8-BBEE-4A80-BBB9-F8F6B20F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172467"/>
            <a:ext cx="3794760" cy="507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Н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ачисляет достижения и формирует сертификат</a:t>
            </a:r>
          </a:p>
        </p:txBody>
      </p:sp>
      <p:sp>
        <p:nvSpPr>
          <p:cNvPr id="229" name="Google Shape;229;p12">
            <a:extLst xmlns:a="http://schemas.openxmlformats.org/drawingml/2006/main">
              <a:ext uri="{FF2B5EF4-FFF2-40B4-BE49-F238E27FC236}">
                <a16:creationId xmlns:a16="http://schemas.microsoft.com/office/drawing/2014/main" id="{77519149-0925-4766-87C3-5E28A4D1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31335"/>
            <a:ext cx="5120640" cy="9326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0" name="Google Shape;230;p12">
            <a:extLst xmlns:a="http://schemas.openxmlformats.org/drawingml/2006/main">
              <a:ext uri="{FF2B5EF4-FFF2-40B4-BE49-F238E27FC236}">
                <a16:creationId xmlns:a16="http://schemas.microsoft.com/office/drawing/2014/main" id="{99623088-5E7B-43B9-8FBB-03A13D38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059935"/>
            <a:ext cx="475488" cy="47548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9525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1" name="Google Shape;231;p12">
            <a:extLst xmlns:a="http://schemas.openxmlformats.org/drawingml/2006/main">
              <a:ext uri="{FF2B5EF4-FFF2-40B4-BE49-F238E27FC236}">
                <a16:creationId xmlns:a16="http://schemas.microsoft.com/office/drawing/2014/main" id="{A8B68E4B-F291-4A35-9DA5-72FEFDF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060622"/>
            <a:ext cx="15087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Руководитель</a:t>
            </a:r>
          </a:p>
        </p:txBody>
      </p:sp>
      <p:sp>
        <p:nvSpPr>
          <p:cNvPr id="232" name="Google Shape;232;p12">
            <a:extLst xmlns:a="http://schemas.openxmlformats.org/drawingml/2006/main">
              <a:ext uri="{FF2B5EF4-FFF2-40B4-BE49-F238E27FC236}">
                <a16:creationId xmlns:a16="http://schemas.microsoft.com/office/drawing/2014/main" id="{F4301448-F0EE-425C-BF00-534D9FDA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289222"/>
            <a:ext cx="3794760" cy="3000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В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идит KPI и выгружает отчет</a:t>
            </a:r>
          </a:p>
        </p:txBody>
      </p:sp>
      <p:sp>
        <p:nvSpPr>
          <p:cNvPr id="233" name="Google Shape;233;p12">
            <a:extLst xmlns:a="http://schemas.openxmlformats.org/drawingml/2006/main">
              <a:ext uri="{FF2B5EF4-FFF2-40B4-BE49-F238E27FC236}">
                <a16:creationId xmlns:a16="http://schemas.microsoft.com/office/drawing/2014/main" id="{D4184504-721D-4569-B75A-3E5D3DD2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1"/>
            <a:ext cx="10561320" cy="665381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4" name="Google Shape;234;p12">
            <a:extLst xmlns:a="http://schemas.openxmlformats.org/drawingml/2006/main">
              <a:ext uri="{FF2B5EF4-FFF2-40B4-BE49-F238E27FC236}">
                <a16:creationId xmlns:a16="http://schemas.microsoft.com/office/drawing/2014/main" id="{24DC5E28-026A-4FCA-9B79-A201CFA1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6704"/>
            <a:ext cx="10012680" cy="507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Главный результат сценария: управленческие показатели строятся на подтвержденных операционных данных, а не на ручном сведении таблиц.</a:t>
            </a:r>
          </a:p>
        </p:txBody>
      </p:sp>
    </p:spTree>
    <p:extLst>
      <p:ext uri="{BB962C8B-B14F-4D97-AF65-F5344CB8AC3E}">
        <p14:creationId xmlns:p14="http://schemas.microsoft.com/office/powerpoint/2010/main" val="18017413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6" name="Google Shape;260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250488c85d4c3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18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61" name="Google Shape;261;p15">
            <a:extLst xmlns:a="http://schemas.openxmlformats.org/drawingml/2006/main">
              <a:ext uri="{FF2B5EF4-FFF2-40B4-BE49-F238E27FC236}">
                <a16:creationId xmlns:a16="http://schemas.microsoft.com/office/drawing/2014/main" id="{C6EA2FA4-34EC-463E-932A-3CFEEF32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200" cy="94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FFFFFF"/>
                </a:solidFill>
              </a:rPr>
              <a:t>Логика бизнес процесса</a:t>
            </a:r>
          </a:p>
        </p:txBody>
      </p:sp>
      <p:sp>
        <p:nvSpPr>
          <p:cNvPr id="262" name="Google Shape;262;p15">
            <a:extLst xmlns:a="http://schemas.openxmlformats.org/drawingml/2006/main">
              <a:ext uri="{FF2B5EF4-FFF2-40B4-BE49-F238E27FC236}">
                <a16:creationId xmlns:a16="http://schemas.microsoft.com/office/drawing/2014/main" id="{CF83BAD6-EA0F-45FF-A6BD-4BE62A42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5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3" name="Google Shape;263;p15">
            <a:extLst xmlns:a="http://schemas.openxmlformats.org/drawingml/2006/main">
              <a:ext uri="{FF2B5EF4-FFF2-40B4-BE49-F238E27FC236}">
                <a16:creationId xmlns:a16="http://schemas.microsoft.com/office/drawing/2014/main" id="{F0CDF9F3-8976-4848-B158-B8B399D0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5179" y="6492240"/>
            <a:ext cx="4569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5B6476"/>
                </a:solidFill>
              </a:rPr>
              <a:t>12</a:t>
            </a:r>
          </a:p>
        </p:txBody>
      </p:sp>
      <p:pic>
        <p:nvPicPr>
          <p:cNvPr id="270" name="Google Shape;264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26c9e972f470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0000" y="946075"/>
            <a:ext cx="10504474" cy="59119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9518907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9" name="Google Shape;270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7d01e4097949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71" name="Google Shape;271;p16">
            <a:extLst xmlns:a="http://schemas.openxmlformats.org/drawingml/2006/main">
              <a:ext uri="{FF2B5EF4-FFF2-40B4-BE49-F238E27FC236}">
                <a16:creationId xmlns:a16="http://schemas.microsoft.com/office/drawing/2014/main" id="{C976CB04-290A-4111-9823-5E634067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Проверка работоспособности</a:t>
            </a:r>
          </a:p>
        </p:txBody>
      </p:sp>
      <p:sp>
        <p:nvSpPr>
          <p:cNvPr id="272" name="Google Shape;272;p16">
            <a:extLst xmlns:a="http://schemas.openxmlformats.org/drawingml/2006/main">
              <a:ext uri="{FF2B5EF4-FFF2-40B4-BE49-F238E27FC236}">
                <a16:creationId xmlns:a16="http://schemas.microsoft.com/office/drawing/2014/main" id="{9614741F-A3F7-4800-B343-66206485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273" name="Google Shape;273;p16">
            <a:extLst xmlns:a="http://schemas.openxmlformats.org/drawingml/2006/main">
              <a:ext uri="{FF2B5EF4-FFF2-40B4-BE49-F238E27FC236}">
                <a16:creationId xmlns:a16="http://schemas.microsoft.com/office/drawing/2014/main" id="{B2960167-6FAE-4FCB-91A3-6EDA934F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5B6476"/>
                </a:solidFill>
              </a:rPr>
              <a:t>13</a:t>
            </a:r>
          </a:p>
        </p:txBody>
      </p:sp>
      <p:sp>
        <p:nvSpPr>
          <p:cNvPr id="274" name="Google Shape;274;p16">
            <a:extLst xmlns:a="http://schemas.openxmlformats.org/drawingml/2006/main">
              <a:ext uri="{FF2B5EF4-FFF2-40B4-BE49-F238E27FC236}">
                <a16:creationId xmlns:a16="http://schemas.microsoft.com/office/drawing/2014/main" id="{4EC6366E-CDDA-4A1F-9495-CE31F214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4440"/>
            <a:ext cx="2423160" cy="10607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5" name="Google Shape;275;p16">
            <a:extLst xmlns:a="http://schemas.openxmlformats.org/drawingml/2006/main">
              <a:ext uri="{FF2B5EF4-FFF2-40B4-BE49-F238E27FC236}">
                <a16:creationId xmlns:a16="http://schemas.microsoft.com/office/drawing/2014/main" id="{755DB53C-DA4F-46E5-B207-6C8F6F0D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53312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npm build</a:t>
            </a:r>
          </a:p>
        </p:txBody>
      </p:sp>
      <p:sp>
        <p:nvSpPr>
          <p:cNvPr id="276" name="Google Shape;276;p16">
            <a:extLst xmlns:a="http://schemas.openxmlformats.org/drawingml/2006/main">
              <a:ext uri="{FF2B5EF4-FFF2-40B4-BE49-F238E27FC236}">
                <a16:creationId xmlns:a16="http://schemas.microsoft.com/office/drawing/2014/main" id="{0E325AF6-9D61-49E8-AA40-CDE9EA13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9344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F9D72"/>
                </a:solidFill>
                <a:latin typeface="Arial"/>
                <a:ea typeface="Arial"/>
                <a:cs typeface="Arial"/>
              </a:rPr>
              <a:t>успешно</a:t>
            </a:r>
          </a:p>
        </p:txBody>
      </p:sp>
      <p:sp>
        <p:nvSpPr>
          <p:cNvPr id="277" name="Google Shape;277;p16">
            <a:extLst xmlns:a="http://schemas.openxmlformats.org/drawingml/2006/main">
              <a:ext uri="{FF2B5EF4-FFF2-40B4-BE49-F238E27FC236}">
                <a16:creationId xmlns:a16="http://schemas.microsoft.com/office/drawing/2014/main" id="{73DF6AB6-EDD9-4DD0-B8F0-D0F17BF4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47672"/>
            <a:ext cx="2148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8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1782 модуля Vite</a:t>
            </a:r>
          </a:p>
        </p:txBody>
      </p:sp>
      <p:sp>
        <p:nvSpPr>
          <p:cNvPr id="278" name="Google Shape;278;p16">
            <a:extLst xmlns:a="http://schemas.openxmlformats.org/drawingml/2006/main">
              <a:ext uri="{FF2B5EF4-FFF2-40B4-BE49-F238E27FC236}">
                <a16:creationId xmlns:a16="http://schemas.microsoft.com/office/drawing/2014/main" id="{43243F1F-E780-4ABB-9DB7-E706E489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234440"/>
            <a:ext cx="2423160" cy="10607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p16">
            <a:extLst xmlns:a="http://schemas.openxmlformats.org/drawingml/2006/main">
              <a:ext uri="{FF2B5EF4-FFF2-40B4-BE49-F238E27FC236}">
                <a16:creationId xmlns:a16="http://schemas.microsoft.com/office/drawing/2014/main" id="{BACBF04A-4B44-4496-A65A-C1A81E07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353312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go test ./...</a:t>
            </a:r>
          </a:p>
        </p:txBody>
      </p:sp>
      <p:sp>
        <p:nvSpPr>
          <p:cNvPr id="280" name="Google Shape;280;p16">
            <a:extLst xmlns:a="http://schemas.openxmlformats.org/drawingml/2006/main">
              <a:ext uri="{FF2B5EF4-FFF2-40B4-BE49-F238E27FC236}">
                <a16:creationId xmlns:a16="http://schemas.microsoft.com/office/drawing/2014/main" id="{EEFA7240-97D3-4ED4-BA78-1402BC78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609344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сборка OK</a:t>
            </a:r>
          </a:p>
        </p:txBody>
      </p:sp>
      <p:sp>
        <p:nvSpPr>
          <p:cNvPr id="281" name="Google Shape;281;p16">
            <a:extLst xmlns:a="http://schemas.openxmlformats.org/drawingml/2006/main">
              <a:ext uri="{FF2B5EF4-FFF2-40B4-BE49-F238E27FC236}">
                <a16:creationId xmlns:a16="http://schemas.microsoft.com/office/drawing/2014/main" id="{29F65046-BFEC-43C5-8257-281D98B6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947672"/>
            <a:ext cx="2148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8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автотестов нет</a:t>
            </a:r>
          </a:p>
        </p:txBody>
      </p:sp>
      <p:sp>
        <p:nvSpPr>
          <p:cNvPr id="282" name="Google Shape;282;p16">
            <a:extLst xmlns:a="http://schemas.openxmlformats.org/drawingml/2006/main">
              <a:ext uri="{FF2B5EF4-FFF2-40B4-BE49-F238E27FC236}">
                <a16:creationId xmlns:a16="http://schemas.microsoft.com/office/drawing/2014/main" id="{8DF969BC-8052-42C7-8E16-AF7B495C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234440"/>
            <a:ext cx="2423160" cy="10607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3" name="Google Shape;283;p16">
            <a:extLst xmlns:a="http://schemas.openxmlformats.org/drawingml/2006/main">
              <a:ext uri="{FF2B5EF4-FFF2-40B4-BE49-F238E27FC236}">
                <a16:creationId xmlns:a16="http://schemas.microsoft.com/office/drawing/2014/main" id="{0221BE1E-4192-4088-BDD7-8A95422F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53312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Профиль</a:t>
            </a:r>
          </a:p>
        </p:txBody>
      </p:sp>
      <p:sp>
        <p:nvSpPr>
          <p:cNvPr id="284" name="Google Shape;284;p16">
            <a:extLst xmlns:a="http://schemas.openxmlformats.org/drawingml/2006/main">
              <a:ext uri="{FF2B5EF4-FFF2-40B4-BE49-F238E27FC236}">
                <a16:creationId xmlns:a16="http://schemas.microsoft.com/office/drawing/2014/main" id="{371A2FD2-5E6D-41F9-BF3E-599134F8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609344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F9D72"/>
                </a:solidFill>
                <a:latin typeface="Arial"/>
                <a:ea typeface="Arial"/>
                <a:cs typeface="Arial"/>
              </a:rPr>
              <a:t>проверен</a:t>
            </a:r>
          </a:p>
        </p:txBody>
      </p:sp>
      <p:sp>
        <p:nvSpPr>
          <p:cNvPr id="285" name="Google Shape;285;p16">
            <a:extLst xmlns:a="http://schemas.openxmlformats.org/drawingml/2006/main">
              <a:ext uri="{FF2B5EF4-FFF2-40B4-BE49-F238E27FC236}">
                <a16:creationId xmlns:a16="http://schemas.microsoft.com/office/drawing/2014/main" id="{82D269B7-DA3F-4731-96AE-507B6EF2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947672"/>
            <a:ext cx="2148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8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миграция 020 + API</a:t>
            </a:r>
          </a:p>
        </p:txBody>
      </p:sp>
      <p:sp>
        <p:nvSpPr>
          <p:cNvPr id="286" name="Google Shape;286;p16">
            <a:extLst xmlns:a="http://schemas.openxmlformats.org/drawingml/2006/main">
              <a:ext uri="{FF2B5EF4-FFF2-40B4-BE49-F238E27FC236}">
                <a16:creationId xmlns:a16="http://schemas.microsoft.com/office/drawing/2014/main" id="{9E48AAF2-8878-49DD-918F-FEB55653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1234440"/>
            <a:ext cx="2423160" cy="10607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p16">
            <a:extLst xmlns:a="http://schemas.openxmlformats.org/drawingml/2006/main">
              <a:ext uri="{FF2B5EF4-FFF2-40B4-BE49-F238E27FC236}">
                <a16:creationId xmlns:a16="http://schemas.microsoft.com/office/drawing/2014/main" id="{BCD6750E-E735-4A3A-AE29-2AFCE85D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353312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Аватар</a:t>
            </a:r>
          </a:p>
        </p:txBody>
      </p:sp>
      <p:sp>
        <p:nvSpPr>
          <p:cNvPr id="288" name="Google Shape;288;p16">
            <a:extLst xmlns:a="http://schemas.openxmlformats.org/drawingml/2006/main">
              <a:ext uri="{FF2B5EF4-FFF2-40B4-BE49-F238E27FC236}">
                <a16:creationId xmlns:a16="http://schemas.microsoft.com/office/drawing/2014/main" id="{3D1A0D54-1C9C-4718-BD6E-D6AAE30A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609344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F9D72"/>
                </a:solidFill>
                <a:latin typeface="Arial"/>
                <a:ea typeface="Arial"/>
                <a:cs typeface="Arial"/>
              </a:rPr>
              <a:t>проверен</a:t>
            </a:r>
          </a:p>
        </p:txBody>
      </p:sp>
      <p:sp>
        <p:nvSpPr>
          <p:cNvPr id="289" name="Google Shape;289;p16">
            <a:extLst xmlns:a="http://schemas.openxmlformats.org/drawingml/2006/main">
              <a:ext uri="{FF2B5EF4-FFF2-40B4-BE49-F238E27FC236}">
                <a16:creationId xmlns:a16="http://schemas.microsoft.com/office/drawing/2014/main" id="{04075542-D0DF-4AF3-B420-AE91A617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947672"/>
            <a:ext cx="2148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8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upload PNG</a:t>
            </a:r>
          </a:p>
        </p:txBody>
      </p:sp>
      <p:sp>
        <p:nvSpPr>
          <p:cNvPr id="290" name="Google Shape;290;p16">
            <a:extLst xmlns:a="http://schemas.openxmlformats.org/drawingml/2006/main">
              <a:ext uri="{FF2B5EF4-FFF2-40B4-BE49-F238E27FC236}">
                <a16:creationId xmlns:a16="http://schemas.microsoft.com/office/drawing/2014/main" id="{E82EABB5-754E-44C1-B626-086FE10D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7474"/>
            <a:ext cx="5257800" cy="291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16">
            <a:extLst xmlns:a="http://schemas.openxmlformats.org/drawingml/2006/main">
              <a:ext uri="{FF2B5EF4-FFF2-40B4-BE49-F238E27FC236}">
                <a16:creationId xmlns:a16="http://schemas.microsoft.com/office/drawing/2014/main" id="{208793A9-165E-42F1-A120-C4068A51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292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Матрица сценариев</a:t>
            </a:r>
          </a:p>
        </p:txBody>
      </p:sp>
      <p:sp>
        <p:nvSpPr>
          <p:cNvPr id="292" name="Google Shape;292;p16">
            <a:extLst xmlns:a="http://schemas.openxmlformats.org/drawingml/2006/main">
              <a:ext uri="{FF2B5EF4-FFF2-40B4-BE49-F238E27FC236}">
                <a16:creationId xmlns:a16="http://schemas.microsoft.com/office/drawing/2014/main" id="{757CFE8E-5C6D-4A66-A3CD-5773132F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375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подтверждено запуском</a:t>
            </a:r>
          </a:p>
        </p:txBody>
      </p:sp>
      <p:sp>
        <p:nvSpPr>
          <p:cNvPr id="293" name="Google Shape;293;p16">
            <a:extLst xmlns:a="http://schemas.openxmlformats.org/drawingml/2006/main">
              <a:ext uri="{FF2B5EF4-FFF2-40B4-BE49-F238E27FC236}">
                <a16:creationId xmlns:a16="http://schemas.microsoft.com/office/drawing/2014/main" id="{BF3D9CC5-AE3B-4BC3-BE90-19051391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374136"/>
            <a:ext cx="201168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4" name="Google Shape;294;p16">
            <a:extLst xmlns:a="http://schemas.openxmlformats.org/drawingml/2006/main">
              <a:ext uri="{FF2B5EF4-FFF2-40B4-BE49-F238E27FC236}">
                <a16:creationId xmlns:a16="http://schemas.microsoft.com/office/drawing/2014/main" id="{3523A68F-16C3-4B7E-BA0D-607CFF6D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374136"/>
            <a:ext cx="201168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9D72"/>
          </a:solidFill>
          <a:ln xmlns:a="http://schemas.openxmlformats.org/drawingml/2006/main" w="12700" cmpd="sng">
            <a:solidFill>
              <a:srgbClr val="1F9D72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p16">
            <a:extLst xmlns:a="http://schemas.openxmlformats.org/drawingml/2006/main">
              <a:ext uri="{FF2B5EF4-FFF2-40B4-BE49-F238E27FC236}">
                <a16:creationId xmlns:a16="http://schemas.microsoft.com/office/drawing/2014/main" id="{E13ED2F1-6E26-452E-B935-DAB7AFCA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310128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1F9D7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6" name="Google Shape;296;p16">
            <a:extLst xmlns:a="http://schemas.openxmlformats.org/drawingml/2006/main">
              <a:ext uri="{FF2B5EF4-FFF2-40B4-BE49-F238E27FC236}">
                <a16:creationId xmlns:a16="http://schemas.microsoft.com/office/drawing/2014/main" id="{C2E23A2F-6F7E-4990-A4DE-8D84DF0C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404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подтверждено реализацией</a:t>
            </a:r>
          </a:p>
        </p:txBody>
      </p:sp>
      <p:sp>
        <p:nvSpPr>
          <p:cNvPr id="297" name="Google Shape;297;p16">
            <a:extLst xmlns:a="http://schemas.openxmlformats.org/drawingml/2006/main">
              <a:ext uri="{FF2B5EF4-FFF2-40B4-BE49-F238E27FC236}">
                <a16:creationId xmlns:a16="http://schemas.microsoft.com/office/drawing/2014/main" id="{F9139CB2-4283-4CC9-BBCB-7FEA6A7E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877056"/>
            <a:ext cx="201168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8" name="Google Shape;298;p16">
            <a:extLst xmlns:a="http://schemas.openxmlformats.org/drawingml/2006/main">
              <a:ext uri="{FF2B5EF4-FFF2-40B4-BE49-F238E27FC236}">
                <a16:creationId xmlns:a16="http://schemas.microsoft.com/office/drawing/2014/main" id="{60C51ABD-BE5E-41C3-AC8C-59725E39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877056"/>
            <a:ext cx="100584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9" name="Google Shape;299;p16">
            <a:extLst xmlns:a="http://schemas.openxmlformats.org/drawingml/2006/main">
              <a:ext uri="{FF2B5EF4-FFF2-40B4-BE49-F238E27FC236}">
                <a16:creationId xmlns:a16="http://schemas.microsoft.com/office/drawing/2014/main" id="{FA6B0AC7-06D0-4621-86B7-17626311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813048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0" name="Google Shape;300;p16">
            <a:extLst xmlns:a="http://schemas.openxmlformats.org/drawingml/2006/main">
              <a:ext uri="{FF2B5EF4-FFF2-40B4-BE49-F238E27FC236}">
                <a16:creationId xmlns:a16="http://schemas.microsoft.com/office/drawing/2014/main" id="{C31945F5-7C35-49B2-960D-94ED99C1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4340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требует опытной проверки</a:t>
            </a:r>
          </a:p>
        </p:txBody>
      </p:sp>
      <p:sp>
        <p:nvSpPr>
          <p:cNvPr id="301" name="Google Shape;301;p16">
            <a:extLst xmlns:a="http://schemas.openxmlformats.org/drawingml/2006/main">
              <a:ext uri="{FF2B5EF4-FFF2-40B4-BE49-F238E27FC236}">
                <a16:creationId xmlns:a16="http://schemas.microsoft.com/office/drawing/2014/main" id="{9F7F8A5F-AEC2-4D67-80D4-8BD0772E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379976"/>
            <a:ext cx="201168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ECF6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16">
            <a:extLst xmlns:a="http://schemas.openxmlformats.org/drawingml/2006/main">
              <a:ext uri="{FF2B5EF4-FFF2-40B4-BE49-F238E27FC236}">
                <a16:creationId xmlns:a16="http://schemas.microsoft.com/office/drawing/2014/main" id="{2CBE507E-BB9E-4D08-8BA6-01155E24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379976"/>
            <a:ext cx="1005840" cy="1463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0392B"/>
          </a:solidFill>
          <a:ln xmlns:a="http://schemas.openxmlformats.org/drawingml/2006/main" w="12700" cmpd="sng">
            <a:solidFill>
              <a:srgbClr val="C0392B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16">
            <a:extLst xmlns:a="http://schemas.openxmlformats.org/drawingml/2006/main">
              <a:ext uri="{FF2B5EF4-FFF2-40B4-BE49-F238E27FC236}">
                <a16:creationId xmlns:a16="http://schemas.microsoft.com/office/drawing/2014/main" id="{E9BDB3D2-5D92-482A-ACDC-5CB40CFC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4315968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C0392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4" name="Google Shape;304;p16">
            <a:extLst xmlns:a="http://schemas.openxmlformats.org/drawingml/2006/main">
              <a:ext uri="{FF2B5EF4-FFF2-40B4-BE49-F238E27FC236}">
                <a16:creationId xmlns:a16="http://schemas.microsoft.com/office/drawing/2014/main" id="{EC826F5E-58E5-4CD1-BF39-69744D06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83480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7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Формулировка результата остается корректной: подтверждены сборка, часть API и реализованный контур; полный приемочный вывод переносится в пилот.</a:t>
            </a:r>
          </a:p>
        </p:txBody>
      </p:sp>
      <p:sp>
        <p:nvSpPr>
          <p:cNvPr id="305" name="Google Shape;305;p16">
            <a:extLst xmlns:a="http://schemas.openxmlformats.org/drawingml/2006/main">
              <a:ext uri="{FF2B5EF4-FFF2-40B4-BE49-F238E27FC236}">
                <a16:creationId xmlns:a16="http://schemas.microsoft.com/office/drawing/2014/main" id="{8B9E4EB7-2905-43E5-BED4-D3A421CF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50" y="2697474"/>
            <a:ext cx="4983600" cy="291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6" name="Google Shape;306;p16">
            <a:extLst xmlns:a="http://schemas.openxmlformats.org/drawingml/2006/main">
              <a:ext uri="{FF2B5EF4-FFF2-40B4-BE49-F238E27FC236}">
                <a16:creationId xmlns:a16="http://schemas.microsoft.com/office/drawing/2014/main" id="{7AAB9C6C-7929-496F-9037-CA86547A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5292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Ограничения закрываются планом пилота</a:t>
            </a:r>
          </a:p>
        </p:txBody>
      </p:sp>
      <p:sp>
        <p:nvSpPr>
          <p:cNvPr id="307" name="Google Shape;307;p16">
            <a:extLst xmlns:a="http://schemas.openxmlformats.org/drawingml/2006/main">
              <a:ext uri="{FF2B5EF4-FFF2-40B4-BE49-F238E27FC236}">
                <a16:creationId xmlns:a16="http://schemas.microsoft.com/office/drawing/2014/main" id="{8B6DC64C-2689-4479-8D2B-3E17A1E4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65" y="3347052"/>
            <a:ext cx="4480500" cy="194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F2637"/>
                </a:solidFill>
              </a:rPr>
              <a:t>Чистая PostgreSQL и миграции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F2637"/>
                </a:solidFill>
              </a:rPr>
              <a:t>Сценарий заявка -&gt; часы -&gt; аналитика -&gt; сертификат</a:t>
            </a:r>
          </a:p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F2637"/>
                </a:solidFill>
              </a:rPr>
              <a:t>Unit/integration tests прав доступа</a:t>
            </a:r>
          </a:p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F2637"/>
                </a:solidFill>
              </a:rPr>
              <a:t>Измерение времени на контрольных сценариях</a:t>
            </a:r>
          </a:p>
        </p:txBody>
      </p:sp>
    </p:spTree>
    <p:extLst>
      <p:ext uri="{BB962C8B-B14F-4D97-AF65-F5344CB8AC3E}">
        <p14:creationId xmlns:p14="http://schemas.microsoft.com/office/powerpoint/2010/main" val="15804960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1" name="Google Shape;31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bb9934d895475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88520" cy="946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14" name="Google Shape;314;p17">
            <a:extLst xmlns:a="http://schemas.openxmlformats.org/drawingml/2006/main">
              <a:ext uri="{FF2B5EF4-FFF2-40B4-BE49-F238E27FC236}">
                <a16:creationId xmlns:a16="http://schemas.microsoft.com/office/drawing/2014/main" id="{5CBCFB01-AE62-489C-A7D3-0611A3BB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0"/>
            <a:ext cx="9811080" cy="94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Практический эффект</a:t>
            </a:r>
          </a:p>
        </p:txBody>
      </p:sp>
      <p:sp>
        <p:nvSpPr>
          <p:cNvPr id="315" name="Google Shape;315;p17">
            <a:extLst xmlns:a="http://schemas.openxmlformats.org/drawingml/2006/main">
              <a:ext uri="{FF2B5EF4-FFF2-40B4-BE49-F238E27FC236}">
                <a16:creationId xmlns:a16="http://schemas.microsoft.com/office/drawing/2014/main" id="{81B34363-8A9F-4E42-B9E2-7D3A68E8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92240"/>
            <a:ext cx="8686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316" name="Google Shape;316;p17">
            <a:extLst xmlns:a="http://schemas.openxmlformats.org/drawingml/2006/main">
              <a:ext uri="{FF2B5EF4-FFF2-40B4-BE49-F238E27FC236}">
                <a16:creationId xmlns:a16="http://schemas.microsoft.com/office/drawing/2014/main" id="{A18FAEEC-FC9A-47D7-A9E2-1FDFAD54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480" y="649224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5B6476"/>
                </a:solidFill>
              </a:rPr>
              <a:t>14</a:t>
            </a:r>
          </a:p>
        </p:txBody>
      </p:sp>
      <p:sp>
        <p:nvSpPr>
          <p:cNvPr id="317" name="Google Shape;317;p17">
            <a:extLst xmlns:a="http://schemas.openxmlformats.org/drawingml/2006/main">
              <a:ext uri="{FF2B5EF4-FFF2-40B4-BE49-F238E27FC236}">
                <a16:creationId xmlns:a16="http://schemas.microsoft.com/office/drawing/2014/main" id="{CB719EE0-D3EC-4CCE-BF48-05AAC667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52728"/>
            <a:ext cx="51206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5B6476"/>
                </a:solidFill>
                <a:latin typeface="Arial"/>
                <a:ea typeface="Arial"/>
                <a:cs typeface="Arial"/>
              </a:rPr>
              <a:t>Расчетная оценка времени основных сценариев</a:t>
            </a:r>
          </a:p>
        </p:txBody>
      </p:sp>
      <p:sp>
        <p:nvSpPr>
          <p:cNvPr id="318" name="Google Shape;318;p17">
            <a:extLst xmlns:a="http://schemas.openxmlformats.org/drawingml/2006/main">
              <a:ext uri="{FF2B5EF4-FFF2-40B4-BE49-F238E27FC236}">
                <a16:creationId xmlns:a16="http://schemas.microsoft.com/office/drawing/2014/main" id="{DE98580F-4EA8-4D72-9246-C3CF8434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72868"/>
            <a:ext cx="1377695" cy="1376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9" name="Google Shape;319;p17">
            <a:extLst xmlns:a="http://schemas.openxmlformats.org/drawingml/2006/main">
              <a:ext uri="{FF2B5EF4-FFF2-40B4-BE49-F238E27FC236}">
                <a16:creationId xmlns:a16="http://schemas.microsoft.com/office/drawing/2014/main" id="{670F2242-7699-4EF2-A6A9-7B65B8D2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061972"/>
            <a:ext cx="137769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35 с</a:t>
            </a:r>
          </a:p>
        </p:txBody>
      </p:sp>
      <p:sp>
        <p:nvSpPr>
          <p:cNvPr id="320" name="Google Shape;320;p17">
            <a:extLst xmlns:a="http://schemas.openxmlformats.org/drawingml/2006/main">
              <a:ext uri="{FF2B5EF4-FFF2-40B4-BE49-F238E27FC236}">
                <a16:creationId xmlns:a16="http://schemas.microsoft.com/office/drawing/2014/main" id="{68F17346-2629-41F8-814E-A264F391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94760"/>
            <a:ext cx="1469135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заявка</a:t>
            </a:r>
          </a:p>
        </p:txBody>
      </p:sp>
      <p:sp>
        <p:nvSpPr>
          <p:cNvPr id="321" name="Google Shape;321;p17">
            <a:extLst xmlns:a="http://schemas.openxmlformats.org/drawingml/2006/main">
              <a:ext uri="{FF2B5EF4-FFF2-40B4-BE49-F238E27FC236}">
                <a16:creationId xmlns:a16="http://schemas.microsoft.com/office/drawing/2014/main" id="{AFCD0A72-8725-429F-B4A5-FF92DB5D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992" y="1979676"/>
            <a:ext cx="1377695" cy="17693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2" name="Google Shape;322;p17">
            <a:extLst xmlns:a="http://schemas.openxmlformats.org/drawingml/2006/main">
              <a:ext uri="{FF2B5EF4-FFF2-40B4-BE49-F238E27FC236}">
                <a16:creationId xmlns:a16="http://schemas.microsoft.com/office/drawing/2014/main" id="{AFB1E7AC-4FE6-4422-821F-6C70784E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992" y="1668780"/>
            <a:ext cx="137769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45 с</a:t>
            </a:r>
          </a:p>
        </p:txBody>
      </p:sp>
      <p:sp>
        <p:nvSpPr>
          <p:cNvPr id="323" name="Google Shape;323;p17">
            <a:extLst xmlns:a="http://schemas.openxmlformats.org/drawingml/2006/main">
              <a:ext uri="{FF2B5EF4-FFF2-40B4-BE49-F238E27FC236}">
                <a16:creationId xmlns:a16="http://schemas.microsoft.com/office/drawing/2014/main" id="{EDD0AAC7-3C2C-4D03-AD21-6901E3D6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7272" y="3794760"/>
            <a:ext cx="1469135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часы</a:t>
            </a:r>
          </a:p>
        </p:txBody>
      </p:sp>
      <p:sp>
        <p:nvSpPr>
          <p:cNvPr id="324" name="Google Shape;324;p17">
            <a:extLst xmlns:a="http://schemas.openxmlformats.org/drawingml/2006/main">
              <a:ext uri="{FF2B5EF4-FFF2-40B4-BE49-F238E27FC236}">
                <a16:creationId xmlns:a16="http://schemas.microsoft.com/office/drawing/2014/main" id="{8E2BC128-001F-498E-AFC0-364030A4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1783080"/>
            <a:ext cx="1377695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AAC"/>
          </a:solidFill>
          <a:ln xmlns:a="http://schemas.openxmlformats.org/drawingml/2006/main" w="12700" cmpd="sng">
            <a:solidFill>
              <a:srgbClr val="2E5AAC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5" name="Google Shape;325;p17">
            <a:extLst xmlns:a="http://schemas.openxmlformats.org/drawingml/2006/main">
              <a:ext uri="{FF2B5EF4-FFF2-40B4-BE49-F238E27FC236}">
                <a16:creationId xmlns:a16="http://schemas.microsoft.com/office/drawing/2014/main" id="{EEC34FA2-7C2B-4370-AC69-547136B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1472184"/>
            <a:ext cx="137769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50 с</a:t>
            </a:r>
          </a:p>
        </p:txBody>
      </p:sp>
      <p:sp>
        <p:nvSpPr>
          <p:cNvPr id="326" name="Google Shape;326;p17">
            <a:extLst xmlns:a="http://schemas.openxmlformats.org/drawingml/2006/main">
              <a:ext uri="{FF2B5EF4-FFF2-40B4-BE49-F238E27FC236}">
                <a16:creationId xmlns:a16="http://schemas.microsoft.com/office/drawing/2014/main" id="{697D4308-D8DF-4F76-9549-9149D52F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152" y="3794760"/>
            <a:ext cx="1469135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KPI</a:t>
            </a:r>
          </a:p>
        </p:txBody>
      </p:sp>
      <p:sp>
        <p:nvSpPr>
          <p:cNvPr id="327" name="Google Shape;327;p17">
            <a:extLst xmlns:a="http://schemas.openxmlformats.org/drawingml/2006/main">
              <a:ext uri="{FF2B5EF4-FFF2-40B4-BE49-F238E27FC236}">
                <a16:creationId xmlns:a16="http://schemas.microsoft.com/office/drawing/2014/main" id="{6A7C0738-B32C-4734-85DB-D2EABE3C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512064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6"/>
          </a:solidFill>
          <a:ln xmlns:a="http://schemas.openxmlformats.org/drawingml/2006/main" w="9525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8" name="Google Shape;328;p17">
            <a:extLst xmlns:a="http://schemas.openxmlformats.org/drawingml/2006/main">
              <a:ext uri="{FF2B5EF4-FFF2-40B4-BE49-F238E27FC236}">
                <a16:creationId xmlns:a16="http://schemas.microsoft.com/office/drawing/2014/main" id="{C3AB712E-FABA-4EF8-A4D3-8CE2833F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234440"/>
            <a:ext cx="4892040" cy="2788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EAECF6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9" name="Google Shape;329;p17">
            <a:extLst xmlns:a="http://schemas.openxmlformats.org/drawingml/2006/main">
              <a:ext uri="{FF2B5EF4-FFF2-40B4-BE49-F238E27FC236}">
                <a16:creationId xmlns:a16="http://schemas.microsoft.com/office/drawing/2014/main" id="{7233EA66-283A-4AB8-A165-0329612D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417320"/>
            <a:ext cx="4434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Что заменяет система</a:t>
            </a:r>
          </a:p>
        </p:txBody>
      </p:sp>
      <p:sp>
        <p:nvSpPr>
          <p:cNvPr id="330" name="Google Shape;330;p17">
            <a:extLst xmlns:a="http://schemas.openxmlformats.org/drawingml/2006/main">
              <a:ext uri="{FF2B5EF4-FFF2-40B4-BE49-F238E27FC236}">
                <a16:creationId xmlns:a16="http://schemas.microsoft.com/office/drawing/2014/main" id="{F0AB5795-0E49-45F9-BF62-8307F5C5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74519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Сбор заявок</a:t>
            </a:r>
          </a:p>
        </p:txBody>
      </p:sp>
      <p:sp>
        <p:nvSpPr>
          <p:cNvPr id="331" name="Google Shape;331;p17">
            <a:extLst xmlns:a="http://schemas.openxmlformats.org/drawingml/2006/main">
              <a:ext uri="{FF2B5EF4-FFF2-40B4-BE49-F238E27FC236}">
                <a16:creationId xmlns:a16="http://schemas.microsoft.com/office/drawing/2014/main" id="{AA357D3F-4DE6-4450-AAE5-D7E4EE1A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54167"/>
            <a:ext cx="2788920" cy="269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5B6476"/>
                </a:solidFill>
                <a:latin typeface="Arial"/>
                <a:ea typeface="Arial"/>
                <a:cs typeface="Arial"/>
              </a:rPr>
              <a:t>С</a:t>
            </a:r>
            <a:r>
              <a:rPr sz="11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татусная заявка в системе</a:t>
            </a:r>
          </a:p>
        </p:txBody>
      </p:sp>
      <p:sp>
        <p:nvSpPr>
          <p:cNvPr id="332" name="Google Shape;332;p17">
            <a:extLst xmlns:a="http://schemas.openxmlformats.org/drawingml/2006/main">
              <a:ext uri="{FF2B5EF4-FFF2-40B4-BE49-F238E27FC236}">
                <a16:creationId xmlns:a16="http://schemas.microsoft.com/office/drawing/2014/main" id="{65C04D82-01EE-4599-99EA-F0E3B5E5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13432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Учет часов</a:t>
            </a:r>
          </a:p>
        </p:txBody>
      </p:sp>
      <p:sp>
        <p:nvSpPr>
          <p:cNvPr id="333" name="Google Shape;333;p17">
            <a:extLst xmlns:a="http://schemas.openxmlformats.org/drawingml/2006/main">
              <a:ext uri="{FF2B5EF4-FFF2-40B4-BE49-F238E27FC236}">
                <a16:creationId xmlns:a16="http://schemas.microsoft.com/office/drawing/2014/main" id="{475BA980-6A92-4BCA-8C28-AC56B82B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93080"/>
            <a:ext cx="2788920" cy="269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5B6476"/>
                </a:solidFill>
                <a:latin typeface="Arial"/>
                <a:ea typeface="Arial"/>
                <a:cs typeface="Arial"/>
              </a:rPr>
              <a:t>З</a:t>
            </a:r>
            <a:r>
              <a:rPr sz="11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апись связана с задачей/событием</a:t>
            </a:r>
          </a:p>
        </p:txBody>
      </p:sp>
      <p:sp>
        <p:nvSpPr>
          <p:cNvPr id="334" name="Google Shape;334;p17">
            <a:extLst xmlns:a="http://schemas.openxmlformats.org/drawingml/2006/main">
              <a:ext uri="{FF2B5EF4-FFF2-40B4-BE49-F238E27FC236}">
                <a16:creationId xmlns:a16="http://schemas.microsoft.com/office/drawing/2014/main" id="{DC4269DB-6BBC-49B0-B22C-9AAFF6DB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5234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Сертификат</a:t>
            </a:r>
          </a:p>
        </p:txBody>
      </p:sp>
      <p:sp>
        <p:nvSpPr>
          <p:cNvPr id="335" name="Google Shape;335;p17">
            <a:extLst xmlns:a="http://schemas.openxmlformats.org/drawingml/2006/main">
              <a:ext uri="{FF2B5EF4-FFF2-40B4-BE49-F238E27FC236}">
                <a16:creationId xmlns:a16="http://schemas.microsoft.com/office/drawing/2014/main" id="{68D289DB-761F-40C8-8853-22170CF5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43506"/>
            <a:ext cx="2788920" cy="446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5B6476"/>
                </a:solidFill>
                <a:latin typeface="Arial"/>
                <a:ea typeface="Arial"/>
                <a:cs typeface="Arial"/>
              </a:rPr>
              <a:t>Ф</a:t>
            </a:r>
            <a:r>
              <a:rPr sz="11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ормируется по подтвержденным данным</a:t>
            </a:r>
          </a:p>
        </p:txBody>
      </p:sp>
      <p:sp>
        <p:nvSpPr>
          <p:cNvPr id="336" name="Google Shape;336;p17">
            <a:extLst xmlns:a="http://schemas.openxmlformats.org/drawingml/2006/main">
              <a:ext uri="{FF2B5EF4-FFF2-40B4-BE49-F238E27FC236}">
                <a16:creationId xmlns:a16="http://schemas.microsoft.com/office/drawing/2014/main" id="{B7149137-3869-4A35-9D99-8801FB69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191256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Отчетность</a:t>
            </a:r>
          </a:p>
        </p:txBody>
      </p:sp>
      <p:sp>
        <p:nvSpPr>
          <p:cNvPr id="337" name="Google Shape;337;p17">
            <a:extLst xmlns:a="http://schemas.openxmlformats.org/drawingml/2006/main">
              <a:ext uri="{FF2B5EF4-FFF2-40B4-BE49-F238E27FC236}">
                <a16:creationId xmlns:a16="http://schemas.microsoft.com/office/drawing/2014/main" id="{40D013F8-7004-4B05-9A49-2DFD70C7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91256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KPI строятся из операционной БД</a:t>
            </a:r>
          </a:p>
        </p:txBody>
      </p:sp>
      <p:sp>
        <p:nvSpPr>
          <p:cNvPr id="338" name="Google Shape;338;p17">
            <a:extLst xmlns:a="http://schemas.openxmlformats.org/drawingml/2006/main">
              <a:ext uri="{FF2B5EF4-FFF2-40B4-BE49-F238E27FC236}">
                <a16:creationId xmlns:a16="http://schemas.microsoft.com/office/drawing/2014/main" id="{4B6D44AC-590D-4919-A0ED-F4650FA1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10424160" cy="10515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3C8D"/>
          </a:solidFill>
          <a:ln xmlns:a="http://schemas.openxmlformats.org/drawingml/2006/main" w="12700" cmpd="sng">
            <a:solidFill>
              <a:srgbClr val="323C8D"/>
            </a:solidFill>
            <a:prstDash val="solid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9" name="Google Shape;339;p17">
            <a:extLst xmlns:a="http://schemas.openxmlformats.org/drawingml/2006/main">
              <a:ext uri="{FF2B5EF4-FFF2-40B4-BE49-F238E27FC236}">
                <a16:creationId xmlns:a16="http://schemas.microsoft.com/office/drawing/2014/main" id="{14F70EDA-ED97-47C4-B025-003D585A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22039"/>
            <a:ext cx="9875520" cy="877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Практическая значимость: «Пульс» можно использовать как основу автоматизации малых и средних волонтерских организаций, студенческих объединений и социальных проектов.</a:t>
            </a:r>
          </a:p>
        </p:txBody>
      </p:sp>
    </p:spTree>
    <p:extLst>
      <p:ext uri="{BB962C8B-B14F-4D97-AF65-F5344CB8AC3E}">
        <p14:creationId xmlns:p14="http://schemas.microsoft.com/office/powerpoint/2010/main" val="6793899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b6bec5e9ce848b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Google Shape;345;p18">
            <a:extLst xmlns:a="http://schemas.openxmlformats.org/drawingml/2006/main">
              <a:ext uri="{FF2B5EF4-FFF2-40B4-BE49-F238E27FC236}">
                <a16:creationId xmlns:a16="http://schemas.microsoft.com/office/drawing/2014/main" id="{FED92E28-8BB3-4F05-92EE-C3032521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51760"/>
            <a:ext cx="9600840" cy="1096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>
                <a:solidFill>
                  <a:srgbClr val="323C8D"/>
                </a:solidFill>
                <a:latin typeface="Arial"/>
                <a:ea typeface="Arial"/>
                <a:cs typeface="Arial"/>
              </a:rPr>
              <a:t>Спасибо за внимание!</a:t>
            </a:r>
          </a:p>
        </p:txBody>
      </p:sp>
      <p:sp>
        <p:nvSpPr>
          <p:cNvPr id="346" name="Google Shape;346;p18">
            <a:extLst xmlns:a="http://schemas.openxmlformats.org/drawingml/2006/main">
              <a:ext uri="{FF2B5EF4-FFF2-40B4-BE49-F238E27FC236}">
                <a16:creationId xmlns:a16="http://schemas.microsoft.com/office/drawing/2014/main" id="{6AC3D503-2E39-41AB-AF34-1AE00D01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840480"/>
            <a:ext cx="96008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Информационная система «Пульс»: заявки, задачи, часы, достижения, сертификаты и аналитика в едином контуре</a:t>
            </a:r>
          </a:p>
        </p:txBody>
      </p:sp>
    </p:spTree>
    <p:extLst>
      <p:ext uri="{BB962C8B-B14F-4D97-AF65-F5344CB8AC3E}">
        <p14:creationId xmlns:p14="http://schemas.microsoft.com/office/powerpoint/2010/main" val="1326003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2026-06-18T09:19:27.0210000Z</dcterms:created>
  <dcterms:modified xsi:type="dcterms:W3CDTF">2026-06-18T09:19:27.0210000Z</dcterms:modified>
</coreProperties>
</file>