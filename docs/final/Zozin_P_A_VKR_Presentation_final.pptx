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67" r:id="rId3"/>
    <p:sldId id="257" r:id="rId4"/>
    <p:sldId id="258" r:id="rId5"/>
    <p:sldId id="259" r:id="rId6"/>
    <p:sldId id="261" r:id="rId7"/>
    <p:sldId id="262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5" d="100"/>
          <a:sy n="95" d="100"/>
        </p:scale>
        <p:origin x="86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427160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16000" indent="-21600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>
            <a:extLst>
              <a:ext uri="{FF2B5EF4-FFF2-40B4-BE49-F238E27FC236}">
                <a16:creationId xmlns:a16="http://schemas.microsoft.com/office/drawing/2014/main" id="{F5A8B859-97BB-4408-85C1-749C200F1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>
            <a:extLst>
              <a:ext uri="{FF2B5EF4-FFF2-40B4-BE49-F238E27FC236}">
                <a16:creationId xmlns:a16="http://schemas.microsoft.com/office/drawing/2014/main" id="{51A33683-E852-48FD-A143-78E2922FBE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>
            <a:extLst>
              <a:ext uri="{FF2B5EF4-FFF2-40B4-BE49-F238E27FC236}">
                <a16:creationId xmlns:a16="http://schemas.microsoft.com/office/drawing/2014/main" id="{1C8C5C06-82A0-4707-BBB6-6CA46728DEA1}"/>
              </a:ext>
            </a:extLst>
          </p:cNvPr>
          <p:cNvSpPr>
            <a:spLocks noGrp="1"/>
          </p:cNvSpPr>
          <p:nvPr/>
        </p:nvSpPr>
        <p:spPr>
          <a:xfrm>
            <a:off x="1947600" y="320040"/>
            <a:ext cx="9966600" cy="1554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Министерство науки и высшего образования Российской Федерации</a:t>
            </a:r>
            <a:r>
              <a:t/>
            </a:r>
            <a:br/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ФГБОУ ВО «Магнитогорский государственный технический университет им. Г.И. Носова»</a:t>
            </a:r>
            <a:r>
              <a:t/>
            </a:r>
            <a:br/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Институт энергетики и автоматизированных систем · Кафедра ВТиП</a:t>
            </a:r>
          </a:p>
        </p:txBody>
      </p:sp>
      <p:sp>
        <p:nvSpPr>
          <p:cNvPr id="19" name="Google Shape;19;p3">
            <a:extLst>
              <a:ext uri="{FF2B5EF4-FFF2-40B4-BE49-F238E27FC236}">
                <a16:creationId xmlns:a16="http://schemas.microsoft.com/office/drawing/2014/main" id="{4F39141E-01A8-4119-BB71-B1C991A4093A}"/>
              </a:ext>
            </a:extLst>
          </p:cNvPr>
          <p:cNvSpPr>
            <a:spLocks noGrp="1"/>
          </p:cNvSpPr>
          <p:nvPr/>
        </p:nvSpPr>
        <p:spPr>
          <a:xfrm>
            <a:off x="1792080" y="2468880"/>
            <a:ext cx="10058040" cy="21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i="0" u="none" cap="none">
                <a:solidFill>
                  <a:srgbClr val="323C8D"/>
                </a:solidFill>
                <a:latin typeface="Arial"/>
                <a:ea typeface="Arial"/>
                <a:cs typeface="Arial"/>
              </a:rPr>
              <a:t>ПРОЕКТИРОВАНИЕ И РАЗРАБОТКА ИНФОРМАЦИОННОЙ СИСТЕМЫ УПРАВЛЕНИЯ ВОЛОНТЕРАМИ С ЭЛЕМЕНТАМИ ГЕЙМИФИКАЦИИ И АНАЛИТИКИ</a:t>
            </a:r>
          </a:p>
        </p:txBody>
      </p:sp>
      <p:sp>
        <p:nvSpPr>
          <p:cNvPr id="20" name="Google Shape;20;p3">
            <a:extLst>
              <a:ext uri="{FF2B5EF4-FFF2-40B4-BE49-F238E27FC236}">
                <a16:creationId xmlns:a16="http://schemas.microsoft.com/office/drawing/2014/main" id="{D5561753-9515-4526-BD86-99708420E203}"/>
              </a:ext>
            </a:extLst>
          </p:cNvPr>
          <p:cNvSpPr>
            <a:spLocks noGrp="1"/>
          </p:cNvSpPr>
          <p:nvPr/>
        </p:nvSpPr>
        <p:spPr>
          <a:xfrm>
            <a:off x="3218760" y="5650920"/>
            <a:ext cx="8595000" cy="868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Выполнил: обучающийся Зозин П.А.</a:t>
            </a:r>
            <a:r>
              <a:t/>
            </a:r>
            <a:br/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Направление 09.03.01 — Информатика и вычислительная техника</a:t>
            </a:r>
            <a:r>
              <a:t/>
            </a:r>
            <a:br/>
            <a:r>
              <a:rPr sz="1400" b="0" i="0" u="none" cap="none">
                <a:solidFill>
                  <a:srgbClr val="1F2637"/>
                </a:solidFill>
                <a:latin typeface="Arial"/>
                <a:ea typeface="Arial"/>
                <a:cs typeface="Arial"/>
              </a:rPr>
              <a:t>Руководитель: доцент кафедры ВТиП, к.п.н. Гладышева М.М.</a:t>
            </a:r>
          </a:p>
        </p:txBody>
      </p:sp>
      <p:sp>
        <p:nvSpPr>
          <p:cNvPr id="21" name="Google Shape;21;p3">
            <a:extLst>
              <a:ext uri="{FF2B5EF4-FFF2-40B4-BE49-F238E27FC236}">
                <a16:creationId xmlns:a16="http://schemas.microsoft.com/office/drawing/2014/main" id="{25D1FFF4-2302-4D39-97BF-AC703C8982ED}"/>
              </a:ext>
            </a:extLst>
          </p:cNvPr>
          <p:cNvSpPr>
            <a:spLocks noGrp="1"/>
          </p:cNvSpPr>
          <p:nvPr/>
        </p:nvSpPr>
        <p:spPr>
          <a:xfrm>
            <a:off x="10058400" y="6510600"/>
            <a:ext cx="1828440" cy="292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Магнитогорск, 2026</a:t>
            </a:r>
          </a:p>
        </p:txBody>
      </p:sp>
    </p:spTree>
    <p:extLst>
      <p:ext uri="{BB962C8B-B14F-4D97-AF65-F5344CB8AC3E}">
        <p14:creationId xmlns:p14="http://schemas.microsoft.com/office/powerpoint/2010/main" val="1508384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27;p4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ln>
            <a:noFill/>
          </a:ln>
        </p:spPr>
      </p:pic>
      <p:sp>
        <p:nvSpPr>
          <p:cNvPr id="28" name="Google Shape;28;p4">
            <a:extLst>
              <a:ext uri="{FF2B5EF4-FFF2-40B4-BE49-F238E27FC236}">
                <a16:creationId xmlns:a16="http://schemas.microsoft.com/office/drawing/2014/main" id="{4D665121-864E-47EB-9EC1-491A36DE092A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Цель</a:t>
            </a:r>
            <a:r>
              <a:rPr sz="320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sz="320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объект</a:t>
            </a:r>
            <a:r>
              <a:rPr sz="320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, </a:t>
            </a:r>
            <a:r>
              <a:rPr lang="ru-RU" sz="3200" b="1" i="0" u="none" cap="none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 </a:t>
            </a:r>
            <a:r>
              <a:rPr sz="3200" b="1" i="0" u="none" cap="none" dirty="0" err="1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предмет</a:t>
            </a:r>
            <a:r>
              <a:rPr sz="3200" b="1" i="0" u="none" cap="none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3200" b="1" i="0" u="none" cap="none" dirty="0" err="1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работы</a:t>
            </a:r>
            <a:endParaRPr sz="3200" b="1" i="0" u="none" cap="none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Google Shape;29;p4">
            <a:extLst>
              <a:ext uri="{FF2B5EF4-FFF2-40B4-BE49-F238E27FC236}">
                <a16:creationId xmlns:a16="http://schemas.microsoft.com/office/drawing/2014/main" id="{50E9C37E-16F5-4969-93AB-4BF4AACBC35E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30" name="Google Shape;30;p4">
            <a:extLst>
              <a:ext uri="{FF2B5EF4-FFF2-40B4-BE49-F238E27FC236}">
                <a16:creationId xmlns:a16="http://schemas.microsoft.com/office/drawing/2014/main" id="{8C840D37-C526-4489-8452-CC445A0B16E0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 cap="none">
                <a:solidFill>
                  <a:srgbClr val="5B647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Google Shape;31;p4">
            <a:extLst>
              <a:ext uri="{FF2B5EF4-FFF2-40B4-BE49-F238E27FC236}">
                <a16:creationId xmlns:a16="http://schemas.microsoft.com/office/drawing/2014/main" id="{912709B9-907A-4E2D-B47D-636C416A9BA5}"/>
              </a:ext>
            </a:extLst>
          </p:cNvPr>
          <p:cNvSpPr>
            <a:spLocks noGrp="1"/>
          </p:cNvSpPr>
          <p:nvPr/>
        </p:nvSpPr>
        <p:spPr>
          <a:xfrm>
            <a:off x="1061608" y="1735851"/>
            <a:ext cx="10038304" cy="1479621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>
            <a:extLst>
              <a:ext uri="{FF2B5EF4-FFF2-40B4-BE49-F238E27FC236}">
                <a16:creationId xmlns:a16="http://schemas.microsoft.com/office/drawing/2014/main" id="{B8E07959-47EA-4A2C-BCFD-7CB13068CE28}"/>
              </a:ext>
            </a:extLst>
          </p:cNvPr>
          <p:cNvSpPr>
            <a:spLocks noGrp="1"/>
          </p:cNvSpPr>
          <p:nvPr/>
        </p:nvSpPr>
        <p:spPr>
          <a:xfrm>
            <a:off x="1487155" y="2315641"/>
            <a:ext cx="1325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cap="none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ЦЕЛЬ</a:t>
            </a:r>
          </a:p>
        </p:txBody>
      </p:sp>
      <p:sp>
        <p:nvSpPr>
          <p:cNvPr id="33" name="Google Shape;33;p4">
            <a:extLst>
              <a:ext uri="{FF2B5EF4-FFF2-40B4-BE49-F238E27FC236}">
                <a16:creationId xmlns:a16="http://schemas.microsoft.com/office/drawing/2014/main" id="{6ABADABD-1984-4DDB-8207-0BC3DB39603B}"/>
              </a:ext>
            </a:extLst>
          </p:cNvPr>
          <p:cNvSpPr>
            <a:spLocks noGrp="1"/>
          </p:cNvSpPr>
          <p:nvPr/>
        </p:nvSpPr>
        <p:spPr>
          <a:xfrm>
            <a:off x="2529923" y="2014016"/>
            <a:ext cx="8332345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just"/>
            <a:r>
              <a:rPr lang="ru-RU" dirty="0">
                <a:solidFill>
                  <a:srgbClr val="FFFFFF"/>
                </a:solidFill>
                <a:ea typeface="Arial"/>
                <a:cs typeface="Arial"/>
              </a:rPr>
              <a:t>Повысить эффективность управления волонтерской деятельностью за счет разработки </a:t>
            </a:r>
            <a:r>
              <a:rPr lang="ru-RU" dirty="0" err="1">
                <a:solidFill>
                  <a:srgbClr val="FFFFFF"/>
                </a:solidFill>
                <a:ea typeface="Arial"/>
                <a:cs typeface="Arial"/>
              </a:rPr>
              <a:t>web</a:t>
            </a:r>
            <a:r>
              <a:rPr lang="ru-RU" dirty="0">
                <a:solidFill>
                  <a:srgbClr val="FFFFFF"/>
                </a:solidFill>
                <a:ea typeface="Arial"/>
                <a:cs typeface="Arial"/>
              </a:rPr>
              <a:t>-ориентированной информационной системы «Пульс» с учетом заявок, задач, часов, сертификатов, </a:t>
            </a:r>
            <a:r>
              <a:rPr lang="ru-RU" dirty="0" err="1">
                <a:solidFill>
                  <a:srgbClr val="FFFFFF"/>
                </a:solidFill>
                <a:ea typeface="Arial"/>
                <a:cs typeface="Arial"/>
              </a:rPr>
              <a:t>геймификации</a:t>
            </a:r>
            <a:r>
              <a:rPr lang="ru-RU" dirty="0">
                <a:solidFill>
                  <a:srgbClr val="FFFFFF"/>
                </a:solidFill>
                <a:ea typeface="Arial"/>
                <a:cs typeface="Arial"/>
              </a:rPr>
              <a:t> и аналитики.</a:t>
            </a:r>
            <a:endParaRPr sz="1800" b="0" i="0" u="none" cap="none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Google Shape;34;p4">
            <a:extLst>
              <a:ext uri="{FF2B5EF4-FFF2-40B4-BE49-F238E27FC236}">
                <a16:creationId xmlns:a16="http://schemas.microsoft.com/office/drawing/2014/main" id="{FE2206B8-16AC-4B44-B40D-39827CA4E498}"/>
              </a:ext>
            </a:extLst>
          </p:cNvPr>
          <p:cNvSpPr>
            <a:spLocks noGrp="1"/>
          </p:cNvSpPr>
          <p:nvPr/>
        </p:nvSpPr>
        <p:spPr>
          <a:xfrm>
            <a:off x="1061608" y="3528450"/>
            <a:ext cx="4414744" cy="1365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4">
            <a:extLst>
              <a:ext uri="{FF2B5EF4-FFF2-40B4-BE49-F238E27FC236}">
                <a16:creationId xmlns:a16="http://schemas.microsoft.com/office/drawing/2014/main" id="{C8282E10-B335-4511-820D-FA9675289EBB}"/>
              </a:ext>
            </a:extLst>
          </p:cNvPr>
          <p:cNvSpPr>
            <a:spLocks noGrp="1"/>
          </p:cNvSpPr>
          <p:nvPr/>
        </p:nvSpPr>
        <p:spPr>
          <a:xfrm>
            <a:off x="2529923" y="3668624"/>
            <a:ext cx="147811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dirty="0">
                <a:solidFill>
                  <a:srgbClr val="2E5AAC"/>
                </a:solidFill>
                <a:latin typeface="Arial"/>
                <a:ea typeface="Arial"/>
                <a:cs typeface="Arial"/>
              </a:rPr>
              <a:t>ОБЪЕКТ</a:t>
            </a:r>
          </a:p>
        </p:txBody>
      </p:sp>
      <p:sp>
        <p:nvSpPr>
          <p:cNvPr id="36" name="Google Shape;36;p4">
            <a:extLst>
              <a:ext uri="{FF2B5EF4-FFF2-40B4-BE49-F238E27FC236}">
                <a16:creationId xmlns:a16="http://schemas.microsoft.com/office/drawing/2014/main" id="{356AD5AB-1DB0-4A09-8882-B673394D2A66}"/>
              </a:ext>
            </a:extLst>
          </p:cNvPr>
          <p:cNvSpPr>
            <a:spLocks noGrp="1"/>
          </p:cNvSpPr>
          <p:nvPr/>
        </p:nvSpPr>
        <p:spPr>
          <a:xfrm>
            <a:off x="869684" y="4041223"/>
            <a:ext cx="479859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</a:rPr>
              <a:t>Процесс управления волонтерской деятельностью в организации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Google Shape;37;p4">
            <a:extLst>
              <a:ext uri="{FF2B5EF4-FFF2-40B4-BE49-F238E27FC236}">
                <a16:creationId xmlns:a16="http://schemas.microsoft.com/office/drawing/2014/main" id="{8072AC22-611C-4B51-A46B-3F65F8892465}"/>
              </a:ext>
            </a:extLst>
          </p:cNvPr>
          <p:cNvSpPr>
            <a:spLocks noGrp="1"/>
          </p:cNvSpPr>
          <p:nvPr/>
        </p:nvSpPr>
        <p:spPr>
          <a:xfrm>
            <a:off x="6681150" y="3532469"/>
            <a:ext cx="4418762" cy="136107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4">
            <a:extLst>
              <a:ext uri="{FF2B5EF4-FFF2-40B4-BE49-F238E27FC236}">
                <a16:creationId xmlns:a16="http://schemas.microsoft.com/office/drawing/2014/main" id="{16A0288C-E4CC-4E49-ABF9-02686A33276B}"/>
              </a:ext>
            </a:extLst>
          </p:cNvPr>
          <p:cNvSpPr>
            <a:spLocks noGrp="1"/>
          </p:cNvSpPr>
          <p:nvPr/>
        </p:nvSpPr>
        <p:spPr>
          <a:xfrm>
            <a:off x="8227591" y="3668623"/>
            <a:ext cx="132588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dirty="0">
                <a:solidFill>
                  <a:srgbClr val="2E5AAC"/>
                </a:solidFill>
                <a:latin typeface="Arial"/>
                <a:ea typeface="Arial"/>
                <a:cs typeface="Arial"/>
              </a:rPr>
              <a:t>ПРЕДМЕТ</a:t>
            </a:r>
            <a:endParaRPr sz="1500" b="1" dirty="0">
              <a:solidFill>
                <a:srgbClr val="2E5AA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Google Shape;39;p4">
            <a:extLst>
              <a:ext uri="{FF2B5EF4-FFF2-40B4-BE49-F238E27FC236}">
                <a16:creationId xmlns:a16="http://schemas.microsoft.com/office/drawing/2014/main" id="{701BE399-DFAF-420A-80BC-5D256074BE53}"/>
              </a:ext>
            </a:extLst>
          </p:cNvPr>
          <p:cNvSpPr>
            <a:spLocks noGrp="1"/>
          </p:cNvSpPr>
          <p:nvPr/>
        </p:nvSpPr>
        <p:spPr>
          <a:xfrm>
            <a:off x="6453691" y="4041223"/>
            <a:ext cx="487368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dirty="0">
                <a:solidFill>
                  <a:schemeClr val="tx1">
                    <a:lumMod val="75000"/>
                    <a:lumOff val="25000"/>
                  </a:schemeClr>
                </a:solidFill>
                <a:ea typeface="Arial"/>
                <a:cs typeface="Arial"/>
              </a:rPr>
              <a:t>Информационная система «Пульс» и связанные пользовательские сценарии</a:t>
            </a:r>
            <a:endParaRPr dirty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4497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27;p4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ln>
            <a:noFill/>
          </a:ln>
        </p:spPr>
      </p:pic>
      <p:sp>
        <p:nvSpPr>
          <p:cNvPr id="28" name="Google Shape;28;p4">
            <a:extLst>
              <a:ext uri="{FF2B5EF4-FFF2-40B4-BE49-F238E27FC236}">
                <a16:creationId xmlns:a16="http://schemas.microsoft.com/office/drawing/2014/main" id="{4D665121-864E-47EB-9EC1-491A36DE092A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З</a:t>
            </a:r>
            <a:r>
              <a:rPr sz="3600" b="1" i="0" u="none" cap="none" dirty="0" err="1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адачи</a:t>
            </a:r>
            <a:r>
              <a:rPr sz="3600" b="1" i="0" u="none" cap="none" dirty="0" smtClean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3600" b="1" i="0" u="none" cap="none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работы</a:t>
            </a:r>
            <a:endParaRPr sz="3600" b="1" i="0" u="none" cap="none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Google Shape;29;p4">
            <a:extLst>
              <a:ext uri="{FF2B5EF4-FFF2-40B4-BE49-F238E27FC236}">
                <a16:creationId xmlns:a16="http://schemas.microsoft.com/office/drawing/2014/main" id="{50E9C37E-16F5-4969-93AB-4BF4AACBC35E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30" name="Google Shape;30;p4">
            <a:extLst>
              <a:ext uri="{FF2B5EF4-FFF2-40B4-BE49-F238E27FC236}">
                <a16:creationId xmlns:a16="http://schemas.microsoft.com/office/drawing/2014/main" id="{8C840D37-C526-4489-8452-CC445A0B16E0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3</a:t>
            </a:r>
            <a:endParaRPr sz="1400" b="0" i="0" u="none" cap="none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Google Shape;40;p4">
            <a:extLst>
              <a:ext uri="{FF2B5EF4-FFF2-40B4-BE49-F238E27FC236}">
                <a16:creationId xmlns:a16="http://schemas.microsoft.com/office/drawing/2014/main" id="{82ABC8EE-00EE-4180-9A08-9970501AB8B4}"/>
              </a:ext>
            </a:extLst>
          </p:cNvPr>
          <p:cNvSpPr>
            <a:spLocks noGrp="1"/>
          </p:cNvSpPr>
          <p:nvPr/>
        </p:nvSpPr>
        <p:spPr>
          <a:xfrm>
            <a:off x="1737575" y="1557494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4">
            <a:extLst>
              <a:ext uri="{FF2B5EF4-FFF2-40B4-BE49-F238E27FC236}">
                <a16:creationId xmlns:a16="http://schemas.microsoft.com/office/drawing/2014/main" id="{8759AA26-911A-4811-90AF-DD8E8F20F8FF}"/>
              </a:ext>
            </a:extLst>
          </p:cNvPr>
          <p:cNvSpPr>
            <a:spLocks noGrp="1"/>
          </p:cNvSpPr>
          <p:nvPr/>
        </p:nvSpPr>
        <p:spPr>
          <a:xfrm>
            <a:off x="1985644" y="1819504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Google Shape;42;p4">
            <a:extLst>
              <a:ext uri="{FF2B5EF4-FFF2-40B4-BE49-F238E27FC236}">
                <a16:creationId xmlns:a16="http://schemas.microsoft.com/office/drawing/2014/main" id="{331C339E-1612-4BB7-95EA-2282BBDB00B3}"/>
              </a:ext>
            </a:extLst>
          </p:cNvPr>
          <p:cNvSpPr>
            <a:spLocks noGrp="1"/>
          </p:cNvSpPr>
          <p:nvPr/>
        </p:nvSpPr>
        <p:spPr>
          <a:xfrm>
            <a:off x="2812549" y="1697844"/>
            <a:ext cx="8020800" cy="59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</a:rPr>
              <a:t>Провести теоретико–информационный анализ управления волонтерской деятельностью, существующих решений и сформировать дерево целей и требования к Пульс</a:t>
            </a:r>
          </a:p>
        </p:txBody>
      </p:sp>
      <p:sp>
        <p:nvSpPr>
          <p:cNvPr id="43" name="Google Shape;43;p4">
            <a:extLst>
              <a:ext uri="{FF2B5EF4-FFF2-40B4-BE49-F238E27FC236}">
                <a16:creationId xmlns:a16="http://schemas.microsoft.com/office/drawing/2014/main" id="{3E0FA04D-394E-4DC3-8D35-DA1004EAD1F6}"/>
              </a:ext>
            </a:extLst>
          </p:cNvPr>
          <p:cNvSpPr>
            <a:spLocks noGrp="1"/>
          </p:cNvSpPr>
          <p:nvPr/>
        </p:nvSpPr>
        <p:spPr>
          <a:xfrm>
            <a:off x="1737575" y="2619655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>
            <a:extLst>
              <a:ext uri="{FF2B5EF4-FFF2-40B4-BE49-F238E27FC236}">
                <a16:creationId xmlns:a16="http://schemas.microsoft.com/office/drawing/2014/main" id="{CF726348-F304-4CE5-A001-69955D5068C1}"/>
              </a:ext>
            </a:extLst>
          </p:cNvPr>
          <p:cNvSpPr>
            <a:spLocks noGrp="1"/>
          </p:cNvSpPr>
          <p:nvPr/>
        </p:nvSpPr>
        <p:spPr>
          <a:xfrm>
            <a:off x="1985644" y="2918177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5" name="Google Shape;45;p4">
            <a:extLst>
              <a:ext uri="{FF2B5EF4-FFF2-40B4-BE49-F238E27FC236}">
                <a16:creationId xmlns:a16="http://schemas.microsoft.com/office/drawing/2014/main" id="{35CE32D7-0DE8-4D1E-AAD9-4A28CBD7C3A1}"/>
              </a:ext>
            </a:extLst>
          </p:cNvPr>
          <p:cNvSpPr>
            <a:spLocks noGrp="1"/>
          </p:cNvSpPr>
          <p:nvPr/>
        </p:nvSpPr>
        <p:spPr>
          <a:xfrm>
            <a:off x="2812540" y="2696867"/>
            <a:ext cx="8020800" cy="692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300" b="1" dirty="0">
                <a:solidFill>
                  <a:schemeClr val="dk1"/>
                </a:solidFill>
              </a:rPr>
              <a:t>Спроектировать и реализовать информационную систему Пульс, включая архитектуру, модели данных, алгоритмы, интерфейс и визуализацию итогов</a:t>
            </a:r>
          </a:p>
        </p:txBody>
      </p:sp>
      <p:sp>
        <p:nvSpPr>
          <p:cNvPr id="46" name="Google Shape;46;p4">
            <a:extLst>
              <a:ext uri="{FF2B5EF4-FFF2-40B4-BE49-F238E27FC236}">
                <a16:creationId xmlns:a16="http://schemas.microsoft.com/office/drawing/2014/main" id="{086E33DA-6082-4F93-A6D7-D75898A16805}"/>
              </a:ext>
            </a:extLst>
          </p:cNvPr>
          <p:cNvSpPr>
            <a:spLocks noGrp="1"/>
          </p:cNvSpPr>
          <p:nvPr/>
        </p:nvSpPr>
        <p:spPr>
          <a:xfrm>
            <a:off x="1737575" y="3681816"/>
            <a:ext cx="9509400" cy="808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>
            <a:extLst>
              <a:ext uri="{FF2B5EF4-FFF2-40B4-BE49-F238E27FC236}">
                <a16:creationId xmlns:a16="http://schemas.microsoft.com/office/drawing/2014/main" id="{505F9FB9-27EE-4664-BCE4-18455D47DC30}"/>
              </a:ext>
            </a:extLst>
          </p:cNvPr>
          <p:cNvSpPr>
            <a:spLocks noGrp="1"/>
          </p:cNvSpPr>
          <p:nvPr/>
        </p:nvSpPr>
        <p:spPr>
          <a:xfrm>
            <a:off x="1985644" y="3930601"/>
            <a:ext cx="628200" cy="310800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8" name="Google Shape;48;p4">
            <a:extLst>
              <a:ext uri="{FF2B5EF4-FFF2-40B4-BE49-F238E27FC236}">
                <a16:creationId xmlns:a16="http://schemas.microsoft.com/office/drawing/2014/main" id="{77F15D41-4CA3-4132-B8BC-72DDC1250058}"/>
              </a:ext>
            </a:extLst>
          </p:cNvPr>
          <p:cNvSpPr>
            <a:spLocks noGrp="1"/>
          </p:cNvSpPr>
          <p:nvPr/>
        </p:nvSpPr>
        <p:spPr>
          <a:xfrm>
            <a:off x="2812540" y="3739840"/>
            <a:ext cx="8020800" cy="6924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300" b="1" dirty="0">
                <a:solidFill>
                  <a:schemeClr val="dk1"/>
                </a:solidFill>
              </a:rPr>
              <a:t>Провести проверку работоспособности системы «Пульс» и анализ результатов ее эксплуатации на ключевых пользовательских сценариях.</a:t>
            </a:r>
            <a:endParaRPr sz="1300" b="1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57828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54;p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ln>
            <a:noFill/>
          </a:ln>
        </p:spPr>
      </p:pic>
      <p:sp>
        <p:nvSpPr>
          <p:cNvPr id="55" name="Google Shape;55;p5">
            <a:extLst>
              <a:ext uri="{FF2B5EF4-FFF2-40B4-BE49-F238E27FC236}">
                <a16:creationId xmlns:a16="http://schemas.microsoft.com/office/drawing/2014/main" id="{ACDDD587-6A93-4837-960B-016B50F5767C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Анализ аналогов</a:t>
            </a:r>
          </a:p>
        </p:txBody>
      </p:sp>
      <p:sp>
        <p:nvSpPr>
          <p:cNvPr id="56" name="Google Shape;56;p5">
            <a:extLst>
              <a:ext uri="{FF2B5EF4-FFF2-40B4-BE49-F238E27FC236}">
                <a16:creationId xmlns:a16="http://schemas.microsoft.com/office/drawing/2014/main" id="{F60E8740-9BBB-4974-A0BD-A0E228889A39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57" name="Google Shape;57;p5">
            <a:extLst>
              <a:ext uri="{FF2B5EF4-FFF2-40B4-BE49-F238E27FC236}">
                <a16:creationId xmlns:a16="http://schemas.microsoft.com/office/drawing/2014/main" id="{FA934F56-F3FB-4431-A13B-486C279D3CB0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4</a:t>
            </a:r>
            <a:endParaRPr sz="140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5">
            <a:extLst>
              <a:ext uri="{FF2B5EF4-FFF2-40B4-BE49-F238E27FC236}">
                <a16:creationId xmlns:a16="http://schemas.microsoft.com/office/drawing/2014/main" id="{B84245FC-006A-481E-B32F-95F2389BAB18}"/>
              </a:ext>
            </a:extLst>
          </p:cNvPr>
          <p:cNvSpPr>
            <a:spLocks noGrp="1"/>
          </p:cNvSpPr>
          <p:nvPr/>
        </p:nvSpPr>
        <p:spPr>
          <a:xfrm>
            <a:off x="640080" y="1739484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>
            <a:extLst>
              <a:ext uri="{FF2B5EF4-FFF2-40B4-BE49-F238E27FC236}">
                <a16:creationId xmlns:a16="http://schemas.microsoft.com/office/drawing/2014/main" id="{98F449F6-4DDD-4687-9EB9-F65A6338434B}"/>
              </a:ext>
            </a:extLst>
          </p:cNvPr>
          <p:cNvSpPr>
            <a:spLocks noGrp="1"/>
          </p:cNvSpPr>
          <p:nvPr/>
        </p:nvSpPr>
        <p:spPr>
          <a:xfrm>
            <a:off x="1353312" y="2013804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0" name="Google Shape;60;p5">
            <a:extLst>
              <a:ext uri="{FF2B5EF4-FFF2-40B4-BE49-F238E27FC236}">
                <a16:creationId xmlns:a16="http://schemas.microsoft.com/office/drawing/2014/main" id="{D26A2885-7E52-4C06-BBB0-34A3EE9B16A0}"/>
              </a:ext>
            </a:extLst>
          </p:cNvPr>
          <p:cNvSpPr>
            <a:spLocks noGrp="1"/>
          </p:cNvSpPr>
          <p:nvPr/>
        </p:nvSpPr>
        <p:spPr>
          <a:xfrm>
            <a:off x="822959" y="2836764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Добро.рф</a:t>
            </a:r>
          </a:p>
        </p:txBody>
      </p:sp>
      <p:sp>
        <p:nvSpPr>
          <p:cNvPr id="61" name="Google Shape;61;p5">
            <a:extLst>
              <a:ext uri="{FF2B5EF4-FFF2-40B4-BE49-F238E27FC236}">
                <a16:creationId xmlns:a16="http://schemas.microsoft.com/office/drawing/2014/main" id="{90B32231-947F-454E-998D-506A2552509A}"/>
              </a:ext>
            </a:extLst>
          </p:cNvPr>
          <p:cNvSpPr>
            <a:spLocks noGrp="1"/>
          </p:cNvSpPr>
          <p:nvPr/>
        </p:nvSpPr>
        <p:spPr>
          <a:xfrm>
            <a:off x="896112" y="3321396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sz="1160" dirty="0">
                <a:solidFill>
                  <a:srgbClr val="5B6476"/>
                </a:solidFill>
                <a:ea typeface="Arial"/>
                <a:cs typeface="Arial"/>
              </a:rPr>
              <a:t>Масштабная публичная экосистема, но не локальное пространство организации</a:t>
            </a:r>
            <a:endParaRPr sz="116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Google Shape;62;p5">
            <a:extLst>
              <a:ext uri="{FF2B5EF4-FFF2-40B4-BE49-F238E27FC236}">
                <a16:creationId xmlns:a16="http://schemas.microsoft.com/office/drawing/2014/main" id="{A2D64FAB-1EA2-4003-818F-AC34BBA26323}"/>
              </a:ext>
            </a:extLst>
          </p:cNvPr>
          <p:cNvSpPr>
            <a:spLocks noGrp="1"/>
          </p:cNvSpPr>
          <p:nvPr/>
        </p:nvSpPr>
        <p:spPr>
          <a:xfrm>
            <a:off x="3447287" y="1739484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5">
            <a:extLst>
              <a:ext uri="{FF2B5EF4-FFF2-40B4-BE49-F238E27FC236}">
                <a16:creationId xmlns:a16="http://schemas.microsoft.com/office/drawing/2014/main" id="{8CF35533-2B2E-4EC2-86B7-48A1DE8BFC00}"/>
              </a:ext>
            </a:extLst>
          </p:cNvPr>
          <p:cNvSpPr>
            <a:spLocks noGrp="1"/>
          </p:cNvSpPr>
          <p:nvPr/>
        </p:nvSpPr>
        <p:spPr>
          <a:xfrm>
            <a:off x="4160520" y="2013804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I/V</a:t>
            </a:r>
          </a:p>
        </p:txBody>
      </p:sp>
      <p:sp>
        <p:nvSpPr>
          <p:cNvPr id="64" name="Google Shape;64;p5">
            <a:extLst>
              <a:ext uri="{FF2B5EF4-FFF2-40B4-BE49-F238E27FC236}">
                <a16:creationId xmlns:a16="http://schemas.microsoft.com/office/drawing/2014/main" id="{DFC53D6B-F377-4A3C-AC27-782802074DD6}"/>
              </a:ext>
            </a:extLst>
          </p:cNvPr>
          <p:cNvSpPr>
            <a:spLocks noGrp="1"/>
          </p:cNvSpPr>
          <p:nvPr/>
        </p:nvSpPr>
        <p:spPr>
          <a:xfrm>
            <a:off x="3630168" y="2836764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Idealist / VolunteerMatch</a:t>
            </a:r>
          </a:p>
        </p:txBody>
      </p:sp>
      <p:sp>
        <p:nvSpPr>
          <p:cNvPr id="65" name="Google Shape;65;p5">
            <a:extLst>
              <a:ext uri="{FF2B5EF4-FFF2-40B4-BE49-F238E27FC236}">
                <a16:creationId xmlns:a16="http://schemas.microsoft.com/office/drawing/2014/main" id="{730E3230-CDAE-453D-B8BF-56858C2185F4}"/>
              </a:ext>
            </a:extLst>
          </p:cNvPr>
          <p:cNvSpPr>
            <a:spLocks noGrp="1"/>
          </p:cNvSpPr>
          <p:nvPr/>
        </p:nvSpPr>
        <p:spPr>
          <a:xfrm>
            <a:off x="3703320" y="3418944"/>
            <a:ext cx="196596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sz="1160" dirty="0">
                <a:solidFill>
                  <a:srgbClr val="5B6476"/>
                </a:solidFill>
                <a:ea typeface="Arial"/>
                <a:cs typeface="Arial"/>
              </a:rPr>
              <a:t>Сильный поиск возможностей, но слабый учет внутреннего вклада</a:t>
            </a:r>
            <a:endParaRPr sz="116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6" name="Google Shape;66;p5">
            <a:extLst>
              <a:ext uri="{FF2B5EF4-FFF2-40B4-BE49-F238E27FC236}">
                <a16:creationId xmlns:a16="http://schemas.microsoft.com/office/drawing/2014/main" id="{7DBCFF0B-2ACE-4879-BDE0-31BBD44E268A}"/>
              </a:ext>
            </a:extLst>
          </p:cNvPr>
          <p:cNvSpPr>
            <a:spLocks noGrp="1"/>
          </p:cNvSpPr>
          <p:nvPr/>
        </p:nvSpPr>
        <p:spPr>
          <a:xfrm>
            <a:off x="6254496" y="1739484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">
            <a:extLst>
              <a:ext uri="{FF2B5EF4-FFF2-40B4-BE49-F238E27FC236}">
                <a16:creationId xmlns:a16="http://schemas.microsoft.com/office/drawing/2014/main" id="{5D00E6E0-8832-46DC-A843-59C87B96BCBD}"/>
              </a:ext>
            </a:extLst>
          </p:cNvPr>
          <p:cNvSpPr>
            <a:spLocks noGrp="1"/>
          </p:cNvSpPr>
          <p:nvPr/>
        </p:nvSpPr>
        <p:spPr>
          <a:xfrm>
            <a:off x="6967728" y="2013804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68" name="Google Shape;68;p5">
            <a:extLst>
              <a:ext uri="{FF2B5EF4-FFF2-40B4-BE49-F238E27FC236}">
                <a16:creationId xmlns:a16="http://schemas.microsoft.com/office/drawing/2014/main" id="{D29EF5A8-99E8-4FE4-AB84-2080A5D351C6}"/>
              </a:ext>
            </a:extLst>
          </p:cNvPr>
          <p:cNvSpPr>
            <a:spLocks noGrp="1"/>
          </p:cNvSpPr>
          <p:nvPr/>
        </p:nvSpPr>
        <p:spPr>
          <a:xfrm>
            <a:off x="6437376" y="2836764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Timecounts</a:t>
            </a:r>
          </a:p>
        </p:txBody>
      </p:sp>
      <p:sp>
        <p:nvSpPr>
          <p:cNvPr id="69" name="Google Shape;69;p5">
            <a:extLst>
              <a:ext uri="{FF2B5EF4-FFF2-40B4-BE49-F238E27FC236}">
                <a16:creationId xmlns:a16="http://schemas.microsoft.com/office/drawing/2014/main" id="{71A8ACBA-B1E0-4ADB-82E9-9E85671A59A9}"/>
              </a:ext>
            </a:extLst>
          </p:cNvPr>
          <p:cNvSpPr>
            <a:spLocks noGrp="1"/>
          </p:cNvSpPr>
          <p:nvPr/>
        </p:nvSpPr>
        <p:spPr>
          <a:xfrm>
            <a:off x="6510528" y="3321396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sz="1160" dirty="0">
                <a:solidFill>
                  <a:srgbClr val="5B6476"/>
                </a:solidFill>
                <a:ea typeface="Arial"/>
                <a:cs typeface="Arial"/>
              </a:rPr>
              <a:t>Операционная работа событий, но нужна адаптация под аналитику и сертификаты</a:t>
            </a:r>
            <a:endParaRPr sz="116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0" name="Google Shape;70;p5">
            <a:extLst>
              <a:ext uri="{FF2B5EF4-FFF2-40B4-BE49-F238E27FC236}">
                <a16:creationId xmlns:a16="http://schemas.microsoft.com/office/drawing/2014/main" id="{4AE5F206-A606-42D5-B2B2-FE4F46A91153}"/>
              </a:ext>
            </a:extLst>
          </p:cNvPr>
          <p:cNvSpPr>
            <a:spLocks noGrp="1"/>
          </p:cNvSpPr>
          <p:nvPr/>
        </p:nvSpPr>
        <p:spPr>
          <a:xfrm>
            <a:off x="9061703" y="1739484"/>
            <a:ext cx="2468880" cy="2743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5">
            <a:extLst>
              <a:ext uri="{FF2B5EF4-FFF2-40B4-BE49-F238E27FC236}">
                <a16:creationId xmlns:a16="http://schemas.microsoft.com/office/drawing/2014/main" id="{373E6FB2-243E-4EFA-8F85-591355015E89}"/>
              </a:ext>
            </a:extLst>
          </p:cNvPr>
          <p:cNvSpPr>
            <a:spLocks noGrp="1"/>
          </p:cNvSpPr>
          <p:nvPr/>
        </p:nvSpPr>
        <p:spPr>
          <a:xfrm>
            <a:off x="9774935" y="2013804"/>
            <a:ext cx="1024128" cy="658368"/>
          </a:xfrm>
          <a:prstGeom prst="roundRect">
            <a:avLst>
              <a:gd name="adj" fmla="val 16667"/>
            </a:avLst>
          </a:prstGeom>
          <a:solidFill>
            <a:srgbClr val="1F2637"/>
          </a:solidFill>
          <a:ln w="9525" cmpd="sng">
            <a:solidFill>
              <a:srgbClr val="1F2637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</a:t>
            </a:r>
          </a:p>
        </p:txBody>
      </p:sp>
      <p:sp>
        <p:nvSpPr>
          <p:cNvPr id="72" name="Google Shape;72;p5">
            <a:extLst>
              <a:ext uri="{FF2B5EF4-FFF2-40B4-BE49-F238E27FC236}">
                <a16:creationId xmlns:a16="http://schemas.microsoft.com/office/drawing/2014/main" id="{F1262620-4442-4996-818A-F6CAB3BEB14F}"/>
              </a:ext>
            </a:extLst>
          </p:cNvPr>
          <p:cNvSpPr>
            <a:spLocks noGrp="1"/>
          </p:cNvSpPr>
          <p:nvPr/>
        </p:nvSpPr>
        <p:spPr>
          <a:xfrm>
            <a:off x="9244583" y="2836764"/>
            <a:ext cx="2103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Golden</a:t>
            </a:r>
          </a:p>
        </p:txBody>
      </p:sp>
      <p:sp>
        <p:nvSpPr>
          <p:cNvPr id="73" name="Google Shape;73;p5">
            <a:extLst>
              <a:ext uri="{FF2B5EF4-FFF2-40B4-BE49-F238E27FC236}">
                <a16:creationId xmlns:a16="http://schemas.microsoft.com/office/drawing/2014/main" id="{56468369-6321-4D09-A579-1EC5EFAB2228}"/>
              </a:ext>
            </a:extLst>
          </p:cNvPr>
          <p:cNvSpPr>
            <a:spLocks noGrp="1"/>
          </p:cNvSpPr>
          <p:nvPr/>
        </p:nvSpPr>
        <p:spPr>
          <a:xfrm>
            <a:off x="9317735" y="3321396"/>
            <a:ext cx="196596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sz="1160" dirty="0">
                <a:solidFill>
                  <a:srgbClr val="5B6476"/>
                </a:solidFill>
                <a:ea typeface="Arial"/>
                <a:cs typeface="Arial"/>
              </a:rPr>
              <a:t>Коммерческая </a:t>
            </a:r>
            <a:r>
              <a:rPr lang="ru-RU" sz="1160" dirty="0" err="1">
                <a:solidFill>
                  <a:srgbClr val="5B6476"/>
                </a:solidFill>
                <a:ea typeface="Arial"/>
                <a:cs typeface="Arial"/>
              </a:rPr>
              <a:t>SaaS</a:t>
            </a:r>
            <a:r>
              <a:rPr lang="ru-RU" sz="1160" dirty="0">
                <a:solidFill>
                  <a:srgbClr val="5B6476"/>
                </a:solidFill>
                <a:ea typeface="Arial"/>
                <a:cs typeface="Arial"/>
              </a:rPr>
              <a:t>-платформа, меньше контроля над моделью данных</a:t>
            </a:r>
            <a:endParaRPr sz="116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4" name="Google Shape;74;p5">
            <a:extLst>
              <a:ext uri="{FF2B5EF4-FFF2-40B4-BE49-F238E27FC236}">
                <a16:creationId xmlns:a16="http://schemas.microsoft.com/office/drawing/2014/main" id="{94826D58-8269-489C-BCE3-D8C859A4B185}"/>
              </a:ext>
            </a:extLst>
          </p:cNvPr>
          <p:cNvSpPr>
            <a:spLocks noGrp="1"/>
          </p:cNvSpPr>
          <p:nvPr/>
        </p:nvSpPr>
        <p:spPr>
          <a:xfrm>
            <a:off x="640080" y="4738716"/>
            <a:ext cx="10881360" cy="960120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5">
            <a:extLst>
              <a:ext uri="{FF2B5EF4-FFF2-40B4-BE49-F238E27FC236}">
                <a16:creationId xmlns:a16="http://schemas.microsoft.com/office/drawing/2014/main" id="{F3286D60-04F8-4BF3-BAFF-E091D950EC1E}"/>
              </a:ext>
            </a:extLst>
          </p:cNvPr>
          <p:cNvSpPr>
            <a:spLocks noGrp="1"/>
          </p:cNvSpPr>
          <p:nvPr/>
        </p:nvSpPr>
        <p:spPr>
          <a:xfrm>
            <a:off x="868679" y="4773391"/>
            <a:ext cx="10415015" cy="854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just"/>
            <a:r>
              <a:rPr lang="ru-RU" sz="1600" b="1" dirty="0">
                <a:solidFill>
                  <a:srgbClr val="FFFFFF"/>
                </a:solidFill>
                <a:ea typeface="Arial"/>
                <a:cs typeface="Arial"/>
              </a:rPr>
              <a:t>Вывод: Существующие решения закрывают отдельные части процесса, но не связывают локальные роли, заявки, подтвержденные часы, достижения, сертификаты и аналитику в одном контуре данных.</a:t>
            </a:r>
            <a:endParaRPr sz="16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3695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98;p6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6">
            <a:extLst>
              <a:ext uri="{FF2B5EF4-FFF2-40B4-BE49-F238E27FC236}">
                <a16:creationId xmlns:a16="http://schemas.microsoft.com/office/drawing/2014/main" id="{875B3396-567A-437B-AE8D-3570C7580469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Технологический стек</a:t>
            </a:r>
          </a:p>
        </p:txBody>
      </p:sp>
      <p:sp>
        <p:nvSpPr>
          <p:cNvPr id="100" name="Google Shape;100;p6">
            <a:extLst>
              <a:ext uri="{FF2B5EF4-FFF2-40B4-BE49-F238E27FC236}">
                <a16:creationId xmlns:a16="http://schemas.microsoft.com/office/drawing/2014/main" id="{C56EA15D-3DBB-4B51-BBDC-1A3DD8FFDECD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101" name="Google Shape;101;p6">
            <a:extLst>
              <a:ext uri="{FF2B5EF4-FFF2-40B4-BE49-F238E27FC236}">
                <a16:creationId xmlns:a16="http://schemas.microsoft.com/office/drawing/2014/main" id="{62B1A7D4-7AC9-45C7-9D1F-C23951C45B14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5</a:t>
            </a:r>
            <a:endParaRPr sz="140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Google Shape;102;p6">
            <a:extLst>
              <a:ext uri="{FF2B5EF4-FFF2-40B4-BE49-F238E27FC236}">
                <a16:creationId xmlns:a16="http://schemas.microsoft.com/office/drawing/2014/main" id="{F330BFBC-F3EC-4599-9E84-3BD7AAC88523}"/>
              </a:ext>
            </a:extLst>
          </p:cNvPr>
          <p:cNvSpPr>
            <a:spLocks noGrp="1"/>
          </p:cNvSpPr>
          <p:nvPr/>
        </p:nvSpPr>
        <p:spPr>
          <a:xfrm>
            <a:off x="640080" y="1298448"/>
            <a:ext cx="3246120" cy="274179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6">
            <a:extLst>
              <a:ext uri="{FF2B5EF4-FFF2-40B4-BE49-F238E27FC236}">
                <a16:creationId xmlns:a16="http://schemas.microsoft.com/office/drawing/2014/main" id="{D12D4709-9DA0-43B5-BC15-A94608B68A70}"/>
              </a:ext>
            </a:extLst>
          </p:cNvPr>
          <p:cNvSpPr>
            <a:spLocks noGrp="1"/>
          </p:cNvSpPr>
          <p:nvPr/>
        </p:nvSpPr>
        <p:spPr>
          <a:xfrm>
            <a:off x="640080" y="1298448"/>
            <a:ext cx="3246120" cy="621792"/>
          </a:xfrm>
          <a:prstGeom prst="rect">
            <a:avLst/>
          </a:prstGeom>
          <a:solidFill>
            <a:srgbClr val="2E5AAC"/>
          </a:solidFill>
          <a:ln w="12700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6">
            <a:extLst>
              <a:ext uri="{FF2B5EF4-FFF2-40B4-BE49-F238E27FC236}">
                <a16:creationId xmlns:a16="http://schemas.microsoft.com/office/drawing/2014/main" id="{E834507E-7912-4A31-A20A-6991215CE371}"/>
              </a:ext>
            </a:extLst>
          </p:cNvPr>
          <p:cNvSpPr>
            <a:spLocks noGrp="1"/>
          </p:cNvSpPr>
          <p:nvPr/>
        </p:nvSpPr>
        <p:spPr>
          <a:xfrm>
            <a:off x="640080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05" name="Google Shape;105;p6">
            <a:extLst>
              <a:ext uri="{FF2B5EF4-FFF2-40B4-BE49-F238E27FC236}">
                <a16:creationId xmlns:a16="http://schemas.microsoft.com/office/drawing/2014/main" id="{9EC9715E-43D0-4636-921E-5FE09B86E27D}"/>
              </a:ext>
            </a:extLst>
          </p:cNvPr>
          <p:cNvSpPr>
            <a:spLocks noGrp="1"/>
          </p:cNvSpPr>
          <p:nvPr/>
        </p:nvSpPr>
        <p:spPr>
          <a:xfrm>
            <a:off x="932688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6">
            <a:extLst>
              <a:ext uri="{FF2B5EF4-FFF2-40B4-BE49-F238E27FC236}">
                <a16:creationId xmlns:a16="http://schemas.microsoft.com/office/drawing/2014/main" id="{2C2C0D31-0FD1-4BEE-A1E9-43DB45DEE04E}"/>
              </a:ext>
            </a:extLst>
          </p:cNvPr>
          <p:cNvSpPr>
            <a:spLocks noGrp="1"/>
          </p:cNvSpPr>
          <p:nvPr/>
        </p:nvSpPr>
        <p:spPr>
          <a:xfrm>
            <a:off x="1353312" y="213501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Vue.js 3</a:t>
            </a:r>
          </a:p>
        </p:txBody>
      </p:sp>
      <p:sp>
        <p:nvSpPr>
          <p:cNvPr id="107" name="Google Shape;107;p6">
            <a:extLst>
              <a:ext uri="{FF2B5EF4-FFF2-40B4-BE49-F238E27FC236}">
                <a16:creationId xmlns:a16="http://schemas.microsoft.com/office/drawing/2014/main" id="{82573D80-F1D4-4AD3-AD37-D023C0F4B0EA}"/>
              </a:ext>
            </a:extLst>
          </p:cNvPr>
          <p:cNvSpPr>
            <a:spLocks noGrp="1"/>
          </p:cNvSpPr>
          <p:nvPr/>
        </p:nvSpPr>
        <p:spPr>
          <a:xfrm>
            <a:off x="932688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6">
            <a:extLst>
              <a:ext uri="{FF2B5EF4-FFF2-40B4-BE49-F238E27FC236}">
                <a16:creationId xmlns:a16="http://schemas.microsoft.com/office/drawing/2014/main" id="{6CA84281-7508-490D-8748-F8528387FD82}"/>
              </a:ext>
            </a:extLst>
          </p:cNvPr>
          <p:cNvSpPr>
            <a:spLocks noGrp="1"/>
          </p:cNvSpPr>
          <p:nvPr/>
        </p:nvSpPr>
        <p:spPr>
          <a:xfrm>
            <a:off x="1353312" y="275680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TypeScript</a:t>
            </a:r>
          </a:p>
        </p:txBody>
      </p:sp>
      <p:sp>
        <p:nvSpPr>
          <p:cNvPr id="109" name="Google Shape;109;p6">
            <a:extLst>
              <a:ext uri="{FF2B5EF4-FFF2-40B4-BE49-F238E27FC236}">
                <a16:creationId xmlns:a16="http://schemas.microsoft.com/office/drawing/2014/main" id="{D51D2B34-D761-440E-A7FC-63A1DBB107A8}"/>
              </a:ext>
            </a:extLst>
          </p:cNvPr>
          <p:cNvSpPr>
            <a:spLocks noGrp="1"/>
          </p:cNvSpPr>
          <p:nvPr/>
        </p:nvSpPr>
        <p:spPr>
          <a:xfrm>
            <a:off x="932688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6">
            <a:extLst>
              <a:ext uri="{FF2B5EF4-FFF2-40B4-BE49-F238E27FC236}">
                <a16:creationId xmlns:a16="http://schemas.microsoft.com/office/drawing/2014/main" id="{724B7487-C16E-499F-99CF-4831A5B794DC}"/>
              </a:ext>
            </a:extLst>
          </p:cNvPr>
          <p:cNvSpPr>
            <a:spLocks noGrp="1"/>
          </p:cNvSpPr>
          <p:nvPr/>
        </p:nvSpPr>
        <p:spPr>
          <a:xfrm>
            <a:off x="1353312" y="3378595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Vite</a:t>
            </a:r>
          </a:p>
        </p:txBody>
      </p:sp>
      <p:sp>
        <p:nvSpPr>
          <p:cNvPr id="111" name="Google Shape;111;p6">
            <a:extLst>
              <a:ext uri="{FF2B5EF4-FFF2-40B4-BE49-F238E27FC236}">
                <a16:creationId xmlns:a16="http://schemas.microsoft.com/office/drawing/2014/main" id="{EA6E780A-1D0A-4828-AD23-801EE07E76B2}"/>
              </a:ext>
            </a:extLst>
          </p:cNvPr>
          <p:cNvSpPr>
            <a:spLocks noGrp="1"/>
          </p:cNvSpPr>
          <p:nvPr/>
        </p:nvSpPr>
        <p:spPr>
          <a:xfrm>
            <a:off x="4325112" y="1298448"/>
            <a:ext cx="3246120" cy="34423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6">
            <a:extLst>
              <a:ext uri="{FF2B5EF4-FFF2-40B4-BE49-F238E27FC236}">
                <a16:creationId xmlns:a16="http://schemas.microsoft.com/office/drawing/2014/main" id="{70409020-25A5-4E02-8776-F281EFE37D92}"/>
              </a:ext>
            </a:extLst>
          </p:cNvPr>
          <p:cNvSpPr>
            <a:spLocks noGrp="1"/>
          </p:cNvSpPr>
          <p:nvPr/>
        </p:nvSpPr>
        <p:spPr>
          <a:xfrm>
            <a:off x="4325112" y="1298448"/>
            <a:ext cx="3246120" cy="621792"/>
          </a:xfrm>
          <a:prstGeom prst="rect">
            <a:avLst/>
          </a:prstGeom>
          <a:solidFill>
            <a:srgbClr val="323C8D"/>
          </a:solidFill>
          <a:ln w="12700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6">
            <a:extLst>
              <a:ext uri="{FF2B5EF4-FFF2-40B4-BE49-F238E27FC236}">
                <a16:creationId xmlns:a16="http://schemas.microsoft.com/office/drawing/2014/main" id="{8158007A-978C-4627-AE60-48F8DB5305CB}"/>
              </a:ext>
            </a:extLst>
          </p:cNvPr>
          <p:cNvSpPr>
            <a:spLocks noGrp="1"/>
          </p:cNvSpPr>
          <p:nvPr/>
        </p:nvSpPr>
        <p:spPr>
          <a:xfrm>
            <a:off x="4325112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14" name="Google Shape;114;p6">
            <a:extLst>
              <a:ext uri="{FF2B5EF4-FFF2-40B4-BE49-F238E27FC236}">
                <a16:creationId xmlns:a16="http://schemas.microsoft.com/office/drawing/2014/main" id="{73E299DC-8BEA-4102-AB80-73D0E3458B83}"/>
              </a:ext>
            </a:extLst>
          </p:cNvPr>
          <p:cNvSpPr>
            <a:spLocks noGrp="1"/>
          </p:cNvSpPr>
          <p:nvPr/>
        </p:nvSpPr>
        <p:spPr>
          <a:xfrm>
            <a:off x="4617720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6">
            <a:extLst>
              <a:ext uri="{FF2B5EF4-FFF2-40B4-BE49-F238E27FC236}">
                <a16:creationId xmlns:a16="http://schemas.microsoft.com/office/drawing/2014/main" id="{E32FF90A-3301-470E-915C-A0203FC419BA}"/>
              </a:ext>
            </a:extLst>
          </p:cNvPr>
          <p:cNvSpPr>
            <a:spLocks noGrp="1"/>
          </p:cNvSpPr>
          <p:nvPr/>
        </p:nvSpPr>
        <p:spPr>
          <a:xfrm>
            <a:off x="5038344" y="213079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Go + Gin</a:t>
            </a:r>
          </a:p>
        </p:txBody>
      </p:sp>
      <p:sp>
        <p:nvSpPr>
          <p:cNvPr id="116" name="Google Shape;116;p6">
            <a:extLst>
              <a:ext uri="{FF2B5EF4-FFF2-40B4-BE49-F238E27FC236}">
                <a16:creationId xmlns:a16="http://schemas.microsoft.com/office/drawing/2014/main" id="{932A8193-AA36-48E9-A895-B976C6A96846}"/>
              </a:ext>
            </a:extLst>
          </p:cNvPr>
          <p:cNvSpPr>
            <a:spLocks noGrp="1"/>
          </p:cNvSpPr>
          <p:nvPr/>
        </p:nvSpPr>
        <p:spPr>
          <a:xfrm>
            <a:off x="4617720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6">
            <a:extLst>
              <a:ext uri="{FF2B5EF4-FFF2-40B4-BE49-F238E27FC236}">
                <a16:creationId xmlns:a16="http://schemas.microsoft.com/office/drawing/2014/main" id="{6AB7CFDB-387F-44BF-BE60-B49FD2D8DDF3}"/>
              </a:ext>
            </a:extLst>
          </p:cNvPr>
          <p:cNvSpPr>
            <a:spLocks noGrp="1"/>
          </p:cNvSpPr>
          <p:nvPr/>
        </p:nvSpPr>
        <p:spPr>
          <a:xfrm>
            <a:off x="5038344" y="275258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REST API</a:t>
            </a:r>
          </a:p>
        </p:txBody>
      </p:sp>
      <p:sp>
        <p:nvSpPr>
          <p:cNvPr id="118" name="Google Shape;118;p6">
            <a:extLst>
              <a:ext uri="{FF2B5EF4-FFF2-40B4-BE49-F238E27FC236}">
                <a16:creationId xmlns:a16="http://schemas.microsoft.com/office/drawing/2014/main" id="{2A7631CA-E158-4642-A219-B2233268A48D}"/>
              </a:ext>
            </a:extLst>
          </p:cNvPr>
          <p:cNvSpPr>
            <a:spLocks noGrp="1"/>
          </p:cNvSpPr>
          <p:nvPr/>
        </p:nvSpPr>
        <p:spPr>
          <a:xfrm>
            <a:off x="4617720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">
            <a:extLst>
              <a:ext uri="{FF2B5EF4-FFF2-40B4-BE49-F238E27FC236}">
                <a16:creationId xmlns:a16="http://schemas.microsoft.com/office/drawing/2014/main" id="{42F833E7-67E2-4755-806B-1890BD9605C2}"/>
              </a:ext>
            </a:extLst>
          </p:cNvPr>
          <p:cNvSpPr>
            <a:spLocks noGrp="1"/>
          </p:cNvSpPr>
          <p:nvPr/>
        </p:nvSpPr>
        <p:spPr>
          <a:xfrm>
            <a:off x="5038344" y="3251265"/>
            <a:ext cx="210312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JWT / refresh-сессии</a:t>
            </a:r>
          </a:p>
        </p:txBody>
      </p:sp>
      <p:sp>
        <p:nvSpPr>
          <p:cNvPr id="120" name="Google Shape;120;p6">
            <a:extLst>
              <a:ext uri="{FF2B5EF4-FFF2-40B4-BE49-F238E27FC236}">
                <a16:creationId xmlns:a16="http://schemas.microsoft.com/office/drawing/2014/main" id="{B0244B62-C21D-4D9D-B697-48CFC7DABB05}"/>
              </a:ext>
            </a:extLst>
          </p:cNvPr>
          <p:cNvSpPr>
            <a:spLocks noGrp="1"/>
          </p:cNvSpPr>
          <p:nvPr/>
        </p:nvSpPr>
        <p:spPr>
          <a:xfrm>
            <a:off x="4617720" y="4040241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6">
            <a:extLst>
              <a:ext uri="{FF2B5EF4-FFF2-40B4-BE49-F238E27FC236}">
                <a16:creationId xmlns:a16="http://schemas.microsoft.com/office/drawing/2014/main" id="{45A0D416-D7A2-4FB8-9B13-3F9CCE075021}"/>
              </a:ext>
            </a:extLst>
          </p:cNvPr>
          <p:cNvSpPr>
            <a:spLocks noGrp="1"/>
          </p:cNvSpPr>
          <p:nvPr/>
        </p:nvSpPr>
        <p:spPr>
          <a:xfrm>
            <a:off x="5038344" y="3994760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Audit log</a:t>
            </a:r>
          </a:p>
        </p:txBody>
      </p:sp>
      <p:sp>
        <p:nvSpPr>
          <p:cNvPr id="122" name="Google Shape;122;p6">
            <a:extLst>
              <a:ext uri="{FF2B5EF4-FFF2-40B4-BE49-F238E27FC236}">
                <a16:creationId xmlns:a16="http://schemas.microsoft.com/office/drawing/2014/main" id="{BAC96732-B5DE-46FF-9C25-7332AF5E5D00}"/>
              </a:ext>
            </a:extLst>
          </p:cNvPr>
          <p:cNvSpPr>
            <a:spLocks noGrp="1"/>
          </p:cNvSpPr>
          <p:nvPr/>
        </p:nvSpPr>
        <p:spPr>
          <a:xfrm>
            <a:off x="8010144" y="1298448"/>
            <a:ext cx="3246120" cy="2741793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">
            <a:extLst>
              <a:ext uri="{FF2B5EF4-FFF2-40B4-BE49-F238E27FC236}">
                <a16:creationId xmlns:a16="http://schemas.microsoft.com/office/drawing/2014/main" id="{BDDBB2C4-562C-4119-A488-94A3643DCA74}"/>
              </a:ext>
            </a:extLst>
          </p:cNvPr>
          <p:cNvSpPr>
            <a:spLocks noGrp="1"/>
          </p:cNvSpPr>
          <p:nvPr/>
        </p:nvSpPr>
        <p:spPr>
          <a:xfrm>
            <a:off x="8010144" y="1298448"/>
            <a:ext cx="3246120" cy="621792"/>
          </a:xfrm>
          <a:prstGeom prst="rect">
            <a:avLst/>
          </a:prstGeom>
          <a:solidFill>
            <a:srgbClr val="C0392B"/>
          </a:solidFill>
          <a:ln w="12700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6">
            <a:extLst>
              <a:ext uri="{FF2B5EF4-FFF2-40B4-BE49-F238E27FC236}">
                <a16:creationId xmlns:a16="http://schemas.microsoft.com/office/drawing/2014/main" id="{7EC7D230-A1A0-4981-A6DA-107003D4B8A8}"/>
              </a:ext>
            </a:extLst>
          </p:cNvPr>
          <p:cNvSpPr>
            <a:spLocks noGrp="1"/>
          </p:cNvSpPr>
          <p:nvPr/>
        </p:nvSpPr>
        <p:spPr>
          <a:xfrm>
            <a:off x="8010144" y="1389888"/>
            <a:ext cx="324612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Данные / DevOps</a:t>
            </a:r>
          </a:p>
        </p:txBody>
      </p:sp>
      <p:sp>
        <p:nvSpPr>
          <p:cNvPr id="125" name="Google Shape;125;p6">
            <a:extLst>
              <a:ext uri="{FF2B5EF4-FFF2-40B4-BE49-F238E27FC236}">
                <a16:creationId xmlns:a16="http://schemas.microsoft.com/office/drawing/2014/main" id="{C2488E6F-F636-49FC-BDA8-E24B24BB9555}"/>
              </a:ext>
            </a:extLst>
          </p:cNvPr>
          <p:cNvSpPr>
            <a:spLocks noGrp="1"/>
          </p:cNvSpPr>
          <p:nvPr/>
        </p:nvSpPr>
        <p:spPr>
          <a:xfrm>
            <a:off x="8302752" y="2176272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6">
            <a:extLst>
              <a:ext uri="{FF2B5EF4-FFF2-40B4-BE49-F238E27FC236}">
                <a16:creationId xmlns:a16="http://schemas.microsoft.com/office/drawing/2014/main" id="{BFC1DC55-27DA-4D51-82D0-8C45A41C36CC}"/>
              </a:ext>
            </a:extLst>
          </p:cNvPr>
          <p:cNvSpPr>
            <a:spLocks noGrp="1"/>
          </p:cNvSpPr>
          <p:nvPr/>
        </p:nvSpPr>
        <p:spPr>
          <a:xfrm>
            <a:off x="8723376" y="2130791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127" name="Google Shape;127;p6">
            <a:extLst>
              <a:ext uri="{FF2B5EF4-FFF2-40B4-BE49-F238E27FC236}">
                <a16:creationId xmlns:a16="http://schemas.microsoft.com/office/drawing/2014/main" id="{11C7A04F-58CC-4AD5-85B2-99B7A2864AD4}"/>
              </a:ext>
            </a:extLst>
          </p:cNvPr>
          <p:cNvSpPr>
            <a:spLocks noGrp="1"/>
          </p:cNvSpPr>
          <p:nvPr/>
        </p:nvSpPr>
        <p:spPr>
          <a:xfrm>
            <a:off x="8302752" y="2798064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6">
            <a:extLst>
              <a:ext uri="{FF2B5EF4-FFF2-40B4-BE49-F238E27FC236}">
                <a16:creationId xmlns:a16="http://schemas.microsoft.com/office/drawing/2014/main" id="{9F8F4216-1538-40FF-9F74-82ADF3D28F46}"/>
              </a:ext>
            </a:extLst>
          </p:cNvPr>
          <p:cNvSpPr>
            <a:spLocks noGrp="1"/>
          </p:cNvSpPr>
          <p:nvPr/>
        </p:nvSpPr>
        <p:spPr>
          <a:xfrm>
            <a:off x="8723376" y="2752583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Миграции</a:t>
            </a:r>
          </a:p>
        </p:txBody>
      </p:sp>
      <p:sp>
        <p:nvSpPr>
          <p:cNvPr id="129" name="Google Shape;129;p6">
            <a:extLst>
              <a:ext uri="{FF2B5EF4-FFF2-40B4-BE49-F238E27FC236}">
                <a16:creationId xmlns:a16="http://schemas.microsoft.com/office/drawing/2014/main" id="{474A9CC7-FE1A-4FCD-A809-263C461997FA}"/>
              </a:ext>
            </a:extLst>
          </p:cNvPr>
          <p:cNvSpPr>
            <a:spLocks noGrp="1"/>
          </p:cNvSpPr>
          <p:nvPr/>
        </p:nvSpPr>
        <p:spPr>
          <a:xfrm>
            <a:off x="8302752" y="3419856"/>
            <a:ext cx="256032" cy="256032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6">
            <a:extLst>
              <a:ext uri="{FF2B5EF4-FFF2-40B4-BE49-F238E27FC236}">
                <a16:creationId xmlns:a16="http://schemas.microsoft.com/office/drawing/2014/main" id="{64A739ED-2D02-481C-B9B3-165739867F11}"/>
              </a:ext>
            </a:extLst>
          </p:cNvPr>
          <p:cNvSpPr>
            <a:spLocks noGrp="1"/>
          </p:cNvSpPr>
          <p:nvPr/>
        </p:nvSpPr>
        <p:spPr>
          <a:xfrm>
            <a:off x="8723376" y="3374375"/>
            <a:ext cx="21031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1F2637"/>
                </a:solidFill>
                <a:latin typeface="Arial"/>
                <a:ea typeface="Arial"/>
                <a:cs typeface="Arial"/>
              </a:rPr>
              <a:t>Docker Compose</a:t>
            </a:r>
          </a:p>
        </p:txBody>
      </p:sp>
    </p:spTree>
    <p:extLst>
      <p:ext uri="{BB962C8B-B14F-4D97-AF65-F5344CB8AC3E}">
        <p14:creationId xmlns:p14="http://schemas.microsoft.com/office/powerpoint/2010/main" val="406420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195;p11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ln>
            <a:noFill/>
          </a:ln>
        </p:spPr>
      </p:pic>
      <p:sp>
        <p:nvSpPr>
          <p:cNvPr id="196" name="Google Shape;196;p11">
            <a:extLst>
              <a:ext uri="{FF2B5EF4-FFF2-40B4-BE49-F238E27FC236}">
                <a16:creationId xmlns:a16="http://schemas.microsoft.com/office/drawing/2014/main" id="{F88FD54B-82D2-4883-8934-09218B4B65F6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</a:rPr>
              <a:t>ER-диаграмма: </a:t>
            </a:r>
            <a:r>
              <a:rPr sz="2400" b="1">
                <a:solidFill>
                  <a:schemeClr val="lt1"/>
                </a:solidFill>
              </a:rPr>
              <a:t>Роли и организации</a:t>
            </a:r>
          </a:p>
        </p:txBody>
      </p:sp>
      <p:sp>
        <p:nvSpPr>
          <p:cNvPr id="197" name="Google Shape;197;p11">
            <a:extLst>
              <a:ext uri="{FF2B5EF4-FFF2-40B4-BE49-F238E27FC236}">
                <a16:creationId xmlns:a16="http://schemas.microsoft.com/office/drawing/2014/main" id="{8EE47EF4-949C-4831-AD3F-6894A7F75295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pic>
        <p:nvPicPr>
          <p:cNvPr id="205" name="Google Shape;199;p11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98888" y="946075"/>
            <a:ext cx="7065185" cy="5546050"/>
          </a:xfrm>
          <a:prstGeom prst="rect">
            <a:avLst/>
          </a:prstGeom>
          <a:ln>
            <a:noFill/>
          </a:ln>
        </p:spPr>
      </p:pic>
      <p:sp>
        <p:nvSpPr>
          <p:cNvPr id="7" name="Google Shape;140;p7">
            <a:extLst>
              <a:ext uri="{FF2B5EF4-FFF2-40B4-BE49-F238E27FC236}">
                <a16:creationId xmlns:a16="http://schemas.microsoft.com/office/drawing/2014/main" id="{31D2B56D-2D31-4A1B-A657-8659008A730E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6</a:t>
            </a:r>
            <a:endParaRPr sz="140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315663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05;p12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20" cy="946080"/>
          </a:xfrm>
          <a:prstGeom prst="rect">
            <a:avLst/>
          </a:prstGeom>
          <a:ln>
            <a:noFill/>
          </a:ln>
        </p:spPr>
      </p:pic>
      <p:sp>
        <p:nvSpPr>
          <p:cNvPr id="206" name="Google Shape;206;p12">
            <a:extLst>
              <a:ext uri="{FF2B5EF4-FFF2-40B4-BE49-F238E27FC236}">
                <a16:creationId xmlns:a16="http://schemas.microsoft.com/office/drawing/2014/main" id="{E81C2E58-EC92-4F4F-BB9F-4E8383B933EE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080" cy="94608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Ключевой сценарий проходит от заявки до управленческого отчета</a:t>
            </a:r>
          </a:p>
        </p:txBody>
      </p:sp>
      <p:sp>
        <p:nvSpPr>
          <p:cNvPr id="207" name="Google Shape;207;p12">
            <a:extLst>
              <a:ext uri="{FF2B5EF4-FFF2-40B4-BE49-F238E27FC236}">
                <a16:creationId xmlns:a16="http://schemas.microsoft.com/office/drawing/2014/main" id="{069F4235-05A5-41B4-AA6F-C2F34A437B26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4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5A6473"/>
                </a:solidFill>
                <a:latin typeface="Calibri"/>
                <a:ea typeface="Calibri"/>
                <a:cs typeface="Calibri"/>
              </a:rPr>
              <a:t>ФГБОУ ВО «МГТУ им. Г.И. Носова» · Институт энергетики и автоматизированных систем</a:t>
            </a:r>
          </a:p>
        </p:txBody>
      </p:sp>
      <p:sp>
        <p:nvSpPr>
          <p:cNvPr id="209" name="Google Shape;209;p12">
            <a:extLst>
              <a:ext uri="{FF2B5EF4-FFF2-40B4-BE49-F238E27FC236}">
                <a16:creationId xmlns:a16="http://schemas.microsoft.com/office/drawing/2014/main" id="{DDD72FDD-EC02-4929-B1FC-C0F805182B2A}"/>
              </a:ext>
            </a:extLst>
          </p:cNvPr>
          <p:cNvSpPr>
            <a:spLocks noGrp="1"/>
          </p:cNvSpPr>
          <p:nvPr/>
        </p:nvSpPr>
        <p:spPr>
          <a:xfrm>
            <a:off x="685800" y="1234440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2">
            <a:extLst>
              <a:ext uri="{FF2B5EF4-FFF2-40B4-BE49-F238E27FC236}">
                <a16:creationId xmlns:a16="http://schemas.microsoft.com/office/drawing/2014/main" id="{8F0C128F-1DE5-49AC-9BCF-EDB8C918142F}"/>
              </a:ext>
            </a:extLst>
          </p:cNvPr>
          <p:cNvSpPr>
            <a:spLocks noGrp="1"/>
          </p:cNvSpPr>
          <p:nvPr/>
        </p:nvSpPr>
        <p:spPr>
          <a:xfrm>
            <a:off x="886968" y="1463040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1" name="Google Shape;211;p12">
            <a:extLst>
              <a:ext uri="{FF2B5EF4-FFF2-40B4-BE49-F238E27FC236}">
                <a16:creationId xmlns:a16="http://schemas.microsoft.com/office/drawing/2014/main" id="{C2C63D65-412A-4440-BE3F-82F70A510325}"/>
              </a:ext>
            </a:extLst>
          </p:cNvPr>
          <p:cNvSpPr>
            <a:spLocks noGrp="1"/>
          </p:cNvSpPr>
          <p:nvPr/>
        </p:nvSpPr>
        <p:spPr>
          <a:xfrm>
            <a:off x="1554480" y="143385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Волонтер</a:t>
            </a:r>
          </a:p>
        </p:txBody>
      </p:sp>
      <p:sp>
        <p:nvSpPr>
          <p:cNvPr id="212" name="Google Shape;212;p12">
            <a:extLst>
              <a:ext uri="{FF2B5EF4-FFF2-40B4-BE49-F238E27FC236}">
                <a16:creationId xmlns:a16="http://schemas.microsoft.com/office/drawing/2014/main" id="{212AADA9-DB32-4B7B-8C82-A793049E8AE8}"/>
              </a:ext>
            </a:extLst>
          </p:cNvPr>
          <p:cNvSpPr>
            <a:spLocks noGrp="1"/>
          </p:cNvSpPr>
          <p:nvPr/>
        </p:nvSpPr>
        <p:spPr>
          <a:xfrm>
            <a:off x="1554480" y="1686145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П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одает заявку на мероприятие</a:t>
            </a:r>
          </a:p>
        </p:txBody>
      </p:sp>
      <p:sp>
        <p:nvSpPr>
          <p:cNvPr id="213" name="Google Shape;213;p12">
            <a:extLst>
              <a:ext uri="{FF2B5EF4-FFF2-40B4-BE49-F238E27FC236}">
                <a16:creationId xmlns:a16="http://schemas.microsoft.com/office/drawing/2014/main" id="{98E6145F-77FC-43A5-9E0D-CFC677321A94}"/>
              </a:ext>
            </a:extLst>
          </p:cNvPr>
          <p:cNvSpPr>
            <a:spLocks noGrp="1"/>
          </p:cNvSpPr>
          <p:nvPr/>
        </p:nvSpPr>
        <p:spPr>
          <a:xfrm>
            <a:off x="6172200" y="1234440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12">
            <a:extLst>
              <a:ext uri="{FF2B5EF4-FFF2-40B4-BE49-F238E27FC236}">
                <a16:creationId xmlns:a16="http://schemas.microsoft.com/office/drawing/2014/main" id="{DB8BFD2B-37E0-444E-824C-1C238C099577}"/>
              </a:ext>
            </a:extLst>
          </p:cNvPr>
          <p:cNvSpPr>
            <a:spLocks noGrp="1"/>
          </p:cNvSpPr>
          <p:nvPr/>
        </p:nvSpPr>
        <p:spPr>
          <a:xfrm>
            <a:off x="6373368" y="1463040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5" name="Google Shape;215;p12">
            <a:extLst>
              <a:ext uri="{FF2B5EF4-FFF2-40B4-BE49-F238E27FC236}">
                <a16:creationId xmlns:a16="http://schemas.microsoft.com/office/drawing/2014/main" id="{99B2FE0B-16A0-491D-9A2A-24EE93F47392}"/>
              </a:ext>
            </a:extLst>
          </p:cNvPr>
          <p:cNvSpPr>
            <a:spLocks noGrp="1"/>
          </p:cNvSpPr>
          <p:nvPr/>
        </p:nvSpPr>
        <p:spPr>
          <a:xfrm>
            <a:off x="7040880" y="1463727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Координатор</a:t>
            </a:r>
          </a:p>
        </p:txBody>
      </p:sp>
      <p:sp>
        <p:nvSpPr>
          <p:cNvPr id="216" name="Google Shape;216;p12">
            <a:extLst>
              <a:ext uri="{FF2B5EF4-FFF2-40B4-BE49-F238E27FC236}">
                <a16:creationId xmlns:a16="http://schemas.microsoft.com/office/drawing/2014/main" id="{28D8FE26-B4D3-4EFD-824F-83654227EA88}"/>
              </a:ext>
            </a:extLst>
          </p:cNvPr>
          <p:cNvSpPr>
            <a:spLocks noGrp="1"/>
          </p:cNvSpPr>
          <p:nvPr/>
        </p:nvSpPr>
        <p:spPr>
          <a:xfrm>
            <a:off x="7040880" y="1716022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Р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ассматривает заявку и фиксирует участие</a:t>
            </a:r>
          </a:p>
        </p:txBody>
      </p:sp>
      <p:sp>
        <p:nvSpPr>
          <p:cNvPr id="217" name="Google Shape;217;p12">
            <a:extLst>
              <a:ext uri="{FF2B5EF4-FFF2-40B4-BE49-F238E27FC236}">
                <a16:creationId xmlns:a16="http://schemas.microsoft.com/office/drawing/2014/main" id="{81A38ACE-7034-4106-9384-D090D6EA7414}"/>
              </a:ext>
            </a:extLst>
          </p:cNvPr>
          <p:cNvSpPr>
            <a:spLocks noGrp="1"/>
          </p:cNvSpPr>
          <p:nvPr/>
        </p:nvSpPr>
        <p:spPr>
          <a:xfrm>
            <a:off x="685800" y="2532888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12">
            <a:extLst>
              <a:ext uri="{FF2B5EF4-FFF2-40B4-BE49-F238E27FC236}">
                <a16:creationId xmlns:a16="http://schemas.microsoft.com/office/drawing/2014/main" id="{665AA225-DB69-4DA8-B064-0907106E4052}"/>
              </a:ext>
            </a:extLst>
          </p:cNvPr>
          <p:cNvSpPr>
            <a:spLocks noGrp="1"/>
          </p:cNvSpPr>
          <p:nvPr/>
        </p:nvSpPr>
        <p:spPr>
          <a:xfrm>
            <a:off x="886968" y="2761488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 w="9525" cmpd="sng">
            <a:solidFill>
              <a:srgbClr val="C0392B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9" name="Google Shape;219;p12">
            <a:extLst>
              <a:ext uri="{FF2B5EF4-FFF2-40B4-BE49-F238E27FC236}">
                <a16:creationId xmlns:a16="http://schemas.microsoft.com/office/drawing/2014/main" id="{579B4FD3-52FD-4512-A44B-DB4A292AC6E5}"/>
              </a:ext>
            </a:extLst>
          </p:cNvPr>
          <p:cNvSpPr>
            <a:spLocks noGrp="1"/>
          </p:cNvSpPr>
          <p:nvPr/>
        </p:nvSpPr>
        <p:spPr>
          <a:xfrm>
            <a:off x="1554480" y="2644595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Система</a:t>
            </a:r>
          </a:p>
        </p:txBody>
      </p:sp>
      <p:sp>
        <p:nvSpPr>
          <p:cNvPr id="220" name="Google Shape;220;p12">
            <a:extLst>
              <a:ext uri="{FF2B5EF4-FFF2-40B4-BE49-F238E27FC236}">
                <a16:creationId xmlns:a16="http://schemas.microsoft.com/office/drawing/2014/main" id="{D8D5801C-D0AD-4D2F-ADB7-32A2B99B520A}"/>
              </a:ext>
            </a:extLst>
          </p:cNvPr>
          <p:cNvSpPr>
            <a:spLocks noGrp="1"/>
          </p:cNvSpPr>
          <p:nvPr/>
        </p:nvSpPr>
        <p:spPr>
          <a:xfrm>
            <a:off x="1554480" y="2875842"/>
            <a:ext cx="379476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Связывает мероприятие, задачу и запись времени</a:t>
            </a:r>
          </a:p>
        </p:txBody>
      </p:sp>
      <p:sp>
        <p:nvSpPr>
          <p:cNvPr id="221" name="Google Shape;221;p12">
            <a:extLst>
              <a:ext uri="{FF2B5EF4-FFF2-40B4-BE49-F238E27FC236}">
                <a16:creationId xmlns:a16="http://schemas.microsoft.com/office/drawing/2014/main" id="{CE8E3A7A-0BD0-40DE-AA72-1CA0BD63AC6D}"/>
              </a:ext>
            </a:extLst>
          </p:cNvPr>
          <p:cNvSpPr>
            <a:spLocks noGrp="1"/>
          </p:cNvSpPr>
          <p:nvPr/>
        </p:nvSpPr>
        <p:spPr>
          <a:xfrm>
            <a:off x="6172200" y="2532888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12">
            <a:extLst>
              <a:ext uri="{FF2B5EF4-FFF2-40B4-BE49-F238E27FC236}">
                <a16:creationId xmlns:a16="http://schemas.microsoft.com/office/drawing/2014/main" id="{B13D9493-0A30-4BAF-A670-3855B3B96F56}"/>
              </a:ext>
            </a:extLst>
          </p:cNvPr>
          <p:cNvSpPr>
            <a:spLocks noGrp="1"/>
          </p:cNvSpPr>
          <p:nvPr/>
        </p:nvSpPr>
        <p:spPr>
          <a:xfrm>
            <a:off x="6373368" y="2761488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2E5AAC"/>
          </a:solidFill>
          <a:ln w="9525" cmpd="sng">
            <a:solidFill>
              <a:srgbClr val="2E5AAC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3" name="Google Shape;223;p12">
            <a:extLst>
              <a:ext uri="{FF2B5EF4-FFF2-40B4-BE49-F238E27FC236}">
                <a16:creationId xmlns:a16="http://schemas.microsoft.com/office/drawing/2014/main" id="{23106BB1-562D-45E0-9F10-7B41B0D643F2}"/>
              </a:ext>
            </a:extLst>
          </p:cNvPr>
          <p:cNvSpPr>
            <a:spLocks noGrp="1"/>
          </p:cNvSpPr>
          <p:nvPr/>
        </p:nvSpPr>
        <p:spPr>
          <a:xfrm>
            <a:off x="7040880" y="2762175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Координатор</a:t>
            </a:r>
          </a:p>
        </p:txBody>
      </p:sp>
      <p:sp>
        <p:nvSpPr>
          <p:cNvPr id="224" name="Google Shape;224;p12">
            <a:extLst>
              <a:ext uri="{FF2B5EF4-FFF2-40B4-BE49-F238E27FC236}">
                <a16:creationId xmlns:a16="http://schemas.microsoft.com/office/drawing/2014/main" id="{6CE73275-CBBF-401B-9BFF-850171EF8BA3}"/>
              </a:ext>
            </a:extLst>
          </p:cNvPr>
          <p:cNvSpPr>
            <a:spLocks noGrp="1"/>
          </p:cNvSpPr>
          <p:nvPr/>
        </p:nvSpPr>
        <p:spPr>
          <a:xfrm>
            <a:off x="7040880" y="3014470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П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одтверждает часы по основанию</a:t>
            </a:r>
          </a:p>
        </p:txBody>
      </p:sp>
      <p:sp>
        <p:nvSpPr>
          <p:cNvPr id="225" name="Google Shape;225;p12">
            <a:extLst>
              <a:ext uri="{FF2B5EF4-FFF2-40B4-BE49-F238E27FC236}">
                <a16:creationId xmlns:a16="http://schemas.microsoft.com/office/drawing/2014/main" id="{E034C2F9-80B4-4FEC-ABFF-3E1409AB7821}"/>
              </a:ext>
            </a:extLst>
          </p:cNvPr>
          <p:cNvSpPr>
            <a:spLocks noGrp="1"/>
          </p:cNvSpPr>
          <p:nvPr/>
        </p:nvSpPr>
        <p:spPr>
          <a:xfrm>
            <a:off x="685800" y="3831335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2">
            <a:extLst>
              <a:ext uri="{FF2B5EF4-FFF2-40B4-BE49-F238E27FC236}">
                <a16:creationId xmlns:a16="http://schemas.microsoft.com/office/drawing/2014/main" id="{79FEE43B-C405-488B-A7CD-687D0DA18819}"/>
              </a:ext>
            </a:extLst>
          </p:cNvPr>
          <p:cNvSpPr>
            <a:spLocks noGrp="1"/>
          </p:cNvSpPr>
          <p:nvPr/>
        </p:nvSpPr>
        <p:spPr>
          <a:xfrm>
            <a:off x="886968" y="4059935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1F9D72"/>
          </a:solidFill>
          <a:ln w="9525" cmpd="sng">
            <a:solidFill>
              <a:srgbClr val="1F9D72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27" name="Google Shape;227;p12">
            <a:extLst>
              <a:ext uri="{FF2B5EF4-FFF2-40B4-BE49-F238E27FC236}">
                <a16:creationId xmlns:a16="http://schemas.microsoft.com/office/drawing/2014/main" id="{DAC0A0CB-E4E8-4DCD-BD99-434E6EF10ECF}"/>
              </a:ext>
            </a:extLst>
          </p:cNvPr>
          <p:cNvSpPr>
            <a:spLocks noGrp="1"/>
          </p:cNvSpPr>
          <p:nvPr/>
        </p:nvSpPr>
        <p:spPr>
          <a:xfrm>
            <a:off x="1554480" y="3900201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Пульс</a:t>
            </a:r>
          </a:p>
        </p:txBody>
      </p:sp>
      <p:sp>
        <p:nvSpPr>
          <p:cNvPr id="228" name="Google Shape;228;p12">
            <a:extLst>
              <a:ext uri="{FF2B5EF4-FFF2-40B4-BE49-F238E27FC236}">
                <a16:creationId xmlns:a16="http://schemas.microsoft.com/office/drawing/2014/main" id="{DE0559D8-BBEE-4A80-BBB9-F8F6B20FA9E5}"/>
              </a:ext>
            </a:extLst>
          </p:cNvPr>
          <p:cNvSpPr>
            <a:spLocks noGrp="1"/>
          </p:cNvSpPr>
          <p:nvPr/>
        </p:nvSpPr>
        <p:spPr>
          <a:xfrm>
            <a:off x="1554480" y="4172467"/>
            <a:ext cx="379476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Н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ачисляет достижения и формирует сертификат</a:t>
            </a:r>
          </a:p>
        </p:txBody>
      </p:sp>
      <p:sp>
        <p:nvSpPr>
          <p:cNvPr id="229" name="Google Shape;229;p12">
            <a:extLst>
              <a:ext uri="{FF2B5EF4-FFF2-40B4-BE49-F238E27FC236}">
                <a16:creationId xmlns:a16="http://schemas.microsoft.com/office/drawing/2014/main" id="{77519149-0925-4766-87C3-5E28A4D15CBE}"/>
              </a:ext>
            </a:extLst>
          </p:cNvPr>
          <p:cNvSpPr>
            <a:spLocks noGrp="1"/>
          </p:cNvSpPr>
          <p:nvPr/>
        </p:nvSpPr>
        <p:spPr>
          <a:xfrm>
            <a:off x="6172200" y="3831335"/>
            <a:ext cx="5120640" cy="9326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mpd="sng">
            <a:solidFill>
              <a:srgbClr val="EAECF6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2">
            <a:extLst>
              <a:ext uri="{FF2B5EF4-FFF2-40B4-BE49-F238E27FC236}">
                <a16:creationId xmlns:a16="http://schemas.microsoft.com/office/drawing/2014/main" id="{99623088-5E7B-43B9-8FBB-03A13D38BCA0}"/>
              </a:ext>
            </a:extLst>
          </p:cNvPr>
          <p:cNvSpPr>
            <a:spLocks noGrp="1"/>
          </p:cNvSpPr>
          <p:nvPr/>
        </p:nvSpPr>
        <p:spPr>
          <a:xfrm>
            <a:off x="6373368" y="4059935"/>
            <a:ext cx="475488" cy="475488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9525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1" name="Google Shape;231;p12">
            <a:extLst>
              <a:ext uri="{FF2B5EF4-FFF2-40B4-BE49-F238E27FC236}">
                <a16:creationId xmlns:a16="http://schemas.microsoft.com/office/drawing/2014/main" id="{A8B68E4B-F291-4A35-9DA5-72FEFDF9AD92}"/>
              </a:ext>
            </a:extLst>
          </p:cNvPr>
          <p:cNvSpPr>
            <a:spLocks noGrp="1"/>
          </p:cNvSpPr>
          <p:nvPr/>
        </p:nvSpPr>
        <p:spPr>
          <a:xfrm>
            <a:off x="7040880" y="4060622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2E5AAC"/>
                </a:solidFill>
                <a:latin typeface="Arial"/>
                <a:ea typeface="Arial"/>
                <a:cs typeface="Arial"/>
              </a:rPr>
              <a:t>Руководитель</a:t>
            </a:r>
          </a:p>
        </p:txBody>
      </p:sp>
      <p:sp>
        <p:nvSpPr>
          <p:cNvPr id="232" name="Google Shape;232;p12">
            <a:extLst>
              <a:ext uri="{FF2B5EF4-FFF2-40B4-BE49-F238E27FC236}">
                <a16:creationId xmlns:a16="http://schemas.microsoft.com/office/drawing/2014/main" id="{F4301448-F0EE-425C-BF00-534D9FDA4B16}"/>
              </a:ext>
            </a:extLst>
          </p:cNvPr>
          <p:cNvSpPr>
            <a:spLocks noGrp="1"/>
          </p:cNvSpPr>
          <p:nvPr/>
        </p:nvSpPr>
        <p:spPr>
          <a:xfrm>
            <a:off x="7040880" y="4289222"/>
            <a:ext cx="3794760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50">
                <a:solidFill>
                  <a:srgbClr val="1F2637"/>
                </a:solidFill>
                <a:latin typeface="Arial"/>
                <a:ea typeface="Arial"/>
                <a:cs typeface="Arial"/>
              </a:rPr>
              <a:t>В</a:t>
            </a:r>
            <a:r>
              <a:rPr sz="1350" b="0">
                <a:solidFill>
                  <a:srgbClr val="1F2637"/>
                </a:solidFill>
                <a:latin typeface="Arial"/>
                <a:ea typeface="Arial"/>
                <a:cs typeface="Arial"/>
              </a:rPr>
              <a:t>идит KPI и выгружает отчет</a:t>
            </a:r>
          </a:p>
        </p:txBody>
      </p:sp>
      <p:sp>
        <p:nvSpPr>
          <p:cNvPr id="233" name="Google Shape;233;p12">
            <a:extLst>
              <a:ext uri="{FF2B5EF4-FFF2-40B4-BE49-F238E27FC236}">
                <a16:creationId xmlns:a16="http://schemas.microsoft.com/office/drawing/2014/main" id="{D4184504-721D-4569-B75A-3E5D3DD2CAE5}"/>
              </a:ext>
            </a:extLst>
          </p:cNvPr>
          <p:cNvSpPr>
            <a:spLocks noGrp="1"/>
          </p:cNvSpPr>
          <p:nvPr/>
        </p:nvSpPr>
        <p:spPr>
          <a:xfrm>
            <a:off x="685800" y="5422391"/>
            <a:ext cx="10561320" cy="665381"/>
          </a:xfrm>
          <a:prstGeom prst="roundRect">
            <a:avLst>
              <a:gd name="adj" fmla="val 16667"/>
            </a:avLst>
          </a:prstGeom>
          <a:solidFill>
            <a:srgbClr val="323C8D"/>
          </a:solidFill>
          <a:ln w="12700" cmpd="sng">
            <a:solidFill>
              <a:srgbClr val="323C8D"/>
            </a:solidFill>
            <a:prstDash val="solid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12">
            <a:extLst>
              <a:ext uri="{FF2B5EF4-FFF2-40B4-BE49-F238E27FC236}">
                <a16:creationId xmlns:a16="http://schemas.microsoft.com/office/drawing/2014/main" id="{24DC5E28-026A-4FCA-9B79-A201CFA143C4}"/>
              </a:ext>
            </a:extLst>
          </p:cNvPr>
          <p:cNvSpPr>
            <a:spLocks noGrp="1"/>
          </p:cNvSpPr>
          <p:nvPr/>
        </p:nvSpPr>
        <p:spPr>
          <a:xfrm>
            <a:off x="914400" y="5466704"/>
            <a:ext cx="10012680" cy="5078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spAutoFit/>
          </a:bodyPr>
          <a:lstStyle/>
          <a:p>
            <a:pPr algn="ctr"/>
            <a:r>
              <a:rPr lang="ru-RU" sz="1350" b="1" dirty="0">
                <a:solidFill>
                  <a:srgbClr val="FFFFFF"/>
                </a:solidFill>
                <a:ea typeface="Arial"/>
                <a:cs typeface="Arial"/>
              </a:rPr>
              <a:t>Главный результат сценария: управленческие показатели строятся на подтвержденных операционных данных, а не на ручном сведении таблиц.</a:t>
            </a:r>
            <a:endParaRPr sz="13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Google Shape;140;p7">
            <a:extLst>
              <a:ext uri="{FF2B5EF4-FFF2-40B4-BE49-F238E27FC236}">
                <a16:creationId xmlns:a16="http://schemas.microsoft.com/office/drawing/2014/main" id="{31D2B56D-2D31-4A1B-A657-8659008A730E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7</a:t>
            </a:r>
            <a:endParaRPr sz="140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1741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0;p15"/>
          <p:cNvPicPr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88518" cy="946080"/>
          </a:xfrm>
          <a:prstGeom prst="rect">
            <a:avLst/>
          </a:prstGeom>
          <a:ln>
            <a:noFill/>
          </a:ln>
        </p:spPr>
      </p:pic>
      <p:sp>
        <p:nvSpPr>
          <p:cNvPr id="261" name="Google Shape;261;p15">
            <a:extLst>
              <a:ext uri="{FF2B5EF4-FFF2-40B4-BE49-F238E27FC236}">
                <a16:creationId xmlns:a16="http://schemas.microsoft.com/office/drawing/2014/main" id="{C6EA2FA4-34EC-463E-932A-3CFEEF327317}"/>
              </a:ext>
            </a:extLst>
          </p:cNvPr>
          <p:cNvSpPr>
            <a:spLocks noGrp="1"/>
          </p:cNvSpPr>
          <p:nvPr/>
        </p:nvSpPr>
        <p:spPr>
          <a:xfrm>
            <a:off x="1325880" y="0"/>
            <a:ext cx="9811200" cy="946200"/>
          </a:xfrm>
          <a:prstGeom prst="rect">
            <a:avLst/>
          </a:prstGeom>
          <a:noFill/>
          <a:ln>
            <a:noFill/>
          </a:ln>
          <a:effectLst>
            <a:outerShdw blurRad="38160" dist="12600" dir="5400000" algn="bl" rotWithShape="0">
              <a:srgbClr val="1A2050">
                <a:alpha val="40000"/>
              </a:srgbClr>
            </a:outerShdw>
          </a:effectLst>
        </p:spPr>
        <p:txBody>
          <a:bodyPr spcFirstLastPara="1" wrap="square" lIns="0" tIns="0" rIns="0" bIns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>
                <a:solidFill>
                  <a:srgbClr val="FFFFFF"/>
                </a:solidFill>
              </a:rPr>
              <a:t>Логика бизнес процесса</a:t>
            </a:r>
          </a:p>
        </p:txBody>
      </p:sp>
      <p:sp>
        <p:nvSpPr>
          <p:cNvPr id="262" name="Google Shape;262;p15">
            <a:extLst>
              <a:ext uri="{FF2B5EF4-FFF2-40B4-BE49-F238E27FC236}">
                <a16:creationId xmlns:a16="http://schemas.microsoft.com/office/drawing/2014/main" id="{CF83BAD6-EA0F-45FF-A6BD-4BE62A428448}"/>
              </a:ext>
            </a:extLst>
          </p:cNvPr>
          <p:cNvSpPr>
            <a:spLocks noGrp="1"/>
          </p:cNvSpPr>
          <p:nvPr/>
        </p:nvSpPr>
        <p:spPr>
          <a:xfrm>
            <a:off x="640080" y="6492240"/>
            <a:ext cx="86865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0" name="Google Shape;264;p15"/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0000" y="946075"/>
            <a:ext cx="10504474" cy="5911924"/>
          </a:xfrm>
          <a:prstGeom prst="rect">
            <a:avLst/>
          </a:prstGeom>
          <a:ln>
            <a:noFill/>
          </a:ln>
        </p:spPr>
      </p:pic>
      <p:sp>
        <p:nvSpPr>
          <p:cNvPr id="7" name="Google Shape;140;p7">
            <a:extLst>
              <a:ext uri="{FF2B5EF4-FFF2-40B4-BE49-F238E27FC236}">
                <a16:creationId xmlns:a16="http://schemas.microsoft.com/office/drawing/2014/main" id="{31D2B56D-2D31-4A1B-A657-8659008A730E}"/>
              </a:ext>
            </a:extLst>
          </p:cNvPr>
          <p:cNvSpPr>
            <a:spLocks noGrp="1"/>
          </p:cNvSpPr>
          <p:nvPr/>
        </p:nvSpPr>
        <p:spPr>
          <a:xfrm>
            <a:off x="11274480" y="6492240"/>
            <a:ext cx="456840" cy="27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rgbClr val="5B6476"/>
                </a:solidFill>
                <a:latin typeface="Arial"/>
                <a:ea typeface="Arial"/>
                <a:cs typeface="Arial"/>
              </a:rPr>
              <a:t>8</a:t>
            </a:r>
            <a:endParaRPr sz="1400" b="0" dirty="0">
              <a:solidFill>
                <a:srgbClr val="5B6476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51890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8">
            <a:extLst>
              <a:ext uri="{FF2B5EF4-FFF2-40B4-BE49-F238E27FC236}">
                <a16:creationId xmlns:a16="http://schemas.microsoft.com/office/drawing/2014/main" id="{FED92E28-8BB3-4F05-92EE-C303252150BD}"/>
              </a:ext>
            </a:extLst>
          </p:cNvPr>
          <p:cNvSpPr>
            <a:spLocks noGrp="1"/>
          </p:cNvSpPr>
          <p:nvPr/>
        </p:nvSpPr>
        <p:spPr>
          <a:xfrm>
            <a:off x="1828800" y="2651760"/>
            <a:ext cx="9600840" cy="1096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200" b="1">
                <a:solidFill>
                  <a:srgbClr val="323C8D"/>
                </a:solidFill>
                <a:latin typeface="Arial"/>
                <a:ea typeface="Arial"/>
                <a:cs typeface="Arial"/>
              </a:rPr>
              <a:t>Спасибо за внимание!</a:t>
            </a:r>
          </a:p>
        </p:txBody>
      </p:sp>
      <p:sp>
        <p:nvSpPr>
          <p:cNvPr id="346" name="Google Shape;346;p18">
            <a:extLst>
              <a:ext uri="{FF2B5EF4-FFF2-40B4-BE49-F238E27FC236}">
                <a16:creationId xmlns:a16="http://schemas.microsoft.com/office/drawing/2014/main" id="{6AC3D503-2E39-41AB-AF34-1AE00D01B300}"/>
              </a:ext>
            </a:extLst>
          </p:cNvPr>
          <p:cNvSpPr>
            <a:spLocks noGrp="1"/>
          </p:cNvSpPr>
          <p:nvPr/>
        </p:nvSpPr>
        <p:spPr>
          <a:xfrm>
            <a:off x="1828800" y="3840480"/>
            <a:ext cx="9600840" cy="548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5000" rIns="90000" bIns="4500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5B6476"/>
                </a:solidFill>
                <a:latin typeface="Arial"/>
                <a:ea typeface="Arial"/>
                <a:cs typeface="Arial"/>
              </a:rPr>
              <a:t>Информационная система «Пульс»: заявки, задачи, часы, достижения, сертификаты и аналитика в едином контуре</a:t>
            </a:r>
          </a:p>
        </p:txBody>
      </p:sp>
    </p:spTree>
    <p:extLst>
      <p:ext uri="{BB962C8B-B14F-4D97-AF65-F5344CB8AC3E}">
        <p14:creationId xmlns:p14="http://schemas.microsoft.com/office/powerpoint/2010/main" val="1326003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447</Words>
  <Application>Microsoft Office PowerPoint</Application>
  <DocSecurity>0</DocSecurity>
  <PresentationFormat>Широкоэкранный</PresentationFormat>
  <Paragraphs>83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Павел</cp:lastModifiedBy>
  <cp:revision>5</cp:revision>
  <dcterms:created xsi:type="dcterms:W3CDTF">2026-06-18T09:19:27Z</dcterms:created>
  <dcterms:modified xsi:type="dcterms:W3CDTF">2026-06-18T19:29:23Z</dcterms:modified>
</cp:coreProperties>
</file>