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c79b6855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g3ec79b6855f_0_0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ec79b6855f_0_0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c79b6855f_0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ec79b6855f_0_97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ec79b6855f_0_97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c79b6855f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g3ec79b6855f_0_106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ec79b6855f_0_106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c79b6855f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g3ec79b6855f_0_115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ec79b6855f_0_115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c79b6855f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g3ec79b6855f_0_130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ec79b6855f_0_130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c79b6855f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g3ec79b6855f_0_141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ec79b6855f_0_141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c79b6855f_0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g3ec79b6855f_0_156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ec79b6855f_0_156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10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1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1947600" y="320040"/>
            <a:ext cx="9966600" cy="155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Министерство науки и высшего образования Российской Федерации</a:t>
            </a:r>
            <a:br>
              <a:rPr b="0" i="0" lang="en-US" sz="1400" u="none" cap="none" strike="noStrike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ФГБОУ ВО «Магнитогорский государственный технический университет им. Г.И. Носова»</a:t>
            </a:r>
            <a:br>
              <a:rPr b="0" i="0" lang="en-US" sz="1400" u="none" cap="none" strike="noStrike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Институт энергетики и автоматизированных систем · Кафедра ВТиП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792080" y="2468880"/>
            <a:ext cx="10058040" cy="21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323C8D"/>
                </a:solidFill>
                <a:latin typeface="Arial"/>
                <a:ea typeface="Arial"/>
                <a:cs typeface="Arial"/>
                <a:sym typeface="Arial"/>
              </a:rPr>
              <a:t>ПРОЕКТИРОВАНИЕ И РАЗРАБОТКА ИНФОРМАЦИОННОЙ СИСТЕМЫ УПРАВЛЕНИЯ ВОЛОНТЕРАМИ С ЭЛЕМЕНТАМИ ГЕЙМИФИКАЦИИ И АНАЛИТИКИ</a:t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18760" y="5650920"/>
            <a:ext cx="8595000" cy="868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Выполнил: обучающийся Зозин П.А.</a:t>
            </a:r>
            <a:br>
              <a:rPr b="0" i="0" lang="en-US" sz="1400" u="none" cap="none" strike="noStrike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Направление 09.03.01 — Информатика и вычислительная техника</a:t>
            </a:r>
            <a:br>
              <a:rPr b="0" i="0" lang="en-US" sz="1400" u="none" cap="none" strike="noStrike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Руководитель: доцент кафедры ВТиП, к.п.н. Гладышева М.М.</a:t>
            </a:r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058400" y="6510600"/>
            <a:ext cx="182844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Магнитогорск, 2026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r.png"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>
            <a:noFill/>
          </a:ln>
          <a:effectLst>
            <a:outerShdw blurRad="38160" rotWithShape="0" algn="bl" dir="5400000" dist="12600">
              <a:srgbClr val="1A205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Цель, объект, предмет и задачи работы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ФГБОУ ВО «МГТУ им. Г.И. Носова» · Институт энергетики и автоматизированных систем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1143000"/>
            <a:ext cx="10881360" cy="1143000"/>
          </a:xfrm>
          <a:prstGeom prst="roundRect">
            <a:avLst>
              <a:gd fmla="val 16667" name="adj"/>
            </a:avLst>
          </a:prstGeom>
          <a:solidFill>
            <a:srgbClr val="323C8D"/>
          </a:solidFill>
          <a:ln cap="flat" cmpd="sng" w="12700">
            <a:solidFill>
              <a:srgbClr val="323C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868680" y="155300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ЦЕЛЬ</a:t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1920240" y="1257407"/>
            <a:ext cx="9144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Повысить эффективность управления волонтерской деятельностью за счет разработки web-ориентированной информационной системы «Пульс» с учетом заявок, задач, часов, сертификатов, геймификации и аналитики.</a:t>
            </a:r>
            <a:endParaRPr b="0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40080" y="2514600"/>
            <a:ext cx="525780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868680" y="2820924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ОБЪЕКТ</a:t>
            </a:r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1874519" y="2671941"/>
            <a:ext cx="37033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Процесс управления</a:t>
            </a:r>
            <a:r>
              <a:rPr b="0" lang="en-US" sz="15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 волонтерской деятельностью в организации</a:t>
            </a:r>
            <a:endParaRPr b="0" sz="1500">
              <a:solidFill>
                <a:srgbClr val="1F26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172200" y="2514600"/>
            <a:ext cx="534924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6400800" y="278892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ПРЕДМЕТ</a:t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7635240" y="2661791"/>
            <a:ext cx="36118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Информационная система «Пульс» и связанные пользовательские сценарии</a:t>
            </a:r>
            <a:endParaRPr b="0" sz="1400">
              <a:solidFill>
                <a:srgbClr val="1F26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737575" y="3657600"/>
            <a:ext cx="9509400" cy="80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985644" y="3919610"/>
            <a:ext cx="628200" cy="310800"/>
          </a:xfrm>
          <a:prstGeom prst="roundRect">
            <a:avLst>
              <a:gd fmla="val 16667" name="adj"/>
            </a:avLst>
          </a:prstGeom>
          <a:solidFill>
            <a:srgbClr val="2E5AAC"/>
          </a:solidFill>
          <a:ln cap="flat" cmpd="sng" w="9525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2812549" y="3797950"/>
            <a:ext cx="8020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Провести теоретико–информационный анализ управления волонтерской деятельностью, существующих решений и сформировать дерево целей и требования к Пульс</a:t>
            </a:r>
            <a:endParaRPr b="1" sz="1300"/>
          </a:p>
        </p:txBody>
      </p:sp>
      <p:sp>
        <p:nvSpPr>
          <p:cNvPr id="43" name="Google Shape;43;p4"/>
          <p:cNvSpPr/>
          <p:nvPr/>
        </p:nvSpPr>
        <p:spPr>
          <a:xfrm>
            <a:off x="1737575" y="4568800"/>
            <a:ext cx="9509400" cy="80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985644" y="4867322"/>
            <a:ext cx="628200" cy="310800"/>
          </a:xfrm>
          <a:prstGeom prst="roundRect">
            <a:avLst>
              <a:gd fmla="val 16667" name="adj"/>
            </a:avLst>
          </a:prstGeom>
          <a:solidFill>
            <a:srgbClr val="2E5AAC"/>
          </a:solidFill>
          <a:ln cap="flat" cmpd="sng" w="9525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</a:rPr>
              <a:t>2</a:t>
            </a:r>
            <a:endParaRPr b="1" sz="1300">
              <a:solidFill>
                <a:srgbClr val="FFFFFF"/>
              </a:solidFill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2812540" y="4695990"/>
            <a:ext cx="8020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Спроектировать и реализовать информационную систему Пульс, включая архитектуру, модели данных, алгоритмы, интерфейс и визуализацию итогов</a:t>
            </a:r>
            <a:endParaRPr b="1" sz="1300"/>
          </a:p>
        </p:txBody>
      </p:sp>
      <p:sp>
        <p:nvSpPr>
          <p:cNvPr id="46" name="Google Shape;46;p4"/>
          <p:cNvSpPr/>
          <p:nvPr/>
        </p:nvSpPr>
        <p:spPr>
          <a:xfrm>
            <a:off x="1737575" y="5466925"/>
            <a:ext cx="9509400" cy="80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985644" y="5715710"/>
            <a:ext cx="628200" cy="310800"/>
          </a:xfrm>
          <a:prstGeom prst="roundRect">
            <a:avLst>
              <a:gd fmla="val 16667" name="adj"/>
            </a:avLst>
          </a:prstGeom>
          <a:solidFill>
            <a:srgbClr val="2E5AAC"/>
          </a:solidFill>
          <a:ln cap="flat" cmpd="sng" w="9525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2812540" y="5574927"/>
            <a:ext cx="8020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Провести проверку работоспособности и оценить результаты эксплуатации Пульс на ключевых пользовательских сценариях</a:t>
            </a:r>
            <a:endParaRPr b="1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r.png" id="54" name="Google Shape;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>
            <a:noFill/>
          </a:ln>
          <a:effectLst>
            <a:outerShdw blurRad="38160" rotWithShape="0" algn="bl" dir="5400000" dist="12600">
              <a:srgbClr val="1A205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Анализ аналогов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ФГБОУ ВО «МГТУ им. Г.И. Носова» · Институт энергетики и автоматизированных систем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40080" y="1234440"/>
            <a:ext cx="246888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353312" y="1508760"/>
            <a:ext cx="1024128" cy="658368"/>
          </a:xfrm>
          <a:prstGeom prst="roundRect">
            <a:avLst>
              <a:gd fmla="val 16667" name="adj"/>
            </a:avLst>
          </a:prstGeom>
          <a:solidFill>
            <a:srgbClr val="2E5AAC"/>
          </a:solidFill>
          <a:ln cap="flat" cmpd="sng" w="9525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60" name="Google Shape;60;p5"/>
          <p:cNvSpPr txBox="1"/>
          <p:nvPr/>
        </p:nvSpPr>
        <p:spPr>
          <a:xfrm>
            <a:off x="822959" y="233172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Добро.рф</a:t>
            </a:r>
            <a:endParaRPr/>
          </a:p>
        </p:txBody>
      </p:sp>
      <p:sp>
        <p:nvSpPr>
          <p:cNvPr id="61" name="Google Shape;61;p5"/>
          <p:cNvSpPr txBox="1"/>
          <p:nvPr/>
        </p:nvSpPr>
        <p:spPr>
          <a:xfrm>
            <a:off x="896112" y="2816352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М</a:t>
            </a:r>
            <a:r>
              <a:rPr b="0" lang="en-US" sz="116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асштабная публичная экосистема, но не локальное пространство организации</a:t>
            </a:r>
            <a:endParaRPr b="0" sz="1160">
              <a:solidFill>
                <a:srgbClr val="5B64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447287" y="1234440"/>
            <a:ext cx="246888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160520" y="1508760"/>
            <a:ext cx="1024128" cy="658368"/>
          </a:xfrm>
          <a:prstGeom prst="roundRect">
            <a:avLst>
              <a:gd fmla="val 16667" name="adj"/>
            </a:avLst>
          </a:prstGeom>
          <a:solidFill>
            <a:srgbClr val="323C8D"/>
          </a:solidFill>
          <a:ln cap="flat" cmpd="sng" w="9525">
            <a:solidFill>
              <a:srgbClr val="323C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I/V</a:t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3630168" y="233172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Idealist / VolunteerMatch</a:t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3703320" y="2913900"/>
            <a:ext cx="1965960" cy="627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С</a:t>
            </a:r>
            <a:r>
              <a:rPr b="0" lang="en-US" sz="116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ильный поиск возможностей, но слабый учет внутреннего вклада</a:t>
            </a:r>
            <a:endParaRPr b="0" sz="1160">
              <a:solidFill>
                <a:srgbClr val="5B64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254496" y="1234440"/>
            <a:ext cx="246888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967728" y="1508760"/>
            <a:ext cx="1024128" cy="658368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 cap="flat" cmpd="sng" w="9525">
            <a:solidFill>
              <a:srgbClr val="C039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6437376" y="233172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Timecounts</a:t>
            </a:r>
            <a:endParaRPr/>
          </a:p>
        </p:txBody>
      </p:sp>
      <p:sp>
        <p:nvSpPr>
          <p:cNvPr id="69" name="Google Shape;69;p5"/>
          <p:cNvSpPr txBox="1"/>
          <p:nvPr/>
        </p:nvSpPr>
        <p:spPr>
          <a:xfrm>
            <a:off x="6510528" y="2816352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О</a:t>
            </a:r>
            <a:r>
              <a:rPr b="0" lang="en-US" sz="116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перационная работа событий, но нужна адаптация под аналитику и сертификаты</a:t>
            </a:r>
            <a:endParaRPr b="0" sz="1160">
              <a:solidFill>
                <a:srgbClr val="5B64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9061703" y="1234440"/>
            <a:ext cx="246888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9774935" y="1508760"/>
            <a:ext cx="1024128" cy="658368"/>
          </a:xfrm>
          <a:prstGeom prst="roundRect">
            <a:avLst>
              <a:gd fmla="val 16667" name="adj"/>
            </a:avLst>
          </a:prstGeom>
          <a:solidFill>
            <a:srgbClr val="1F2637"/>
          </a:solidFill>
          <a:ln cap="flat" cmpd="sng" w="9525">
            <a:solidFill>
              <a:srgbClr val="1F263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sp>
        <p:nvSpPr>
          <p:cNvPr id="72" name="Google Shape;72;p5"/>
          <p:cNvSpPr txBox="1"/>
          <p:nvPr/>
        </p:nvSpPr>
        <p:spPr>
          <a:xfrm>
            <a:off x="9244583" y="233172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Golden</a:t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9317735" y="2816352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К</a:t>
            </a:r>
            <a:r>
              <a:rPr b="0" lang="en-US" sz="116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оммерческая SaaS-платформа, меньше контроля над моделью данных</a:t>
            </a:r>
            <a:endParaRPr b="0" sz="1160">
              <a:solidFill>
                <a:srgbClr val="5B64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40080" y="4233672"/>
            <a:ext cx="10881360" cy="960120"/>
          </a:xfrm>
          <a:prstGeom prst="roundRect">
            <a:avLst>
              <a:gd fmla="val 16667" name="adj"/>
            </a:avLst>
          </a:prstGeom>
          <a:solidFill>
            <a:srgbClr val="323C8D"/>
          </a:solidFill>
          <a:ln cap="flat" cmpd="sng" w="12700">
            <a:solidFill>
              <a:srgbClr val="323C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868679" y="4268347"/>
            <a:ext cx="10415015" cy="85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Вывод: Существующие решения закрывают отдельные части процесса, но не связывают локальные роли, заявки, подтвержденные часы, достижения, сертификаты и аналитику в одном контуре данных.</a:t>
            </a:r>
            <a:endParaRPr/>
          </a:p>
        </p:txBody>
      </p:sp>
      <p:sp>
        <p:nvSpPr>
          <p:cNvPr id="76" name="Google Shape;76;p5"/>
          <p:cNvSpPr txBox="1"/>
          <p:nvPr/>
        </p:nvSpPr>
        <p:spPr>
          <a:xfrm>
            <a:off x="731520" y="541324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Покрытие полного цикла</a:t>
            </a:r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3017520" y="537667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каталог</a:t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3730752" y="5449824"/>
            <a:ext cx="822960" cy="118872"/>
          </a:xfrm>
          <a:prstGeom prst="roundRect">
            <a:avLst>
              <a:gd fmla="val 16667" name="adj"/>
            </a:avLst>
          </a:prstGeom>
          <a:solidFill>
            <a:srgbClr val="EAECF6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730752" y="5449824"/>
            <a:ext cx="274320" cy="118872"/>
          </a:xfrm>
          <a:prstGeom prst="roundRect">
            <a:avLst>
              <a:gd fmla="val 16667" name="adj"/>
            </a:avLst>
          </a:prstGeom>
          <a:solidFill>
            <a:srgbClr val="2E5AAC"/>
          </a:solidFill>
          <a:ln cap="flat" cmpd="sng" w="12700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4590288" y="5358384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1" name="Google Shape;81;p5"/>
          <p:cNvSpPr txBox="1"/>
          <p:nvPr/>
        </p:nvSpPr>
        <p:spPr>
          <a:xfrm>
            <a:off x="4983479" y="537667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event</a:t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5696712" y="5449824"/>
            <a:ext cx="822960" cy="118872"/>
          </a:xfrm>
          <a:prstGeom prst="roundRect">
            <a:avLst>
              <a:gd fmla="val 16667" name="adj"/>
            </a:avLst>
          </a:prstGeom>
          <a:solidFill>
            <a:srgbClr val="EAECF6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696712" y="5449824"/>
            <a:ext cx="411480" cy="118872"/>
          </a:xfrm>
          <a:prstGeom prst="roundRect">
            <a:avLst>
              <a:gd fmla="val 16667" name="adj"/>
            </a:avLst>
          </a:prstGeom>
          <a:solidFill>
            <a:srgbClr val="2E5AAC"/>
          </a:solidFill>
          <a:ln cap="flat" cmpd="sng" w="12700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6556247" y="5358384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6949440" y="537667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SaaS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7662671" y="5449824"/>
            <a:ext cx="822960" cy="118872"/>
          </a:xfrm>
          <a:prstGeom prst="roundRect">
            <a:avLst>
              <a:gd fmla="val 16667" name="adj"/>
            </a:avLst>
          </a:prstGeom>
          <a:solidFill>
            <a:srgbClr val="EAECF6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662671" y="5449824"/>
            <a:ext cx="548640" cy="118872"/>
          </a:xfrm>
          <a:prstGeom prst="roundRect">
            <a:avLst>
              <a:gd fmla="val 16667" name="adj"/>
            </a:avLst>
          </a:prstGeom>
          <a:solidFill>
            <a:srgbClr val="2E5AAC"/>
          </a:solidFill>
          <a:ln cap="flat" cmpd="sng" w="12700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8522208" y="5358384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8915400" y="537667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Пульс</a:t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9628632" y="5449824"/>
            <a:ext cx="822960" cy="118872"/>
          </a:xfrm>
          <a:prstGeom prst="roundRect">
            <a:avLst>
              <a:gd fmla="val 16667" name="adj"/>
            </a:avLst>
          </a:prstGeom>
          <a:solidFill>
            <a:srgbClr val="EAECF6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9628632" y="5449824"/>
            <a:ext cx="822960" cy="118872"/>
          </a:xfrm>
          <a:prstGeom prst="roundRect">
            <a:avLst>
              <a:gd fmla="val 16667" name="adj"/>
            </a:avLst>
          </a:prstGeom>
          <a:solidFill>
            <a:srgbClr val="1F9D72"/>
          </a:solidFill>
          <a:ln cap="flat" cmpd="sng" w="12700">
            <a:solidFill>
              <a:srgbClr val="1F9D7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10488168" y="5358384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9D7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r.png" id="98" name="Google Shape;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>
            <a:noFill/>
          </a:ln>
          <a:effectLst>
            <a:outerShdw blurRad="38160" rotWithShape="0" algn="bl" dir="5400000" dist="12600">
              <a:srgbClr val="1A205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Технологический стек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ФГБОУ ВО «МГТУ им. Г.И. Носова» · Институт энергетики и автоматизированных систем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40080" y="1298448"/>
            <a:ext cx="3246120" cy="2741793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40080" y="1298448"/>
            <a:ext cx="3246120" cy="621792"/>
          </a:xfrm>
          <a:prstGeom prst="rect">
            <a:avLst/>
          </a:prstGeom>
          <a:solidFill>
            <a:srgbClr val="2E5AAC"/>
          </a:solidFill>
          <a:ln cap="flat" cmpd="sng" w="12700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640080" y="138988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932688" y="2176272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2E5AAC"/>
          </a:solidFill>
          <a:ln cap="flat" cmpd="sng" w="9525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1353312" y="2135011"/>
            <a:ext cx="2103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Vue.js 3</a:t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932688" y="2798064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2E5AAC"/>
          </a:solidFill>
          <a:ln cap="flat" cmpd="sng" w="9525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1353312" y="2756803"/>
            <a:ext cx="2103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932688" y="3419856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2E5AAC"/>
          </a:solidFill>
          <a:ln cap="flat" cmpd="sng" w="9525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1353312" y="3378595"/>
            <a:ext cx="2103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Vite</a:t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325112" y="1298448"/>
            <a:ext cx="3246120" cy="34423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325112" y="1298448"/>
            <a:ext cx="3246120" cy="621792"/>
          </a:xfrm>
          <a:prstGeom prst="rect">
            <a:avLst/>
          </a:prstGeom>
          <a:solidFill>
            <a:srgbClr val="323C8D"/>
          </a:solidFill>
          <a:ln cap="flat" cmpd="sng" w="12700">
            <a:solidFill>
              <a:srgbClr val="323C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4325112" y="138988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617720" y="2176272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323C8D"/>
          </a:solidFill>
          <a:ln cap="flat" cmpd="sng" w="9525">
            <a:solidFill>
              <a:srgbClr val="323C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5038344" y="2130791"/>
            <a:ext cx="2103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Go + Gin</a:t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617720" y="2798064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323C8D"/>
          </a:solidFill>
          <a:ln cap="flat" cmpd="sng" w="9525">
            <a:solidFill>
              <a:srgbClr val="323C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5038344" y="2752583"/>
            <a:ext cx="2103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REST API</a:t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617720" y="3419856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323C8D"/>
          </a:solidFill>
          <a:ln cap="flat" cmpd="sng" w="9525">
            <a:solidFill>
              <a:srgbClr val="323C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5038344" y="3251265"/>
            <a:ext cx="21031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JWT / refresh-сессии</a:t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617720" y="4040241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323C8D"/>
          </a:solidFill>
          <a:ln cap="flat" cmpd="sng" w="9525">
            <a:solidFill>
              <a:srgbClr val="323C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5038344" y="3994760"/>
            <a:ext cx="2103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Audit log</a:t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8010144" y="1298448"/>
            <a:ext cx="3246120" cy="2741793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8010144" y="1298448"/>
            <a:ext cx="3246120" cy="6217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8010144" y="1389888"/>
            <a:ext cx="3246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Данные / DevOps</a:t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8302752" y="2176272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 cap="flat" cmpd="sng" w="9525">
            <a:solidFill>
              <a:srgbClr val="C039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8723376" y="2130791"/>
            <a:ext cx="2103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8302752" y="2798064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 cap="flat" cmpd="sng" w="9525">
            <a:solidFill>
              <a:srgbClr val="C039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8723376" y="2752583"/>
            <a:ext cx="2103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Миграции</a:t>
            </a:r>
            <a:endParaRPr b="1" sz="1600">
              <a:solidFill>
                <a:srgbClr val="1F26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8302752" y="3419856"/>
            <a:ext cx="256032" cy="25603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 cap="flat" cmpd="sng" w="9525">
            <a:solidFill>
              <a:srgbClr val="C039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8723376" y="3374375"/>
            <a:ext cx="2103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Docker Compose</a:t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731520" y="5715000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Стек выбран под web-приложение с разграничением ролей, воспроизводимым развертыванием и реляционной целостностью данных.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r.png"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>
            <a:noFill/>
          </a:ln>
          <a:effectLst>
            <a:outerShdw blurRad="38160" rotWithShape="0" algn="bl" dir="5400000" dist="12600">
              <a:srgbClr val="1A205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Архитектура «Пульс»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ФГБОУ ВО «МГТУ им. Г.И. Носова» · Институт энергетики и автоматизированных систем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40080" y="1234440"/>
            <a:ext cx="1088136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40080" y="1234440"/>
            <a:ext cx="3063240" cy="960120"/>
          </a:xfrm>
          <a:prstGeom prst="rect">
            <a:avLst/>
          </a:prstGeom>
          <a:solidFill>
            <a:srgbClr val="2E5AAC"/>
          </a:solidFill>
          <a:ln cap="flat" cmpd="sng" w="12700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914400" y="1444815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Уровень представления</a:t>
            </a:r>
            <a:endParaRPr b="1" sz="16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914400" y="1810575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Vue.js SPA</a:t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3977639" y="1364349"/>
            <a:ext cx="69037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Л</a:t>
            </a:r>
            <a:r>
              <a:rPr b="0" lang="en-US" sz="15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ичный кабинет волонтера, панели координатора, администратора организации и суперадминистратора</a:t>
            </a:r>
            <a:endParaRPr b="0" sz="1500">
              <a:solidFill>
                <a:srgbClr val="1F26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715000" y="2249550"/>
            <a:ext cx="566928" cy="329184"/>
          </a:xfrm>
          <a:prstGeom prst="roundRect">
            <a:avLst>
              <a:gd fmla="val 16667" name="adj"/>
            </a:avLst>
          </a:prstGeom>
          <a:solidFill>
            <a:srgbClr val="1F9D72"/>
          </a:solidFill>
          <a:ln cap="flat" cmpd="sng" w="9525">
            <a:solidFill>
              <a:srgbClr val="1F9D7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640080" y="2648796"/>
            <a:ext cx="1088136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40080" y="2648796"/>
            <a:ext cx="3063240" cy="960120"/>
          </a:xfrm>
          <a:prstGeom prst="rect">
            <a:avLst/>
          </a:prstGeom>
          <a:solidFill>
            <a:srgbClr val="323C8D"/>
          </a:solidFill>
          <a:ln cap="flat" cmpd="sng" w="12700">
            <a:solidFill>
              <a:srgbClr val="323C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914400" y="286207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Уровень бизнес-логики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914400" y="3227832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 / Gin REST API</a:t>
            </a:r>
            <a:endParaRPr/>
          </a:p>
        </p:txBody>
      </p:sp>
      <p:sp>
        <p:nvSpPr>
          <p:cNvPr id="151" name="Google Shape;151;p7"/>
          <p:cNvSpPr txBox="1"/>
          <p:nvPr/>
        </p:nvSpPr>
        <p:spPr>
          <a:xfrm>
            <a:off x="3977639" y="2778705"/>
            <a:ext cx="69037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А</a:t>
            </a:r>
            <a:r>
              <a:rPr b="0" lang="en-US" sz="15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вторизация, организации, мероприятия, заявки, задачи, часы, достижения, сертификаты, аналитика</a:t>
            </a:r>
            <a:endParaRPr b="0" sz="1500">
              <a:solidFill>
                <a:srgbClr val="1F26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715000" y="3669934"/>
            <a:ext cx="566928" cy="329184"/>
          </a:xfrm>
          <a:prstGeom prst="roundRect">
            <a:avLst>
              <a:gd fmla="val 16667" name="adj"/>
            </a:avLst>
          </a:prstGeom>
          <a:solidFill>
            <a:srgbClr val="1F9D72"/>
          </a:solidFill>
          <a:ln cap="flat" cmpd="sng" w="9525">
            <a:solidFill>
              <a:srgbClr val="1F9D7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40080" y="4059936"/>
            <a:ext cx="1088136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40080" y="4059936"/>
            <a:ext cx="3063240" cy="9601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914400" y="4215384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Уровень данных</a:t>
            </a:r>
            <a:endParaRPr b="1" sz="16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914400" y="4581144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/>
          </a:p>
        </p:txBody>
      </p:sp>
      <p:sp>
        <p:nvSpPr>
          <p:cNvPr id="157" name="Google Shape;157;p7"/>
          <p:cNvSpPr txBox="1"/>
          <p:nvPr/>
        </p:nvSpPr>
        <p:spPr>
          <a:xfrm>
            <a:off x="3977639" y="4189845"/>
            <a:ext cx="69037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П</a:t>
            </a:r>
            <a:r>
              <a:rPr b="0" lang="en-US" sz="150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ользователи, роли, организации, события, time entries, audit log и агрегаты отчетности</a:t>
            </a:r>
            <a:endParaRPr b="0" sz="1500">
              <a:solidFill>
                <a:srgbClr val="1F26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40080" y="5257800"/>
            <a:ext cx="10881360" cy="566928"/>
          </a:xfrm>
          <a:prstGeom prst="roundRect">
            <a:avLst>
              <a:gd fmla="val 16667" name="adj"/>
            </a:avLst>
          </a:prstGeom>
          <a:solidFill>
            <a:srgbClr val="323C8D"/>
          </a:solidFill>
          <a:ln cap="flat" cmpd="sng" w="12700">
            <a:solidFill>
              <a:srgbClr val="323C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868680" y="5276532"/>
            <a:ext cx="9966960" cy="53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Ключевой принцип: заявка, посещаемость, подтвержденные часы, достижение, сертификат и KPI не разрознены, а проходят через единую модель данных.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r.png"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518" cy="94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1325880" y="0"/>
            <a:ext cx="9811200" cy="946200"/>
          </a:xfrm>
          <a:prstGeom prst="rect">
            <a:avLst/>
          </a:prstGeom>
          <a:noFill/>
          <a:ln>
            <a:noFill/>
          </a:ln>
          <a:effectLst>
            <a:outerShdw blurRad="38160" rotWithShape="0" algn="bl" dir="5400000" dist="12600">
              <a:srgbClr val="1A205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</a:rPr>
              <a:t>ER-диаграмма: </a:t>
            </a:r>
            <a:r>
              <a:rPr b="1" lang="en-US" sz="2400">
                <a:solidFill>
                  <a:schemeClr val="lt1"/>
                </a:solidFill>
              </a:rPr>
              <a:t>Ядро системы</a:t>
            </a:r>
            <a:endParaRPr b="1" sz="2400" strike="noStrike">
              <a:solidFill>
                <a:schemeClr val="lt1"/>
              </a:solidFill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40080" y="6492240"/>
            <a:ext cx="8686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ФГБОУ ВО «МГТУ им. Г.И. Носова» · Институт энергетики и автоматизированных систем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1274480" y="6492240"/>
            <a:ext cx="456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8800" y="946075"/>
            <a:ext cx="8334375" cy="561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r.png" id="175" name="Google Shape;1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518" cy="94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/>
          <p:nvPr/>
        </p:nvSpPr>
        <p:spPr>
          <a:xfrm>
            <a:off x="1325880" y="0"/>
            <a:ext cx="9811200" cy="946200"/>
          </a:xfrm>
          <a:prstGeom prst="rect">
            <a:avLst/>
          </a:prstGeom>
          <a:noFill/>
          <a:ln>
            <a:noFill/>
          </a:ln>
          <a:effectLst>
            <a:outerShdw blurRad="38160" rotWithShape="0" algn="bl" dir="5400000" dist="12600">
              <a:srgbClr val="1A205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</a:rPr>
              <a:t>ER-диаграмма: </a:t>
            </a:r>
            <a:r>
              <a:rPr b="1" lang="en-US" sz="2400">
                <a:solidFill>
                  <a:schemeClr val="lt1"/>
                </a:solidFill>
              </a:rPr>
              <a:t>Модуль геймификации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40080" y="6492240"/>
            <a:ext cx="8686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ФГБОУ ВО «МГТУ им. Г.И. Носова» · Институт энергетики и автоматизированных систем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11274480" y="6492240"/>
            <a:ext cx="456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B6476"/>
                </a:solidFill>
              </a:rPr>
              <a:t>7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34.png" id="179" name="Google Shape;17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3545" y="946199"/>
            <a:ext cx="9064893" cy="554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r.png" id="185" name="Google Shape;1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518" cy="94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"/>
          <p:cNvSpPr/>
          <p:nvPr/>
        </p:nvSpPr>
        <p:spPr>
          <a:xfrm>
            <a:off x="1325880" y="0"/>
            <a:ext cx="9811200" cy="946200"/>
          </a:xfrm>
          <a:prstGeom prst="rect">
            <a:avLst/>
          </a:prstGeom>
          <a:noFill/>
          <a:ln>
            <a:noFill/>
          </a:ln>
          <a:effectLst>
            <a:outerShdw blurRad="38160" rotWithShape="0" algn="bl" dir="5400000" dist="12600">
              <a:srgbClr val="1A205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</a:rPr>
              <a:t>ER-диаграмма: </a:t>
            </a:r>
            <a:r>
              <a:rPr b="1" lang="en-US" sz="2400">
                <a:solidFill>
                  <a:schemeClr val="lt1"/>
                </a:solidFill>
              </a:rPr>
              <a:t>Модуль контента и уведомлений</a:t>
            </a:r>
            <a:endParaRPr b="1" sz="2400" strike="noStrike">
              <a:solidFill>
                <a:schemeClr val="lt1"/>
              </a:solidFill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40080" y="6492240"/>
            <a:ext cx="8686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ФГБОУ ВО «МГТУ им. Г.И. Носова» · Институт энергетики и автоматизированных систем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11274480" y="6492240"/>
            <a:ext cx="456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B6476"/>
                </a:solidFill>
              </a:rPr>
              <a:t>8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813" y="946075"/>
            <a:ext cx="11574364" cy="55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r.png" id="195" name="Google Shape;1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518" cy="94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1"/>
          <p:cNvSpPr/>
          <p:nvPr/>
        </p:nvSpPr>
        <p:spPr>
          <a:xfrm>
            <a:off x="1325880" y="0"/>
            <a:ext cx="9811200" cy="946200"/>
          </a:xfrm>
          <a:prstGeom prst="rect">
            <a:avLst/>
          </a:prstGeom>
          <a:noFill/>
          <a:ln>
            <a:noFill/>
          </a:ln>
          <a:effectLst>
            <a:outerShdw blurRad="38160" rotWithShape="0" algn="bl" dir="5400000" dist="12600">
              <a:srgbClr val="1A205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</a:rPr>
              <a:t>ER-диаграмма: </a:t>
            </a:r>
            <a:r>
              <a:rPr b="1" lang="en-US" sz="2400">
                <a:solidFill>
                  <a:schemeClr val="lt1"/>
                </a:solidFill>
              </a:rPr>
              <a:t>Роли и организации</a:t>
            </a:r>
            <a:endParaRPr b="1" sz="2400" strike="noStrike">
              <a:solidFill>
                <a:schemeClr val="lt1"/>
              </a:solidFill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640080" y="6492240"/>
            <a:ext cx="8686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ФГБОУ ВО «МГТУ им. Г.И. Носова» · Институт энергетики и автоматизированных систем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11274480" y="6492240"/>
            <a:ext cx="456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B6476"/>
                </a:solidFill>
              </a:rPr>
              <a:t>9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8888" y="946075"/>
            <a:ext cx="7065185" cy="55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r.png" id="205" name="Google Shape;2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2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>
            <a:noFill/>
          </a:ln>
          <a:effectLst>
            <a:outerShdw blurRad="38160" rotWithShape="0" algn="bl" dir="5400000" dist="12600">
              <a:srgbClr val="1A205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Ключевой сценарий проходит от заявки до управленческого отчета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ФГБОУ ВО «МГТУ им. Г.И. Носова» · Институт энергетики и автоматизированных систем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B6476"/>
                </a:solidFill>
              </a:rPr>
              <a:t>10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685800" y="1234440"/>
            <a:ext cx="512064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886968" y="1463040"/>
            <a:ext cx="475488" cy="475488"/>
          </a:xfrm>
          <a:prstGeom prst="roundRect">
            <a:avLst>
              <a:gd fmla="val 16667" name="adj"/>
            </a:avLst>
          </a:prstGeom>
          <a:solidFill>
            <a:srgbClr val="2E5AAC"/>
          </a:solidFill>
          <a:ln cap="flat" cmpd="sng" w="9525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1554480" y="143385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Волонтер</a:t>
            </a:r>
            <a:endParaRPr b="1" sz="1450">
              <a:solidFill>
                <a:srgbClr val="2E5A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1554480" y="1686145"/>
            <a:ext cx="3794760" cy="300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П</a:t>
            </a:r>
            <a:r>
              <a:rPr b="0" lang="en-US" sz="13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одает заявку на мероприятие</a:t>
            </a:r>
            <a:endParaRPr b="0" sz="1350">
              <a:solidFill>
                <a:srgbClr val="1F26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6172200" y="1234440"/>
            <a:ext cx="512064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6373368" y="1463040"/>
            <a:ext cx="475488" cy="475488"/>
          </a:xfrm>
          <a:prstGeom prst="roundRect">
            <a:avLst>
              <a:gd fmla="val 16667" name="adj"/>
            </a:avLst>
          </a:prstGeom>
          <a:solidFill>
            <a:srgbClr val="323C8D"/>
          </a:solidFill>
          <a:ln cap="flat" cmpd="sng" w="9525">
            <a:solidFill>
              <a:srgbClr val="323C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7040880" y="1463727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Координатор</a:t>
            </a:r>
            <a:endParaRPr b="1" sz="1450">
              <a:solidFill>
                <a:srgbClr val="2E5A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7040880" y="1716022"/>
            <a:ext cx="3794760" cy="300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Р</a:t>
            </a:r>
            <a:r>
              <a:rPr b="0" lang="en-US" sz="13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ассматривает заявку и фиксирует участие</a:t>
            </a:r>
            <a:endParaRPr b="0" sz="1350">
              <a:solidFill>
                <a:srgbClr val="1F26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685800" y="2532888"/>
            <a:ext cx="512064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886968" y="2761488"/>
            <a:ext cx="475488" cy="475488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 cap="flat" cmpd="sng" w="9525">
            <a:solidFill>
              <a:srgbClr val="C039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9" name="Google Shape;219;p12"/>
          <p:cNvSpPr txBox="1"/>
          <p:nvPr/>
        </p:nvSpPr>
        <p:spPr>
          <a:xfrm>
            <a:off x="1554480" y="2644595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Система</a:t>
            </a:r>
            <a:endParaRPr/>
          </a:p>
        </p:txBody>
      </p:sp>
      <p:sp>
        <p:nvSpPr>
          <p:cNvPr id="220" name="Google Shape;220;p12"/>
          <p:cNvSpPr txBox="1"/>
          <p:nvPr/>
        </p:nvSpPr>
        <p:spPr>
          <a:xfrm>
            <a:off x="1554480" y="2875842"/>
            <a:ext cx="3794760" cy="507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Связывает мероприятие, задачу и запись времени</a:t>
            </a:r>
            <a:endParaRPr b="0" sz="1350">
              <a:solidFill>
                <a:srgbClr val="1F26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6172200" y="2532888"/>
            <a:ext cx="512064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6373368" y="2761488"/>
            <a:ext cx="475488" cy="475488"/>
          </a:xfrm>
          <a:prstGeom prst="roundRect">
            <a:avLst>
              <a:gd fmla="val 16667" name="adj"/>
            </a:avLst>
          </a:prstGeom>
          <a:solidFill>
            <a:srgbClr val="2E5AAC"/>
          </a:solidFill>
          <a:ln cap="flat" cmpd="sng" w="9525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23" name="Google Shape;223;p12"/>
          <p:cNvSpPr txBox="1"/>
          <p:nvPr/>
        </p:nvSpPr>
        <p:spPr>
          <a:xfrm>
            <a:off x="7040880" y="2762175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Координатор</a:t>
            </a:r>
            <a:endParaRPr b="1" sz="1450">
              <a:solidFill>
                <a:srgbClr val="2E5A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7040880" y="3014470"/>
            <a:ext cx="3794760" cy="300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П</a:t>
            </a:r>
            <a:r>
              <a:rPr b="0" lang="en-US" sz="13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одтверждает часы по основанию</a:t>
            </a:r>
            <a:endParaRPr b="0" sz="1350">
              <a:solidFill>
                <a:srgbClr val="1F26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685800" y="3831335"/>
            <a:ext cx="512064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886968" y="4059935"/>
            <a:ext cx="475488" cy="475488"/>
          </a:xfrm>
          <a:prstGeom prst="roundRect">
            <a:avLst>
              <a:gd fmla="val 16667" name="adj"/>
            </a:avLst>
          </a:prstGeom>
          <a:solidFill>
            <a:srgbClr val="1F9D72"/>
          </a:solidFill>
          <a:ln cap="flat" cmpd="sng" w="9525">
            <a:solidFill>
              <a:srgbClr val="1F9D7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27" name="Google Shape;227;p12"/>
          <p:cNvSpPr txBox="1"/>
          <p:nvPr/>
        </p:nvSpPr>
        <p:spPr>
          <a:xfrm>
            <a:off x="1554480" y="3900201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Пульс</a:t>
            </a:r>
            <a:endParaRPr b="1" sz="1450">
              <a:solidFill>
                <a:srgbClr val="2E5AA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1554480" y="4172467"/>
            <a:ext cx="3794760" cy="507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Н</a:t>
            </a:r>
            <a:r>
              <a:rPr b="0" lang="en-US" sz="13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ачисляет достижения и формирует сертификат</a:t>
            </a:r>
            <a:endParaRPr b="0" sz="1350">
              <a:solidFill>
                <a:srgbClr val="1F26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6172200" y="3831335"/>
            <a:ext cx="5120640" cy="9326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6373368" y="4059935"/>
            <a:ext cx="475488" cy="475488"/>
          </a:xfrm>
          <a:prstGeom prst="roundRect">
            <a:avLst>
              <a:gd fmla="val 16667" name="adj"/>
            </a:avLst>
          </a:prstGeom>
          <a:solidFill>
            <a:srgbClr val="323C8D"/>
          </a:solidFill>
          <a:ln cap="flat" cmpd="sng" w="9525">
            <a:solidFill>
              <a:srgbClr val="323C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31" name="Google Shape;231;p12"/>
          <p:cNvSpPr txBox="1"/>
          <p:nvPr/>
        </p:nvSpPr>
        <p:spPr>
          <a:xfrm>
            <a:off x="7040880" y="4060622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Руководитель</a:t>
            </a:r>
            <a:endParaRPr/>
          </a:p>
        </p:txBody>
      </p:sp>
      <p:sp>
        <p:nvSpPr>
          <p:cNvPr id="232" name="Google Shape;232;p12"/>
          <p:cNvSpPr txBox="1"/>
          <p:nvPr/>
        </p:nvSpPr>
        <p:spPr>
          <a:xfrm>
            <a:off x="7040880" y="4289222"/>
            <a:ext cx="3794760" cy="300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В</a:t>
            </a:r>
            <a:r>
              <a:rPr b="0" lang="en-US" sz="13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идит KPI и выгружает отчет</a:t>
            </a:r>
            <a:endParaRPr b="0" sz="1350">
              <a:solidFill>
                <a:srgbClr val="1F26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685800" y="5422391"/>
            <a:ext cx="10561320" cy="665381"/>
          </a:xfrm>
          <a:prstGeom prst="roundRect">
            <a:avLst>
              <a:gd fmla="val 16667" name="adj"/>
            </a:avLst>
          </a:prstGeom>
          <a:solidFill>
            <a:srgbClr val="323C8D"/>
          </a:solidFill>
          <a:ln cap="flat" cmpd="sng" w="12700">
            <a:solidFill>
              <a:srgbClr val="323C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914400" y="5466704"/>
            <a:ext cx="10012680" cy="5078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Главный результат сценария: управленческие показатели строятся на подтвержденных операционных данных, а не на ручном сведении таблиц.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r.png" id="240" name="Google Shape;2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518" cy="94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3"/>
          <p:cNvSpPr/>
          <p:nvPr/>
        </p:nvSpPr>
        <p:spPr>
          <a:xfrm>
            <a:off x="1325880" y="0"/>
            <a:ext cx="9811200" cy="946200"/>
          </a:xfrm>
          <a:prstGeom prst="rect">
            <a:avLst/>
          </a:prstGeom>
          <a:noFill/>
          <a:ln>
            <a:noFill/>
          </a:ln>
          <a:effectLst>
            <a:outerShdw blurRad="38160" rotWithShape="0" algn="bl" dir="5400000" dist="12600">
              <a:srgbClr val="1A205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</a:rPr>
              <a:t>Блок-схема алгоритма обработки заявки на мероприятие</a:t>
            </a:r>
            <a:endParaRPr b="1" sz="2600" strike="noStrike">
              <a:solidFill>
                <a:schemeClr val="lt1"/>
              </a:solidFill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640080" y="6492240"/>
            <a:ext cx="8686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ФГБОУ ВО «МГТУ им. Г.И. Носова» · Институт энергетики и автоматизированных систем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11285179" y="6492240"/>
            <a:ext cx="456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B6476"/>
                </a:solidFill>
              </a:rPr>
              <a:t>11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8375" y="1067137"/>
            <a:ext cx="8906194" cy="5304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r.png" id="250" name="Google Shape;2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518" cy="94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4"/>
          <p:cNvSpPr/>
          <p:nvPr/>
        </p:nvSpPr>
        <p:spPr>
          <a:xfrm>
            <a:off x="1325880" y="0"/>
            <a:ext cx="9811200" cy="946200"/>
          </a:xfrm>
          <a:prstGeom prst="rect">
            <a:avLst/>
          </a:prstGeom>
          <a:noFill/>
          <a:ln>
            <a:noFill/>
          </a:ln>
          <a:effectLst>
            <a:outerShdw blurRad="38160" rotWithShape="0" algn="bl" dir="5400000" dist="12600">
              <a:srgbClr val="1A205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</a:rPr>
              <a:t>Блок-схема алгоритма подтверждения волонтерских </a:t>
            </a:r>
            <a:endParaRPr b="1" sz="2600" strike="noStrike">
              <a:solidFill>
                <a:schemeClr val="lt1"/>
              </a:solidFill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640080" y="6492240"/>
            <a:ext cx="8686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ФГБОУ ВО «МГТУ им. Г.И. Носова» · Институт энергетики и автоматизированных систем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11274480" y="6492240"/>
            <a:ext cx="456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B6476"/>
                </a:solidFill>
              </a:rPr>
              <a:t>12</a:t>
            </a:r>
            <a:endParaRPr>
              <a:solidFill>
                <a:srgbClr val="5B6476"/>
              </a:solidFill>
            </a:endParaRPr>
          </a:p>
        </p:txBody>
      </p:sp>
      <p:pic>
        <p:nvPicPr>
          <p:cNvPr id="254" name="Google Shape;25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8375" y="1067125"/>
            <a:ext cx="8906199" cy="5304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r.png" id="260" name="Google Shape;2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518" cy="94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5"/>
          <p:cNvSpPr/>
          <p:nvPr/>
        </p:nvSpPr>
        <p:spPr>
          <a:xfrm>
            <a:off x="1325880" y="0"/>
            <a:ext cx="9811200" cy="946200"/>
          </a:xfrm>
          <a:prstGeom prst="rect">
            <a:avLst/>
          </a:prstGeom>
          <a:noFill/>
          <a:ln>
            <a:noFill/>
          </a:ln>
          <a:effectLst>
            <a:outerShdw blurRad="38160" rotWithShape="0" algn="bl" dir="5400000" dist="12600">
              <a:srgbClr val="1A205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</a:rPr>
              <a:t>Логика бизнес процесса</a:t>
            </a:r>
            <a:endParaRPr b="1" sz="2600">
              <a:solidFill>
                <a:srgbClr val="FFFFFF"/>
              </a:solidFill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640080" y="6492240"/>
            <a:ext cx="8686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A64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A64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11285179" y="6492240"/>
            <a:ext cx="456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B6476"/>
                </a:solidFill>
              </a:rPr>
              <a:t>13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000" y="946075"/>
            <a:ext cx="10504474" cy="591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r.png" id="270" name="Google Shape;2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6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>
            <a:noFill/>
          </a:ln>
          <a:effectLst>
            <a:outerShdw blurRad="38160" rotWithShape="0" algn="bl" dir="5400000" dist="12600">
              <a:srgbClr val="1A205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Проверка работоспособности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ФГБОУ ВО «МГТУ им. Г.И. Носова» · Институт энергетики и автоматизированных систем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B6476"/>
                </a:solidFill>
              </a:rPr>
              <a:t>14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685800" y="1234440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822960" y="135331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npm build</a:t>
            </a:r>
            <a:endParaRPr/>
          </a:p>
        </p:txBody>
      </p:sp>
      <p:sp>
        <p:nvSpPr>
          <p:cNvPr id="276" name="Google Shape;276;p16"/>
          <p:cNvSpPr txBox="1"/>
          <p:nvPr/>
        </p:nvSpPr>
        <p:spPr>
          <a:xfrm>
            <a:off x="822960" y="1609344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9D72"/>
                </a:solidFill>
                <a:latin typeface="Arial"/>
                <a:ea typeface="Arial"/>
                <a:cs typeface="Arial"/>
                <a:sym typeface="Arial"/>
              </a:rPr>
              <a:t>успешно</a:t>
            </a:r>
            <a:endParaRPr/>
          </a:p>
        </p:txBody>
      </p:sp>
      <p:sp>
        <p:nvSpPr>
          <p:cNvPr id="277" name="Google Shape;277;p16"/>
          <p:cNvSpPr txBox="1"/>
          <p:nvPr/>
        </p:nvSpPr>
        <p:spPr>
          <a:xfrm>
            <a:off x="822960" y="1947672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8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1782 модуля Vite</a:t>
            </a:r>
            <a:endParaRPr/>
          </a:p>
        </p:txBody>
      </p:sp>
      <p:sp>
        <p:nvSpPr>
          <p:cNvPr id="278" name="Google Shape;278;p16"/>
          <p:cNvSpPr/>
          <p:nvPr/>
        </p:nvSpPr>
        <p:spPr>
          <a:xfrm>
            <a:off x="3447288" y="1234440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 txBox="1"/>
          <p:nvPr/>
        </p:nvSpPr>
        <p:spPr>
          <a:xfrm>
            <a:off x="3584448" y="135331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go test ./...</a:t>
            </a:r>
            <a:endParaRPr/>
          </a:p>
        </p:txBody>
      </p:sp>
      <p:sp>
        <p:nvSpPr>
          <p:cNvPr id="280" name="Google Shape;280;p16"/>
          <p:cNvSpPr txBox="1"/>
          <p:nvPr/>
        </p:nvSpPr>
        <p:spPr>
          <a:xfrm>
            <a:off x="3584448" y="1609344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сборка OK</a:t>
            </a:r>
            <a:endParaRPr/>
          </a:p>
        </p:txBody>
      </p:sp>
      <p:sp>
        <p:nvSpPr>
          <p:cNvPr id="281" name="Google Shape;281;p16"/>
          <p:cNvSpPr txBox="1"/>
          <p:nvPr/>
        </p:nvSpPr>
        <p:spPr>
          <a:xfrm>
            <a:off x="3584448" y="1947672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8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автотестов нет</a:t>
            </a:r>
            <a:endParaRPr/>
          </a:p>
        </p:txBody>
      </p:sp>
      <p:sp>
        <p:nvSpPr>
          <p:cNvPr id="282" name="Google Shape;282;p16"/>
          <p:cNvSpPr/>
          <p:nvPr/>
        </p:nvSpPr>
        <p:spPr>
          <a:xfrm>
            <a:off x="6208776" y="1234440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 txBox="1"/>
          <p:nvPr/>
        </p:nvSpPr>
        <p:spPr>
          <a:xfrm>
            <a:off x="6345936" y="135331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Профиль</a:t>
            </a:r>
            <a:endParaRPr/>
          </a:p>
        </p:txBody>
      </p:sp>
      <p:sp>
        <p:nvSpPr>
          <p:cNvPr id="284" name="Google Shape;284;p16"/>
          <p:cNvSpPr txBox="1"/>
          <p:nvPr/>
        </p:nvSpPr>
        <p:spPr>
          <a:xfrm>
            <a:off x="6345936" y="1609344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9D72"/>
                </a:solidFill>
                <a:latin typeface="Arial"/>
                <a:ea typeface="Arial"/>
                <a:cs typeface="Arial"/>
                <a:sym typeface="Arial"/>
              </a:rPr>
              <a:t>проверен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6345936" y="1947672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8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миграция 020 + API</a:t>
            </a:r>
            <a:endParaRPr/>
          </a:p>
        </p:txBody>
      </p:sp>
      <p:sp>
        <p:nvSpPr>
          <p:cNvPr id="286" name="Google Shape;286;p16"/>
          <p:cNvSpPr/>
          <p:nvPr/>
        </p:nvSpPr>
        <p:spPr>
          <a:xfrm>
            <a:off x="8970264" y="1234440"/>
            <a:ext cx="2423160" cy="10607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 txBox="1"/>
          <p:nvPr/>
        </p:nvSpPr>
        <p:spPr>
          <a:xfrm>
            <a:off x="9107424" y="135331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Аватар</a:t>
            </a:r>
            <a:endParaRPr/>
          </a:p>
        </p:txBody>
      </p:sp>
      <p:sp>
        <p:nvSpPr>
          <p:cNvPr id="288" name="Google Shape;288;p16"/>
          <p:cNvSpPr txBox="1"/>
          <p:nvPr/>
        </p:nvSpPr>
        <p:spPr>
          <a:xfrm>
            <a:off x="9107424" y="1609344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F9D72"/>
                </a:solidFill>
                <a:latin typeface="Arial"/>
                <a:ea typeface="Arial"/>
                <a:cs typeface="Arial"/>
                <a:sym typeface="Arial"/>
              </a:rPr>
              <a:t>проверен</a:t>
            </a:r>
            <a:endParaRPr/>
          </a:p>
        </p:txBody>
      </p:sp>
      <p:sp>
        <p:nvSpPr>
          <p:cNvPr id="289" name="Google Shape;289;p16"/>
          <p:cNvSpPr txBox="1"/>
          <p:nvPr/>
        </p:nvSpPr>
        <p:spPr>
          <a:xfrm>
            <a:off x="9107424" y="1947672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8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upload PNG</a:t>
            </a:r>
            <a:endParaRPr/>
          </a:p>
        </p:txBody>
      </p:sp>
      <p:sp>
        <p:nvSpPr>
          <p:cNvPr id="290" name="Google Shape;290;p16"/>
          <p:cNvSpPr/>
          <p:nvPr/>
        </p:nvSpPr>
        <p:spPr>
          <a:xfrm>
            <a:off x="685800" y="2697474"/>
            <a:ext cx="5257800" cy="291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 txBox="1"/>
          <p:nvPr/>
        </p:nvSpPr>
        <p:spPr>
          <a:xfrm>
            <a:off x="914400" y="2852928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Матрица сценариев</a:t>
            </a:r>
            <a:endParaRPr/>
          </a:p>
        </p:txBody>
      </p:sp>
      <p:sp>
        <p:nvSpPr>
          <p:cNvPr id="292" name="Google Shape;292;p16"/>
          <p:cNvSpPr txBox="1"/>
          <p:nvPr/>
        </p:nvSpPr>
        <p:spPr>
          <a:xfrm>
            <a:off x="960120" y="333756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подтверждено запуском</a:t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>
            <a:off x="3108960" y="3374136"/>
            <a:ext cx="2011680" cy="146304"/>
          </a:xfrm>
          <a:prstGeom prst="roundRect">
            <a:avLst>
              <a:gd fmla="val 16667" name="adj"/>
            </a:avLst>
          </a:prstGeom>
          <a:solidFill>
            <a:srgbClr val="EAECF6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3108960" y="3374136"/>
            <a:ext cx="2011680" cy="146304"/>
          </a:xfrm>
          <a:prstGeom prst="roundRect">
            <a:avLst>
              <a:gd fmla="val 16667" name="adj"/>
            </a:avLst>
          </a:prstGeom>
          <a:solidFill>
            <a:srgbClr val="1F9D72"/>
          </a:solidFill>
          <a:ln cap="flat" cmpd="sng" w="12700">
            <a:solidFill>
              <a:srgbClr val="1F9D7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 txBox="1"/>
          <p:nvPr/>
        </p:nvSpPr>
        <p:spPr>
          <a:xfrm>
            <a:off x="5120640" y="331012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9D7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96" name="Google Shape;296;p16"/>
          <p:cNvSpPr txBox="1"/>
          <p:nvPr/>
        </p:nvSpPr>
        <p:spPr>
          <a:xfrm>
            <a:off x="960120" y="384048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подтверждено реализацией</a:t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3108960" y="3877056"/>
            <a:ext cx="2011680" cy="146304"/>
          </a:xfrm>
          <a:prstGeom prst="roundRect">
            <a:avLst>
              <a:gd fmla="val 16667" name="adj"/>
            </a:avLst>
          </a:prstGeom>
          <a:solidFill>
            <a:srgbClr val="EAECF6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3108960" y="3877056"/>
            <a:ext cx="1005840" cy="146304"/>
          </a:xfrm>
          <a:prstGeom prst="roundRect">
            <a:avLst>
              <a:gd fmla="val 16667" name="adj"/>
            </a:avLst>
          </a:prstGeom>
          <a:solidFill>
            <a:srgbClr val="2E5AAC"/>
          </a:solidFill>
          <a:ln cap="flat" cmpd="sng" w="12700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5120640" y="381304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960120" y="434340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требует опытной проверки</a:t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3108960" y="4379976"/>
            <a:ext cx="2011680" cy="146304"/>
          </a:xfrm>
          <a:prstGeom prst="roundRect">
            <a:avLst>
              <a:gd fmla="val 16667" name="adj"/>
            </a:avLst>
          </a:prstGeom>
          <a:solidFill>
            <a:srgbClr val="EAECF6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3108960" y="4379976"/>
            <a:ext cx="1005840" cy="146304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 txBox="1"/>
          <p:nvPr/>
        </p:nvSpPr>
        <p:spPr>
          <a:xfrm>
            <a:off x="5120640" y="4315968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04" name="Google Shape;304;p16"/>
          <p:cNvSpPr txBox="1"/>
          <p:nvPr/>
        </p:nvSpPr>
        <p:spPr>
          <a:xfrm>
            <a:off x="914400" y="49834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7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Формулировка результата остается корректной: подтверждены сборка, часть API и реализованный контур; полный приемочный вывод переносится в пилот.</a:t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6263650" y="2697474"/>
            <a:ext cx="4983600" cy="291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 txBox="1"/>
          <p:nvPr/>
        </p:nvSpPr>
        <p:spPr>
          <a:xfrm>
            <a:off x="6492240" y="285292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Ограничения закрываются планом пилота</a:t>
            </a:r>
            <a:endParaRPr/>
          </a:p>
        </p:txBody>
      </p:sp>
      <p:sp>
        <p:nvSpPr>
          <p:cNvPr id="307" name="Google Shape;307;p16"/>
          <p:cNvSpPr txBox="1"/>
          <p:nvPr/>
        </p:nvSpPr>
        <p:spPr>
          <a:xfrm>
            <a:off x="6492265" y="3347052"/>
            <a:ext cx="44805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2637"/>
                </a:solidFill>
              </a:rPr>
              <a:t>Ч</a:t>
            </a:r>
            <a:r>
              <a:rPr b="1" lang="en-US" sz="1350">
                <a:solidFill>
                  <a:srgbClr val="1F2637"/>
                </a:solidFill>
              </a:rPr>
              <a:t>истая PostgreSQL и миграции</a:t>
            </a:r>
            <a:endParaRPr b="1" sz="1350">
              <a:solidFill>
                <a:srgbClr val="1F26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1F2637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2637"/>
                </a:solidFill>
              </a:rPr>
              <a:t>С</a:t>
            </a:r>
            <a:r>
              <a:rPr b="1" lang="en-US" sz="1350">
                <a:solidFill>
                  <a:srgbClr val="1F2637"/>
                </a:solidFill>
              </a:rPr>
              <a:t>ценарий заявка -&gt; часы -&gt; аналитика -&gt; сертификат</a:t>
            </a:r>
            <a:endParaRPr b="1" sz="1350">
              <a:solidFill>
                <a:srgbClr val="1F2637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1F2637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2637"/>
                </a:solidFill>
              </a:rPr>
              <a:t>U</a:t>
            </a:r>
            <a:r>
              <a:rPr b="1" lang="en-US" sz="1350">
                <a:solidFill>
                  <a:srgbClr val="1F2637"/>
                </a:solidFill>
              </a:rPr>
              <a:t>nit/integration tests прав доступа</a:t>
            </a:r>
            <a:endParaRPr b="1" sz="1350">
              <a:solidFill>
                <a:srgbClr val="1F2637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1F2637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F2637"/>
                </a:solidFill>
              </a:rPr>
              <a:t>И</a:t>
            </a:r>
            <a:r>
              <a:rPr b="1" lang="en-US" sz="1350">
                <a:solidFill>
                  <a:srgbClr val="1F2637"/>
                </a:solidFill>
              </a:rPr>
              <a:t>змерение времени на контрольных сценариях</a:t>
            </a:r>
            <a:endParaRPr b="1"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bar.png" id="313" name="Google Shape;3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7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>
            <a:noFill/>
          </a:ln>
          <a:effectLst>
            <a:outerShdw blurRad="38160" rotWithShape="0" algn="bl" dir="5400000" dist="12600">
              <a:srgbClr val="1A2050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Практический эффект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ФГБОУ ВО «МГТУ им. Г.И. Носова» · Институт энергетики и автоматизированных систем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B6476"/>
                </a:solidFill>
              </a:rPr>
              <a:t>15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7"/>
          <p:cNvSpPr txBox="1"/>
          <p:nvPr/>
        </p:nvSpPr>
        <p:spPr>
          <a:xfrm>
            <a:off x="731520" y="1252728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Расчетная оценка времени основных сценариев</a:t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896112" y="2372868"/>
            <a:ext cx="1377695" cy="1376172"/>
          </a:xfrm>
          <a:prstGeom prst="rect">
            <a:avLst/>
          </a:prstGeom>
          <a:solidFill>
            <a:srgbClr val="2E5AAC"/>
          </a:solidFill>
          <a:ln cap="flat" cmpd="sng" w="12700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 txBox="1"/>
          <p:nvPr/>
        </p:nvSpPr>
        <p:spPr>
          <a:xfrm>
            <a:off x="896112" y="2061972"/>
            <a:ext cx="13776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35 с</a:t>
            </a:r>
            <a:endParaRPr/>
          </a:p>
        </p:txBody>
      </p:sp>
      <p:sp>
        <p:nvSpPr>
          <p:cNvPr id="320" name="Google Shape;320;p17"/>
          <p:cNvSpPr txBox="1"/>
          <p:nvPr/>
        </p:nvSpPr>
        <p:spPr>
          <a:xfrm>
            <a:off x="850392" y="3794760"/>
            <a:ext cx="1469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заявка</a:t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2602992" y="1979676"/>
            <a:ext cx="1377695" cy="1769364"/>
          </a:xfrm>
          <a:prstGeom prst="rect">
            <a:avLst/>
          </a:prstGeom>
          <a:solidFill>
            <a:srgbClr val="2E5AAC"/>
          </a:solidFill>
          <a:ln cap="flat" cmpd="sng" w="12700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 txBox="1"/>
          <p:nvPr/>
        </p:nvSpPr>
        <p:spPr>
          <a:xfrm>
            <a:off x="2602992" y="1668780"/>
            <a:ext cx="13776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45 с</a:t>
            </a:r>
            <a:endParaRPr/>
          </a:p>
        </p:txBody>
      </p:sp>
      <p:sp>
        <p:nvSpPr>
          <p:cNvPr id="323" name="Google Shape;323;p17"/>
          <p:cNvSpPr txBox="1"/>
          <p:nvPr/>
        </p:nvSpPr>
        <p:spPr>
          <a:xfrm>
            <a:off x="2557272" y="3794760"/>
            <a:ext cx="1469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часы</a:t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4309872" y="1783080"/>
            <a:ext cx="1377695" cy="1965960"/>
          </a:xfrm>
          <a:prstGeom prst="rect">
            <a:avLst/>
          </a:prstGeom>
          <a:solidFill>
            <a:srgbClr val="2E5AAC"/>
          </a:solidFill>
          <a:ln cap="flat" cmpd="sng" w="12700">
            <a:solidFill>
              <a:srgbClr val="2E5AA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 txBox="1"/>
          <p:nvPr/>
        </p:nvSpPr>
        <p:spPr>
          <a:xfrm>
            <a:off x="4309872" y="1472184"/>
            <a:ext cx="137769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50 с</a:t>
            </a:r>
            <a:endParaRPr/>
          </a:p>
        </p:txBody>
      </p:sp>
      <p:sp>
        <p:nvSpPr>
          <p:cNvPr id="326" name="Google Shape;326;p17"/>
          <p:cNvSpPr txBox="1"/>
          <p:nvPr/>
        </p:nvSpPr>
        <p:spPr>
          <a:xfrm>
            <a:off x="4264152" y="3794760"/>
            <a:ext cx="14691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KPI</a:t>
            </a: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731520" y="3749040"/>
            <a:ext cx="5120640" cy="9144"/>
          </a:xfrm>
          <a:prstGeom prst="rect">
            <a:avLst/>
          </a:prstGeom>
          <a:solidFill>
            <a:srgbClr val="EAECF6"/>
          </a:solidFill>
          <a:ln cap="flat" cmpd="sng" w="9525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6263640" y="1234440"/>
            <a:ext cx="4892040" cy="2788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ECF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 txBox="1"/>
          <p:nvPr/>
        </p:nvSpPr>
        <p:spPr>
          <a:xfrm>
            <a:off x="6492240" y="1417320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E5AAC"/>
                </a:solidFill>
                <a:latin typeface="Arial"/>
                <a:ea typeface="Arial"/>
                <a:cs typeface="Arial"/>
                <a:sym typeface="Arial"/>
              </a:rPr>
              <a:t>Что заменяет система</a:t>
            </a:r>
            <a:endParaRPr/>
          </a:p>
        </p:txBody>
      </p:sp>
      <p:sp>
        <p:nvSpPr>
          <p:cNvPr id="330" name="Google Shape;330;p17"/>
          <p:cNvSpPr txBox="1"/>
          <p:nvPr/>
        </p:nvSpPr>
        <p:spPr>
          <a:xfrm>
            <a:off x="6492240" y="1874519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Сбор заявок</a:t>
            </a:r>
            <a:endParaRPr/>
          </a:p>
        </p:txBody>
      </p:sp>
      <p:sp>
        <p:nvSpPr>
          <p:cNvPr id="331" name="Google Shape;331;p17"/>
          <p:cNvSpPr txBox="1"/>
          <p:nvPr/>
        </p:nvSpPr>
        <p:spPr>
          <a:xfrm>
            <a:off x="8001000" y="1854167"/>
            <a:ext cx="2788920" cy="26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С</a:t>
            </a:r>
            <a:r>
              <a:rPr b="0" lang="en-US" sz="115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татусная заявка в системе</a:t>
            </a:r>
            <a:endParaRPr b="0" sz="1150">
              <a:solidFill>
                <a:srgbClr val="5B64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6492240" y="231343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Учет часов</a:t>
            </a:r>
            <a:endParaRPr/>
          </a:p>
        </p:txBody>
      </p:sp>
      <p:sp>
        <p:nvSpPr>
          <p:cNvPr id="333" name="Google Shape;333;p17"/>
          <p:cNvSpPr txBox="1"/>
          <p:nvPr/>
        </p:nvSpPr>
        <p:spPr>
          <a:xfrm>
            <a:off x="8001000" y="2293080"/>
            <a:ext cx="2788920" cy="26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З</a:t>
            </a:r>
            <a:r>
              <a:rPr b="0" lang="en-US" sz="115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апись связана с задачей/событием</a:t>
            </a:r>
            <a:endParaRPr b="0" sz="1150">
              <a:solidFill>
                <a:srgbClr val="5B64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6492240" y="275234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Сертификат</a:t>
            </a:r>
            <a:endParaRPr/>
          </a:p>
        </p:txBody>
      </p:sp>
      <p:sp>
        <p:nvSpPr>
          <p:cNvPr id="335" name="Google Shape;335;p17"/>
          <p:cNvSpPr txBox="1"/>
          <p:nvPr/>
        </p:nvSpPr>
        <p:spPr>
          <a:xfrm>
            <a:off x="8001000" y="2643506"/>
            <a:ext cx="2788920" cy="446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Ф</a:t>
            </a:r>
            <a:r>
              <a:rPr b="0" lang="en-US" sz="115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ормируется по подтвержденным данным</a:t>
            </a:r>
            <a:endParaRPr b="0" sz="1150">
              <a:solidFill>
                <a:srgbClr val="5B64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7"/>
          <p:cNvSpPr txBox="1"/>
          <p:nvPr/>
        </p:nvSpPr>
        <p:spPr>
          <a:xfrm>
            <a:off x="6492240" y="319125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F2637"/>
                </a:solidFill>
                <a:latin typeface="Arial"/>
                <a:ea typeface="Arial"/>
                <a:cs typeface="Arial"/>
                <a:sym typeface="Arial"/>
              </a:rPr>
              <a:t>Отчетность</a:t>
            </a:r>
            <a:endParaRPr/>
          </a:p>
        </p:txBody>
      </p:sp>
      <p:sp>
        <p:nvSpPr>
          <p:cNvPr id="337" name="Google Shape;337;p17"/>
          <p:cNvSpPr txBox="1"/>
          <p:nvPr/>
        </p:nvSpPr>
        <p:spPr>
          <a:xfrm>
            <a:off x="8001000" y="3191256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KPI строятся из операционной БД</a:t>
            </a:r>
            <a:endParaRPr/>
          </a:p>
        </p:txBody>
      </p:sp>
      <p:sp>
        <p:nvSpPr>
          <p:cNvPr id="338" name="Google Shape;338;p17"/>
          <p:cNvSpPr/>
          <p:nvPr/>
        </p:nvSpPr>
        <p:spPr>
          <a:xfrm>
            <a:off x="731520" y="4434840"/>
            <a:ext cx="10424160" cy="1051560"/>
          </a:xfrm>
          <a:prstGeom prst="roundRect">
            <a:avLst>
              <a:gd fmla="val 16667" name="adj"/>
            </a:avLst>
          </a:prstGeom>
          <a:solidFill>
            <a:srgbClr val="323C8D"/>
          </a:solidFill>
          <a:ln cap="flat" cmpd="sng" w="12700">
            <a:solidFill>
              <a:srgbClr val="323C8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 txBox="1"/>
          <p:nvPr/>
        </p:nvSpPr>
        <p:spPr>
          <a:xfrm>
            <a:off x="1005840" y="4522039"/>
            <a:ext cx="9875520" cy="877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Практическая значимость: «Пульс» можно использовать как основу автоматизации малых и средних волонтерских организаций, студенческих объединений и социальных проектов.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"/>
          <p:cNvSpPr/>
          <p:nvPr/>
        </p:nvSpPr>
        <p:spPr>
          <a:xfrm>
            <a:off x="1828800" y="2651760"/>
            <a:ext cx="960084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323C8D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 b="0" sz="46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1828800" y="3840480"/>
            <a:ext cx="96008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B6476"/>
                </a:solidFill>
                <a:latin typeface="Arial"/>
                <a:ea typeface="Arial"/>
                <a:cs typeface="Arial"/>
                <a:sym typeface="Arial"/>
              </a:rPr>
              <a:t>Информационная система «Пульс»: заявки, задачи, часы, достижения, сертификаты и аналитика в едином контуре</a:t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