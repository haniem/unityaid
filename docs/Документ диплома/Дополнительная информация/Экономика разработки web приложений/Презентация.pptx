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8" r:id="rId3"/>
    <p:sldId id="257" r:id="rId4"/>
    <p:sldId id="276" r:id="rId5"/>
    <p:sldId id="290" r:id="rId6"/>
    <p:sldId id="283" r:id="rId7"/>
    <p:sldId id="291" r:id="rId8"/>
    <p:sldId id="292" r:id="rId9"/>
    <p:sldId id="293" r:id="rId10"/>
    <p:sldId id="294" r:id="rId11"/>
    <p:sldId id="273" r:id="rId12"/>
    <p:sldId id="279" r:id="rId13"/>
    <p:sldId id="278" r:id="rId14"/>
    <p:sldId id="297" r:id="rId15"/>
    <p:sldId id="303" r:id="rId16"/>
    <p:sldId id="272" r:id="rId17"/>
    <p:sldId id="299" r:id="rId18"/>
    <p:sldId id="300" r:id="rId19"/>
    <p:sldId id="301" r:id="rId20"/>
    <p:sldId id="302" r:id="rId21"/>
    <p:sldId id="304" r:id="rId22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89D902-96DE-4268-9899-EC5007A015B2}">
  <a:tblStyle styleId="{4489D902-96DE-4268-9899-EC5007A015B2}" styleName="Table_0"/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53" y="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&#1055;&#1072;&#1074;&#1077;&#1083;\YandexDisk\Usefull\university\&#1055;&#1088;&#1086;&#1077;&#1082;&#1090;&#1085;&#1072;&#1103;%20&#1076;&#1077;&#1103;&#1090;&#1077;&#1083;&#1100;&#1085;&#1086;&#1089;&#1090;&#1100;%20OR%20&#1041;&#1072;&#1079;&#1099;%20&#1076;&#1072;&#1085;&#1085;&#1099;&#1093;%20OR%20&#1069;&#1082;&#1086;&#1085;&#1086;&#1084;&#1080;&#1082;&#1072;%20&#1087;&#1088;&#1086;&#1077;&#1082;&#1090;&#1072;%20OR%20&#1044;&#1080;&#1087;&#1083;&#1086;&#1084;&#1085;&#1099;&#1081;%20&#1087;&#1088;&#1086;&#1077;&#1082;&#1090;\&#1069;&#1082;&#1086;&#1085;&#1086;&#1084;&#1080;&#1082;&#1072;%20&#1088;&#1072;&#1079;&#1088;&#1072;&#1073;&#1086;&#1090;&#1082;&#1080;%20web%20&#1087;&#1088;&#1080;&#1083;&#1086;&#1078;&#1077;&#1085;&#1080;&#1081;\&#1041;&#1080;&#1079;&#1085;&#1077;&#1089;%20&#1087;&#1083;&#1072;&#1085;.xls" TargetMode="External"/><Relationship Id="rId1" Type="http://schemas.openxmlformats.org/officeDocument/2006/relationships/image" Target="../media/image9.png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72;&#1074;&#1077;&#1083;\Desktop\&#1051;&#1080;&#1089;&#1090;%20Microsoft%20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600" b="1" i="0" u="none" strike="noStrike" baseline="0">
                <a:solidFill>
                  <a:srgbClr val="000080"/>
                </a:solidFill>
                <a:latin typeface="Arial"/>
                <a:ea typeface="Arial"/>
                <a:cs typeface="Arial"/>
              </a:defRPr>
            </a:pPr>
            <a:r>
              <a:rPr lang="ru-RU" sz="1600"/>
              <a:t>ДВИЖЕНИЕ ДЕНЕЖНЫХ СРЕДСТВ ПО ПРОЕКТУ, руб.</a:t>
            </a:r>
          </a:p>
        </c:rich>
      </c:tx>
      <c:layout>
        <c:manualLayout>
          <c:xMode val="edge"/>
          <c:yMode val="edge"/>
          <c:x val="0.21312656641604011"/>
          <c:y val="2.3868456316378173E-2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2.3387105983455923E-2"/>
          <c:y val="0.20631988985526714"/>
          <c:w val="0.96129070111308479"/>
          <c:h val="0.68029801519844835"/>
        </c:manualLayout>
      </c:layout>
      <c:barChart>
        <c:barDir val="col"/>
        <c:grouping val="clustered"/>
        <c:varyColors val="0"/>
        <c:ser>
          <c:idx val="1"/>
          <c:order val="0"/>
          <c:tx>
            <c:v>ИЗМЕНЕНИЕ В БАЛАНСЕ ДЕНЕЖНЫХ СРЕДСТВ (НАКОПЛЕННЫЙ ДЕНЕЖНЫЙ ПОТОК)</c:v>
          </c:tx>
          <c:spPr>
            <a:blipFill dpi="0" rotWithShape="0">
              <a:blip xmlns:r="http://schemas.openxmlformats.org/officeDocument/2006/relationships" r:embed="rId1"/>
              <a:srcRect/>
              <a:tile tx="0" ty="0" sx="100000" sy="100000" flip="none" algn="tl"/>
            </a:blipFill>
            <a:ln w="12700">
              <a:solidFill>
                <a:srgbClr val="000000"/>
              </a:solidFill>
              <a:prstDash val="solid"/>
            </a:ln>
          </c:spPr>
          <c:invertIfNegative val="0"/>
          <c:cat>
            <c:numRef>
              <c:f>'[Бизнес план.xls]Приложение 1 (На печать 1)'!$B$8:$N$8</c:f>
              <c:numCache>
                <c:formatCode>mmm\-yy</c:formatCode>
                <c:ptCount val="13"/>
                <c:pt idx="0">
                  <c:v>40725</c:v>
                </c:pt>
                <c:pt idx="1">
                  <c:v>40756</c:v>
                </c:pt>
                <c:pt idx="2">
                  <c:v>40787</c:v>
                </c:pt>
                <c:pt idx="3">
                  <c:v>40818</c:v>
                </c:pt>
                <c:pt idx="4">
                  <c:v>40849</c:v>
                </c:pt>
                <c:pt idx="5">
                  <c:v>40880</c:v>
                </c:pt>
                <c:pt idx="6">
                  <c:v>40911</c:v>
                </c:pt>
                <c:pt idx="7">
                  <c:v>40942</c:v>
                </c:pt>
                <c:pt idx="8">
                  <c:v>40973</c:v>
                </c:pt>
                <c:pt idx="9">
                  <c:v>41004</c:v>
                </c:pt>
                <c:pt idx="10">
                  <c:v>41035</c:v>
                </c:pt>
                <c:pt idx="11">
                  <c:v>41066</c:v>
                </c:pt>
                <c:pt idx="12">
                  <c:v>41097</c:v>
                </c:pt>
              </c:numCache>
            </c:numRef>
          </c:cat>
          <c:val>
            <c:numRef>
              <c:f>'[Бизнес план.xls]Приложение 1 (На печать 1)'!$B$88:$N$88</c:f>
              <c:numCache>
                <c:formatCode>#,##0</c:formatCode>
                <c:ptCount val="13"/>
                <c:pt idx="0">
                  <c:v>-282608.25</c:v>
                </c:pt>
                <c:pt idx="1">
                  <c:v>-287274.75</c:v>
                </c:pt>
                <c:pt idx="2">
                  <c:v>-444221.25</c:v>
                </c:pt>
                <c:pt idx="3">
                  <c:v>-601167.75</c:v>
                </c:pt>
                <c:pt idx="4">
                  <c:v>-758114.25</c:v>
                </c:pt>
                <c:pt idx="5">
                  <c:v>-915060.75</c:v>
                </c:pt>
                <c:pt idx="6">
                  <c:v>-1085351.3999999999</c:v>
                </c:pt>
                <c:pt idx="7">
                  <c:v>745387.95000000019</c:v>
                </c:pt>
                <c:pt idx="8">
                  <c:v>2894877.3000000003</c:v>
                </c:pt>
                <c:pt idx="9">
                  <c:v>4066866.6500000004</c:v>
                </c:pt>
                <c:pt idx="10">
                  <c:v>4920106</c:v>
                </c:pt>
                <c:pt idx="11">
                  <c:v>4868519.5</c:v>
                </c:pt>
                <c:pt idx="12">
                  <c:v>4816933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14-4549-B016-2ACC8F996C5F}"/>
            </c:ext>
          </c:extLst>
        </c:ser>
        <c:ser>
          <c:idx val="0"/>
          <c:order val="1"/>
          <c:tx>
            <c:v>ИЗМЕНЕНИЕ В БАЛАНСЕ ДЕНЕЖНЫХ СРЕДСТВ (ДЕНЕЖНЫЙ ПОТОК)</c:v>
          </c:tx>
          <c:spPr>
            <a:solidFill>
              <a:srgbClr val="00B0F0"/>
            </a:solidFill>
            <a:ln w="12700">
              <a:solidFill>
                <a:srgbClr val="000000"/>
              </a:solidFill>
              <a:prstDash val="solid"/>
            </a:ln>
          </c:spPr>
          <c:invertIfNegative val="0"/>
          <c:cat>
            <c:numRef>
              <c:f>'[Бизнес план.xls]Приложение 1 (На печать 1)'!$B$8:$N$8</c:f>
              <c:numCache>
                <c:formatCode>mmm\-yy</c:formatCode>
                <c:ptCount val="13"/>
                <c:pt idx="0">
                  <c:v>40725</c:v>
                </c:pt>
                <c:pt idx="1">
                  <c:v>40756</c:v>
                </c:pt>
                <c:pt idx="2">
                  <c:v>40787</c:v>
                </c:pt>
                <c:pt idx="3">
                  <c:v>40818</c:v>
                </c:pt>
                <c:pt idx="4">
                  <c:v>40849</c:v>
                </c:pt>
                <c:pt idx="5">
                  <c:v>40880</c:v>
                </c:pt>
                <c:pt idx="6">
                  <c:v>40911</c:v>
                </c:pt>
                <c:pt idx="7">
                  <c:v>40942</c:v>
                </c:pt>
                <c:pt idx="8">
                  <c:v>40973</c:v>
                </c:pt>
                <c:pt idx="9">
                  <c:v>41004</c:v>
                </c:pt>
                <c:pt idx="10">
                  <c:v>41035</c:v>
                </c:pt>
                <c:pt idx="11">
                  <c:v>41066</c:v>
                </c:pt>
                <c:pt idx="12">
                  <c:v>41097</c:v>
                </c:pt>
              </c:numCache>
            </c:numRef>
          </c:cat>
          <c:val>
            <c:numRef>
              <c:f>'[Бизнес план.xls]Приложение 1 (На печать 1)'!$B$87:$N$87</c:f>
              <c:numCache>
                <c:formatCode>#,##0</c:formatCode>
                <c:ptCount val="13"/>
                <c:pt idx="0" formatCode="#\ ##0_ ;[Red]\-#\ ##0\ ">
                  <c:v>-282608.25</c:v>
                </c:pt>
                <c:pt idx="1">
                  <c:v>-4666.5</c:v>
                </c:pt>
                <c:pt idx="2">
                  <c:v>-156946.5</c:v>
                </c:pt>
                <c:pt idx="3">
                  <c:v>-156946.5</c:v>
                </c:pt>
                <c:pt idx="4">
                  <c:v>-156946.5</c:v>
                </c:pt>
                <c:pt idx="5">
                  <c:v>-156946.5</c:v>
                </c:pt>
                <c:pt idx="6">
                  <c:v>-170290.65</c:v>
                </c:pt>
                <c:pt idx="7">
                  <c:v>1830739.35</c:v>
                </c:pt>
                <c:pt idx="8">
                  <c:v>2149489.35</c:v>
                </c:pt>
                <c:pt idx="9">
                  <c:v>1171989.3500000001</c:v>
                </c:pt>
                <c:pt idx="10">
                  <c:v>853239.35</c:v>
                </c:pt>
                <c:pt idx="11">
                  <c:v>-51586.5</c:v>
                </c:pt>
                <c:pt idx="12">
                  <c:v>-51586.5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14-4549-B016-2ACC8F996C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22302400"/>
        <c:axId val="1"/>
      </c:barChart>
      <c:lineChart>
        <c:grouping val="standard"/>
        <c:varyColors val="0"/>
        <c:ser>
          <c:idx val="2"/>
          <c:order val="2"/>
          <c:tx>
            <c:v>ЧИСТАЯ ПРИБЫЛЬ (УБЫТКИ) НАРАСТАЮЩИМ ИТОГОМ </c:v>
          </c:tx>
          <c:spPr>
            <a:ln w="38100">
              <a:solidFill>
                <a:srgbClr val="FF0000"/>
              </a:solidFill>
              <a:prstDash val="solid"/>
            </a:ln>
          </c:spPr>
          <c:marker>
            <c:symbol val="circle"/>
            <c:size val="7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val>
            <c:numRef>
              <c:f>'[Бизнес план.xls]Приложение 1 (На печать 1)'!$B$84:$N$84</c:f>
              <c:numCache>
                <c:formatCode>#,##0</c:formatCode>
                <c:ptCount val="13"/>
                <c:pt idx="0">
                  <c:v>-282608.25</c:v>
                </c:pt>
                <c:pt idx="1">
                  <c:v>-287274.75</c:v>
                </c:pt>
                <c:pt idx="2">
                  <c:v>-444221.25</c:v>
                </c:pt>
                <c:pt idx="3">
                  <c:v>-601167.75</c:v>
                </c:pt>
                <c:pt idx="4">
                  <c:v>-758114.25</c:v>
                </c:pt>
                <c:pt idx="5">
                  <c:v>-915060.75</c:v>
                </c:pt>
                <c:pt idx="6">
                  <c:v>-1085351.3999999999</c:v>
                </c:pt>
                <c:pt idx="7">
                  <c:v>745387.95000000019</c:v>
                </c:pt>
                <c:pt idx="8">
                  <c:v>2894877.3000000003</c:v>
                </c:pt>
                <c:pt idx="9">
                  <c:v>4066866.6500000004</c:v>
                </c:pt>
                <c:pt idx="10">
                  <c:v>4920106</c:v>
                </c:pt>
                <c:pt idx="11">
                  <c:v>4868519.5</c:v>
                </c:pt>
                <c:pt idx="12">
                  <c:v>4816933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414-4549-B016-2ACC8F996C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catAx>
        <c:axId val="422302400"/>
        <c:scaling>
          <c:orientation val="minMax"/>
        </c:scaling>
        <c:delete val="0"/>
        <c:axPos val="b"/>
        <c:numFmt formatCode="mmm\-yy" sourceLinked="1"/>
        <c:majorTickMark val="cross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1"/>
        <c:crosses val="autoZero"/>
        <c:auto val="0"/>
        <c:lblAlgn val="ctr"/>
        <c:lblOffset val="100"/>
        <c:tickLblSkip val="1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dash"/>
            </a:ln>
          </c:spPr>
        </c:majorGridlines>
        <c:numFmt formatCode="#,##0" sourceLinked="1"/>
        <c:majorTickMark val="cross"/>
        <c:minorTickMark val="none"/>
        <c:tickLblPos val="nextTo"/>
        <c:spPr>
          <a:ln w="3175">
            <a:solidFill>
              <a:srgbClr val="000000"/>
            </a:solidFill>
            <a:prstDash val="dash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ru-RU"/>
          </a:p>
        </c:txPr>
        <c:crossAx val="422302400"/>
        <c:crosses val="autoZero"/>
        <c:crossBetween val="between"/>
      </c:valAx>
      <c:catAx>
        <c:axId val="3"/>
        <c:scaling>
          <c:orientation val="minMax"/>
        </c:scaling>
        <c:delete val="1"/>
        <c:axPos val="b"/>
        <c:majorTickMark val="out"/>
        <c:minorTickMark val="none"/>
        <c:tickLblPos val="nextTo"/>
        <c:crossAx val="4"/>
        <c:crosses val="autoZero"/>
        <c:auto val="0"/>
        <c:lblAlgn val="ctr"/>
        <c:lblOffset val="100"/>
        <c:noMultiLvlLbl val="0"/>
      </c:catAx>
      <c:valAx>
        <c:axId val="4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3"/>
        <c:crosses val="autoZero"/>
        <c:crossBetween val="between"/>
      </c:valAx>
      <c:spPr>
        <a:noFill/>
        <a:ln w="1270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6.030331734848933E-2"/>
          <c:y val="0.12213030333233663"/>
          <c:w val="0.88570556969852454"/>
          <c:h val="9.0519987744148017E-2"/>
        </c:manualLayout>
      </c:layout>
      <c:overlay val="0"/>
      <c:spPr>
        <a:solidFill>
          <a:srgbClr val="FFFFFF"/>
        </a:solidFill>
        <a:ln w="3175">
          <a:noFill/>
          <a:prstDash val="solid"/>
        </a:ln>
      </c:spPr>
      <c:txPr>
        <a:bodyPr/>
        <a:lstStyle/>
        <a:p>
          <a:pPr>
            <a:defRPr sz="920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ru-RU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 smtClean="0"/>
              <a:t>План сбыта</a:t>
            </a:r>
            <a:endParaRPr lang="ru-RU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'4.6. План сбыта'!$B$6:$C$6</c:f>
              <c:strCache>
                <c:ptCount val="2"/>
                <c:pt idx="0">
                  <c:v> Установка и развёртывание программного обеспечения </c:v>
                </c:pt>
                <c:pt idx="1">
                  <c:v>Кол-во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  <a:sp3d contourW="9525">
              <a:contourClr>
                <a:schemeClr val="accent1">
                  <a:shade val="9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'4.6. План сбыта'!$D$4:$O$5</c:f>
              <c:multiLvlStrCache>
                <c:ptCount val="12"/>
                <c:lvl>
                  <c:pt idx="0">
                    <c:v>Август</c:v>
                  </c:pt>
                  <c:pt idx="1">
                    <c:v>Сентябрь</c:v>
                  </c:pt>
                  <c:pt idx="2">
                    <c:v>Октябрь</c:v>
                  </c:pt>
                  <c:pt idx="3">
                    <c:v>Ноябрь</c:v>
                  </c:pt>
                  <c:pt idx="4">
                    <c:v>Декабрь</c:v>
                  </c:pt>
                  <c:pt idx="5">
                    <c:v>Январь</c:v>
                  </c:pt>
                  <c:pt idx="6">
                    <c:v>Февраль</c:v>
                  </c:pt>
                  <c:pt idx="7">
                    <c:v>Март </c:v>
                  </c:pt>
                  <c:pt idx="8">
                    <c:v>Апрель</c:v>
                  </c:pt>
                  <c:pt idx="9">
                    <c:v>Май</c:v>
                  </c:pt>
                  <c:pt idx="10">
                    <c:v>Июнь</c:v>
                  </c:pt>
                  <c:pt idx="11">
                    <c:v>Июль</c:v>
                  </c:pt>
                </c:lvl>
                <c:lvl>
                  <c:pt idx="0">
                    <c:v>Первый год (по месяцам) руб.</c:v>
                  </c:pt>
                </c:lvl>
              </c:multiLvlStrCache>
            </c:multiLvlStrRef>
          </c:cat>
          <c:val>
            <c:numRef>
              <c:f>'4.6. План сбыта'!$D$6:$O$6</c:f>
              <c:numCache>
                <c:formatCode>General</c:formatCode>
                <c:ptCount val="12"/>
                <c:pt idx="5" formatCode="0">
                  <c:v>1</c:v>
                </c:pt>
                <c:pt idx="6" formatCode="0">
                  <c:v>30</c:v>
                </c:pt>
                <c:pt idx="7" formatCode="0">
                  <c:v>35</c:v>
                </c:pt>
                <c:pt idx="8" formatCode="0">
                  <c:v>20</c:v>
                </c:pt>
                <c:pt idx="9" formatCode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B3-4786-8D47-24E1B90F4044}"/>
            </c:ext>
          </c:extLst>
        </c:ser>
        <c:ser>
          <c:idx val="1"/>
          <c:order val="1"/>
          <c:tx>
            <c:strRef>
              <c:f>'4.6. План сбыта'!$B$7:$C$7</c:f>
              <c:strCache>
                <c:ptCount val="2"/>
                <c:pt idx="0">
                  <c:v>Усовершенствование ПО для внедрения в имеющуюся систему</c:v>
                </c:pt>
                <c:pt idx="1">
                  <c:v>Кол-во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  <a:sp3d contourW="9525">
              <a:contourClr>
                <a:schemeClr val="accent2">
                  <a:shade val="9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'4.6. План сбыта'!$D$4:$O$5</c:f>
              <c:multiLvlStrCache>
                <c:ptCount val="12"/>
                <c:lvl>
                  <c:pt idx="0">
                    <c:v>Август</c:v>
                  </c:pt>
                  <c:pt idx="1">
                    <c:v>Сентябрь</c:v>
                  </c:pt>
                  <c:pt idx="2">
                    <c:v>Октябрь</c:v>
                  </c:pt>
                  <c:pt idx="3">
                    <c:v>Ноябрь</c:v>
                  </c:pt>
                  <c:pt idx="4">
                    <c:v>Декабрь</c:v>
                  </c:pt>
                  <c:pt idx="5">
                    <c:v>Январь</c:v>
                  </c:pt>
                  <c:pt idx="6">
                    <c:v>Февраль</c:v>
                  </c:pt>
                  <c:pt idx="7">
                    <c:v>Март </c:v>
                  </c:pt>
                  <c:pt idx="8">
                    <c:v>Апрель</c:v>
                  </c:pt>
                  <c:pt idx="9">
                    <c:v>Май</c:v>
                  </c:pt>
                  <c:pt idx="10">
                    <c:v>Июнь</c:v>
                  </c:pt>
                  <c:pt idx="11">
                    <c:v>Июль</c:v>
                  </c:pt>
                </c:lvl>
                <c:lvl>
                  <c:pt idx="0">
                    <c:v>Первый год (по месяцам) руб.</c:v>
                  </c:pt>
                </c:lvl>
              </c:multiLvlStrCache>
            </c:multiLvlStrRef>
          </c:cat>
          <c:val>
            <c:numRef>
              <c:f>'4.6. План сбыта'!$D$7:$O$7</c:f>
              <c:numCache>
                <c:formatCode>General</c:formatCode>
                <c:ptCount val="12"/>
                <c:pt idx="5" formatCode="0">
                  <c:v>1</c:v>
                </c:pt>
                <c:pt idx="6" formatCode="0">
                  <c:v>30</c:v>
                </c:pt>
                <c:pt idx="7" formatCode="0">
                  <c:v>35</c:v>
                </c:pt>
                <c:pt idx="8" formatCode="0">
                  <c:v>20</c:v>
                </c:pt>
                <c:pt idx="9" formatCode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B3-4786-8D47-24E1B90F4044}"/>
            </c:ext>
          </c:extLst>
        </c:ser>
        <c:ser>
          <c:idx val="2"/>
          <c:order val="2"/>
          <c:tx>
            <c:strRef>
              <c:f>'4.6. План сбыта'!$B$8:$C$8</c:f>
              <c:strCache>
                <c:ptCount val="2"/>
                <c:pt idx="0">
                  <c:v> Годовая подписка на обновления программного обеспечения </c:v>
                </c:pt>
                <c:pt idx="1">
                  <c:v>Кол-во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  <a:sp3d contourW="9525">
              <a:contourClr>
                <a:schemeClr val="accent3">
                  <a:shade val="9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'4.6. План сбыта'!$D$4:$O$5</c:f>
              <c:multiLvlStrCache>
                <c:ptCount val="12"/>
                <c:lvl>
                  <c:pt idx="0">
                    <c:v>Август</c:v>
                  </c:pt>
                  <c:pt idx="1">
                    <c:v>Сентябрь</c:v>
                  </c:pt>
                  <c:pt idx="2">
                    <c:v>Октябрь</c:v>
                  </c:pt>
                  <c:pt idx="3">
                    <c:v>Ноябрь</c:v>
                  </c:pt>
                  <c:pt idx="4">
                    <c:v>Декабрь</c:v>
                  </c:pt>
                  <c:pt idx="5">
                    <c:v>Январь</c:v>
                  </c:pt>
                  <c:pt idx="6">
                    <c:v>Февраль</c:v>
                  </c:pt>
                  <c:pt idx="7">
                    <c:v>Март </c:v>
                  </c:pt>
                  <c:pt idx="8">
                    <c:v>Апрель</c:v>
                  </c:pt>
                  <c:pt idx="9">
                    <c:v>Май</c:v>
                  </c:pt>
                  <c:pt idx="10">
                    <c:v>Июнь</c:v>
                  </c:pt>
                  <c:pt idx="11">
                    <c:v>Июль</c:v>
                  </c:pt>
                </c:lvl>
                <c:lvl>
                  <c:pt idx="0">
                    <c:v>Первый год (по месяцам) руб.</c:v>
                  </c:pt>
                </c:lvl>
              </c:multiLvlStrCache>
            </c:multiLvlStrRef>
          </c:cat>
          <c:val>
            <c:numRef>
              <c:f>'4.6. План сбыта'!$D$8:$O$8</c:f>
              <c:numCache>
                <c:formatCode>General</c:formatCode>
                <c:ptCount val="12"/>
                <c:pt idx="5" formatCode="0">
                  <c:v>1</c:v>
                </c:pt>
                <c:pt idx="6" formatCode="0">
                  <c:v>30</c:v>
                </c:pt>
                <c:pt idx="7" formatCode="0">
                  <c:v>35</c:v>
                </c:pt>
                <c:pt idx="8" formatCode="0">
                  <c:v>20</c:v>
                </c:pt>
                <c:pt idx="9" formatCode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B3-4786-8D47-24E1B90F4044}"/>
            </c:ext>
          </c:extLst>
        </c:ser>
        <c:ser>
          <c:idx val="3"/>
          <c:order val="3"/>
          <c:tx>
            <c:strRef>
              <c:f>'4.6. План сбыта'!$B$9:$C$9</c:f>
              <c:strCache>
                <c:ptCount val="2"/>
                <c:pt idx="0">
                  <c:v> Усовершенствование ПО для внедрения в имеющуюся систему </c:v>
                </c:pt>
                <c:pt idx="1">
                  <c:v>Кол-во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  <a:sp3d contourW="9525">
              <a:contourClr>
                <a:schemeClr val="accent4">
                  <a:shade val="9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'4.6. План сбыта'!$D$4:$O$5</c:f>
              <c:multiLvlStrCache>
                <c:ptCount val="12"/>
                <c:lvl>
                  <c:pt idx="0">
                    <c:v>Август</c:v>
                  </c:pt>
                  <c:pt idx="1">
                    <c:v>Сентябрь</c:v>
                  </c:pt>
                  <c:pt idx="2">
                    <c:v>Октябрь</c:v>
                  </c:pt>
                  <c:pt idx="3">
                    <c:v>Ноябрь</c:v>
                  </c:pt>
                  <c:pt idx="4">
                    <c:v>Декабрь</c:v>
                  </c:pt>
                  <c:pt idx="5">
                    <c:v>Январь</c:v>
                  </c:pt>
                  <c:pt idx="6">
                    <c:v>Февраль</c:v>
                  </c:pt>
                  <c:pt idx="7">
                    <c:v>Март </c:v>
                  </c:pt>
                  <c:pt idx="8">
                    <c:v>Апрель</c:v>
                  </c:pt>
                  <c:pt idx="9">
                    <c:v>Май</c:v>
                  </c:pt>
                  <c:pt idx="10">
                    <c:v>Июнь</c:v>
                  </c:pt>
                  <c:pt idx="11">
                    <c:v>Июль</c:v>
                  </c:pt>
                </c:lvl>
                <c:lvl>
                  <c:pt idx="0">
                    <c:v>Первый год (по месяцам) руб.</c:v>
                  </c:pt>
                </c:lvl>
              </c:multiLvlStrCache>
            </c:multiLvlStrRef>
          </c:cat>
          <c:val>
            <c:numRef>
              <c:f>'4.6. План сбыта'!$D$9:$O$9</c:f>
              <c:numCache>
                <c:formatCode>General</c:formatCode>
                <c:ptCount val="12"/>
                <c:pt idx="5" formatCode="0">
                  <c:v>1</c:v>
                </c:pt>
                <c:pt idx="6" formatCode="0">
                  <c:v>30</c:v>
                </c:pt>
                <c:pt idx="7" formatCode="0">
                  <c:v>35</c:v>
                </c:pt>
                <c:pt idx="8" formatCode="0">
                  <c:v>20</c:v>
                </c:pt>
                <c:pt idx="9" formatCode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9B3-4786-8D47-24E1B90F40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442913616"/>
        <c:axId val="442913944"/>
        <c:axId val="0"/>
      </c:bar3DChart>
      <c:catAx>
        <c:axId val="442913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2913944"/>
        <c:crosses val="autoZero"/>
        <c:auto val="1"/>
        <c:lblAlgn val="ctr"/>
        <c:lblOffset val="100"/>
        <c:noMultiLvlLbl val="0"/>
      </c:catAx>
      <c:valAx>
        <c:axId val="442913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2913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/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/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/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/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/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/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/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/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244615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6811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 dirty="0"/>
          </a:p>
        </p:txBody>
      </p:sp>
      <p:sp>
        <p:nvSpPr>
          <p:cNvPr id="107" name="Shape 107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8696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 dirty="0"/>
          </a:p>
        </p:txBody>
      </p:sp>
      <p:sp>
        <p:nvSpPr>
          <p:cNvPr id="97" name="Shape 97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347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 dirty="0"/>
          </a:p>
        </p:txBody>
      </p:sp>
      <p:sp>
        <p:nvSpPr>
          <p:cNvPr id="97" name="Shape 97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9129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ru-RU" sz="1800" b="0" i="0" u="none" strike="noStrike" cap="none" dirty="0"/>
          </a:p>
        </p:txBody>
      </p:sp>
      <p:sp>
        <p:nvSpPr>
          <p:cNvPr id="97" name="Shape 97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4162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ru-RU" sz="1800" b="0" i="0" u="none" strike="noStrike" cap="none" dirty="0"/>
          </a:p>
        </p:txBody>
      </p:sp>
      <p:sp>
        <p:nvSpPr>
          <p:cNvPr id="97" name="Shape 97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5273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ru-RU" sz="1800" b="0" i="0" u="none" strike="noStrike" cap="none" dirty="0"/>
          </a:p>
        </p:txBody>
      </p:sp>
      <p:sp>
        <p:nvSpPr>
          <p:cNvPr id="97" name="Shape 97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7714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ru-RU" sz="1800" b="0" i="0" u="none" strike="noStrike" cap="none" dirty="0"/>
          </a:p>
        </p:txBody>
      </p:sp>
      <p:sp>
        <p:nvSpPr>
          <p:cNvPr id="97" name="Shape 97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2925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ru-RU" sz="1800" b="0" i="0" u="none" strike="noStrike" cap="none" dirty="0"/>
          </a:p>
        </p:txBody>
      </p:sp>
      <p:sp>
        <p:nvSpPr>
          <p:cNvPr id="97" name="Shape 97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701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ru-RU" sz="1800" b="0" i="0" u="none" strike="noStrike" cap="none" dirty="0"/>
          </a:p>
        </p:txBody>
      </p:sp>
      <p:sp>
        <p:nvSpPr>
          <p:cNvPr id="97" name="Shape 97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1316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ru-RU" sz="1800" b="0" i="0" u="none" strike="noStrike" cap="none" dirty="0"/>
              <a:t>В основе устройства – научно-доказанная и апробированная методика, связанная с проведением одновременных измерений и анализом совокупности спектральных характеристик в целом (спектры поглощения, флюоресценции и комбинационного рассеяния). </a:t>
            </a:r>
          </a:p>
        </p:txBody>
      </p:sp>
      <p:sp>
        <p:nvSpPr>
          <p:cNvPr id="97" name="Shape 97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5320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97" name="Shape 97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5320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97" name="Shape 97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98941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78" name="Shape 178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179" name="Shape 179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023149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30" name="Shape 230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231" name="Shape 231"/>
          <p:cNvSpPr txBox="1"/>
          <p:nvPr/>
        </p:nvSpPr>
        <p:spPr>
          <a:xfrm>
            <a:off x="3884612" y="8685211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9964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7" name="Shape 157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9565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5" name="Shape 22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Shape 226"/>
          <p:cNvSpPr txBox="1"/>
          <p:nvPr/>
        </p:nvSpPr>
        <p:spPr>
          <a:xfrm>
            <a:off x="3884612" y="8685210"/>
            <a:ext cx="2971799" cy="45878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ru-RU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84184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5" name="Shape 22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Shape 226"/>
          <p:cNvSpPr txBox="1"/>
          <p:nvPr/>
        </p:nvSpPr>
        <p:spPr>
          <a:xfrm>
            <a:off x="3884612" y="8685210"/>
            <a:ext cx="2971799" cy="45878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ru-RU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92300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5" name="Shape 22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Shape 226"/>
          <p:cNvSpPr txBox="1"/>
          <p:nvPr/>
        </p:nvSpPr>
        <p:spPr>
          <a:xfrm>
            <a:off x="3884612" y="8685210"/>
            <a:ext cx="2971799" cy="45878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ru-RU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36297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5" name="Shape 22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Shape 226"/>
          <p:cNvSpPr txBox="1"/>
          <p:nvPr/>
        </p:nvSpPr>
        <p:spPr>
          <a:xfrm>
            <a:off x="3884612" y="8685210"/>
            <a:ext cx="2971799" cy="45878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lang="ru-RU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ru-RU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502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681037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ftr" idx="11"/>
          </p:nvPr>
        </p:nvSpPr>
        <p:spPr>
          <a:xfrm>
            <a:off x="3281362" y="6356350"/>
            <a:ext cx="3343274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6996111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681037" y="365125"/>
            <a:ext cx="8543925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1037" y="1825625"/>
            <a:ext cx="8543925" cy="435133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xfrm>
            <a:off x="681037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ftr" idx="11"/>
          </p:nvPr>
        </p:nvSpPr>
        <p:spPr>
          <a:xfrm>
            <a:off x="3281362" y="6356350"/>
            <a:ext cx="3343274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6996111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Вертикальный заголовок и текст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 rot="5400000">
            <a:off x="5251052" y="2203053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 rot="5400000">
            <a:off x="917177" y="128984"/>
            <a:ext cx="5811838" cy="62841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681037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3281362" y="6356350"/>
            <a:ext cx="3343274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6996111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Заголовок и вертикальный текст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681037" y="365125"/>
            <a:ext cx="8543925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 rot="5400000">
            <a:off x="2777330" y="-270669"/>
            <a:ext cx="4351336" cy="85439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681037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3281362" y="6356350"/>
            <a:ext cx="3343274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6996111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Рисунок с подписью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682327" y="457200"/>
            <a:ext cx="3194942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pic" idx="2"/>
          </p:nvPr>
        </p:nvSpPr>
        <p:spPr>
          <a:xfrm>
            <a:off x="4211339" y="987425"/>
            <a:ext cx="5014912" cy="48736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682327" y="2057400"/>
            <a:ext cx="3194942" cy="3811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dt" idx="10"/>
          </p:nvPr>
        </p:nvSpPr>
        <p:spPr>
          <a:xfrm>
            <a:off x="681037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ftr" idx="11"/>
          </p:nvPr>
        </p:nvSpPr>
        <p:spPr>
          <a:xfrm>
            <a:off x="3281362" y="6356350"/>
            <a:ext cx="3343274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6996111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682327" y="457200"/>
            <a:ext cx="3194942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4211339" y="987425"/>
            <a:ext cx="5014912" cy="48736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25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50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body" idx="2"/>
          </p:nvPr>
        </p:nvSpPr>
        <p:spPr>
          <a:xfrm>
            <a:off x="682327" y="2057400"/>
            <a:ext cx="3194942" cy="3811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dt" idx="10"/>
          </p:nvPr>
        </p:nvSpPr>
        <p:spPr>
          <a:xfrm>
            <a:off x="681037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ftr" idx="11"/>
          </p:nvPr>
        </p:nvSpPr>
        <p:spPr>
          <a:xfrm>
            <a:off x="3281362" y="6356350"/>
            <a:ext cx="3343274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sldNum" idx="12"/>
          </p:nvPr>
        </p:nvSpPr>
        <p:spPr>
          <a:xfrm>
            <a:off x="6996111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title"/>
          </p:nvPr>
        </p:nvSpPr>
        <p:spPr>
          <a:xfrm>
            <a:off x="681037" y="365125"/>
            <a:ext cx="8543925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681037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3281362" y="6356350"/>
            <a:ext cx="3343274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6996111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Сравнение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682327" y="365126"/>
            <a:ext cx="8543925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2327" y="1681163"/>
            <a:ext cx="4190701" cy="8239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body" idx="2"/>
          </p:nvPr>
        </p:nvSpPr>
        <p:spPr>
          <a:xfrm>
            <a:off x="682327" y="2505075"/>
            <a:ext cx="4190701" cy="3684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3"/>
          </p:nvPr>
        </p:nvSpPr>
        <p:spPr>
          <a:xfrm>
            <a:off x="5014912" y="1681163"/>
            <a:ext cx="4211339" cy="8239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4"/>
          </p:nvPr>
        </p:nvSpPr>
        <p:spPr>
          <a:xfrm>
            <a:off x="5014912" y="2505075"/>
            <a:ext cx="4211339" cy="3684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dt" idx="10"/>
          </p:nvPr>
        </p:nvSpPr>
        <p:spPr>
          <a:xfrm>
            <a:off x="681037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ftr" idx="11"/>
          </p:nvPr>
        </p:nvSpPr>
        <p:spPr>
          <a:xfrm>
            <a:off x="3281362" y="6356350"/>
            <a:ext cx="3343274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6996111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681037" y="365125"/>
            <a:ext cx="8543925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681037" y="1825625"/>
            <a:ext cx="4210049" cy="435133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2"/>
          </p:nvPr>
        </p:nvSpPr>
        <p:spPr>
          <a:xfrm>
            <a:off x="5014912" y="1825625"/>
            <a:ext cx="4210049" cy="435133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dt" idx="10"/>
          </p:nvPr>
        </p:nvSpPr>
        <p:spPr>
          <a:xfrm>
            <a:off x="681037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ftr" idx="11"/>
          </p:nvPr>
        </p:nvSpPr>
        <p:spPr>
          <a:xfrm>
            <a:off x="3281362" y="6356350"/>
            <a:ext cx="3343274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6996111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675877" y="1709739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675877" y="4589464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dt" idx="10"/>
          </p:nvPr>
        </p:nvSpPr>
        <p:spPr>
          <a:xfrm>
            <a:off x="681037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3281362" y="6356350"/>
            <a:ext cx="3343274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6996111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681037" y="365125"/>
            <a:ext cx="8543925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681037" y="1825625"/>
            <a:ext cx="8543925" cy="435133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681037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3281362" y="6356350"/>
            <a:ext cx="3343274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6996111" y="635635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title" idx="4294967295"/>
          </p:nvPr>
        </p:nvSpPr>
        <p:spPr>
          <a:xfrm>
            <a:off x="19445" y="1289785"/>
            <a:ext cx="9886555" cy="251219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algn="ctr"/>
            <a:r>
              <a:rPr lang="ru-RU" sz="2800" b="1" dirty="0">
                <a:solidFill>
                  <a:srgbClr val="002E8A"/>
                </a:solidFill>
              </a:rPr>
              <a:t/>
            </a:r>
            <a:br>
              <a:rPr lang="ru-RU" sz="2800" b="1" dirty="0">
                <a:solidFill>
                  <a:srgbClr val="002E8A"/>
                </a:solidFill>
              </a:rPr>
            </a:br>
            <a:r>
              <a:rPr lang="ru-RU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Команда </a:t>
            </a:r>
            <a:r>
              <a:rPr lang="ru-RU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«</a:t>
            </a:r>
            <a:r>
              <a:rPr lang="ru-RU" sz="3200" b="1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Зозин</a:t>
            </a:r>
            <a:r>
              <a:rPr lang="ru-RU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Павел»</a:t>
            </a:r>
            <a:r>
              <a:rPr lang="ru-RU" sz="3200" b="1" dirty="0">
                <a:solidFill>
                  <a:srgbClr val="002E8A"/>
                </a:solidFill>
                <a:latin typeface="Century Gothic" panose="020B0502020202020204" pitchFamily="34" charset="0"/>
              </a:rPr>
              <a:t/>
            </a:r>
            <a:br>
              <a:rPr lang="ru-RU" sz="3200" b="1" dirty="0">
                <a:solidFill>
                  <a:srgbClr val="002E8A"/>
                </a:solidFill>
                <a:latin typeface="Century Gothic" panose="020B0502020202020204" pitchFamily="34" charset="0"/>
              </a:rPr>
            </a:br>
            <a:r>
              <a:rPr lang="ru-RU" sz="2800" b="1" dirty="0">
                <a:solidFill>
                  <a:srgbClr val="002E8A"/>
                </a:solidFill>
                <a:latin typeface="Century Gothic" panose="020B0502020202020204" pitchFamily="34" charset="0"/>
              </a:rPr>
              <a:t/>
            </a:r>
            <a:br>
              <a:rPr lang="ru-RU" sz="2800" b="1" dirty="0">
                <a:solidFill>
                  <a:srgbClr val="002E8A"/>
                </a:solidFill>
                <a:latin typeface="Century Gothic" panose="020B0502020202020204" pitchFamily="34" charset="0"/>
              </a:rPr>
            </a:br>
            <a:r>
              <a:rPr lang="ru-RU" sz="28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ПРОЕКТ</a:t>
            </a:r>
            <a:r>
              <a:rPr lang="ru-RU" sz="2800" b="1" dirty="0">
                <a:solidFill>
                  <a:srgbClr val="002E8A"/>
                </a:solidFill>
                <a:latin typeface="Century Gothic" panose="020B0502020202020204" pitchFamily="34" charset="0"/>
              </a:rPr>
              <a:t/>
            </a:r>
            <a:br>
              <a:rPr lang="ru-RU" sz="2800" b="1" dirty="0">
                <a:solidFill>
                  <a:srgbClr val="002E8A"/>
                </a:solidFill>
                <a:latin typeface="Century Gothic" panose="020B0502020202020204" pitchFamily="34" charset="0"/>
              </a:rPr>
            </a:br>
            <a:r>
              <a:rPr lang="ru-RU" sz="2800" b="1" dirty="0">
                <a:solidFill>
                  <a:srgbClr val="002060"/>
                </a:solidFill>
                <a:latin typeface="Century Gothic" panose="020B0502020202020204" pitchFamily="34" charset="0"/>
              </a:rPr>
              <a:t/>
            </a:r>
            <a:br>
              <a:rPr lang="ru-RU" sz="2800" b="1" dirty="0">
                <a:solidFill>
                  <a:srgbClr val="002060"/>
                </a:solidFill>
                <a:latin typeface="Century Gothic" panose="020B0502020202020204" pitchFamily="34" charset="0"/>
              </a:rPr>
            </a:br>
            <a:r>
              <a:rPr lang="ru-RU" sz="28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Автоматизированная информационная система </a:t>
            </a:r>
            <a:br>
              <a:rPr lang="ru-RU" sz="2800" b="1" dirty="0">
                <a:solidFill>
                  <a:srgbClr val="002060"/>
                </a:solidFill>
                <a:latin typeface="Century Gothic" panose="020B0502020202020204" pitchFamily="34" charset="0"/>
              </a:rPr>
            </a:br>
            <a:r>
              <a:rPr lang="ru-RU" sz="28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«</a:t>
            </a:r>
            <a:r>
              <a:rPr lang="en-US" sz="2800" b="1" dirty="0" err="1" smtClean="0">
                <a:solidFill>
                  <a:srgbClr val="002060"/>
                </a:solidFill>
                <a:latin typeface="Century Gothic" panose="020B0502020202020204" pitchFamily="34" charset="0"/>
              </a:rPr>
              <a:t>HandsOn</a:t>
            </a:r>
            <a:r>
              <a:rPr lang="ru-RU" sz="28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» </a:t>
            </a:r>
            <a:r>
              <a:rPr lang="ru-RU" sz="2800" b="1" dirty="0">
                <a:solidFill>
                  <a:srgbClr val="002060"/>
                </a:solidFill>
                <a:latin typeface="Century Gothic" panose="020B0502020202020204" pitchFamily="34" charset="0"/>
              </a:rPr>
              <a:t/>
            </a:r>
            <a:br>
              <a:rPr lang="ru-RU" sz="2800" b="1" dirty="0">
                <a:solidFill>
                  <a:srgbClr val="002060"/>
                </a:solidFill>
                <a:latin typeface="Century Gothic" panose="020B0502020202020204" pitchFamily="34" charset="0"/>
              </a:rPr>
            </a:br>
            <a:r>
              <a:rPr lang="ru-RU" sz="28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для облегчения процесса менеджмента волонтеров</a:t>
            </a:r>
            <a:endParaRPr lang="ru-RU" sz="28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658" y="88214"/>
            <a:ext cx="2136127" cy="120157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832" y="3994222"/>
            <a:ext cx="2863778" cy="28637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>
            <a:spLocks noGrp="1"/>
          </p:cNvSpPr>
          <p:nvPr>
            <p:ph type="title"/>
          </p:nvPr>
        </p:nvSpPr>
        <p:spPr>
          <a:xfrm>
            <a:off x="608012" y="1290712"/>
            <a:ext cx="8543925" cy="52847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Calibri"/>
              <a:buNone/>
            </a:pPr>
            <a:r>
              <a:rPr lang="ru-RU" sz="3200" b="1" u="sng" strike="noStrike" cap="none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Calibri"/>
              </a:rPr>
              <a:t>КОМАНДА</a:t>
            </a:r>
            <a:endParaRPr lang="en-US" sz="3200" b="1" u="sng" strike="noStrike" cap="none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sym typeface="Calibri"/>
            </a:endParaRPr>
          </a:p>
        </p:txBody>
      </p:sp>
      <p:graphicFrame>
        <p:nvGraphicFramePr>
          <p:cNvPr id="110" name="Shape 110"/>
          <p:cNvGraphicFramePr/>
          <p:nvPr>
            <p:extLst>
              <p:ext uri="{D42A27DB-BD31-4B8C-83A1-F6EECF244321}">
                <p14:modId xmlns:p14="http://schemas.microsoft.com/office/powerpoint/2010/main" val="3074997296"/>
              </p:ext>
            </p:extLst>
          </p:nvPr>
        </p:nvGraphicFramePr>
        <p:xfrm>
          <a:off x="432768" y="2021458"/>
          <a:ext cx="9099200" cy="406351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87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67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ct val="250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latin typeface="Century Gothic" panose="020B0502020202020204" pitchFamily="34" charset="0"/>
                          <a:sym typeface="Calibri"/>
                        </a:rPr>
                        <a:t>ФИО </a:t>
                      </a:r>
                      <a:endParaRPr lang="en-US" sz="1800" b="1" i="0" u="none" strike="noStrike" cap="none" dirty="0">
                        <a:solidFill>
                          <a:srgbClr val="FFFFFF"/>
                        </a:solidFill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4300" marR="74300" marT="45750" marB="457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ct val="25000"/>
                        <a:buFont typeface="Calibri"/>
                        <a:buNone/>
                      </a:pPr>
                      <a:r>
                        <a:rPr lang="en-US" sz="1800" b="1" u="none" strike="noStrike" cap="none" dirty="0" err="1">
                          <a:latin typeface="Century Gothic" panose="020B0502020202020204" pitchFamily="34" charset="0"/>
                          <a:sym typeface="Calibri"/>
                        </a:rPr>
                        <a:t>Условная</a:t>
                      </a:r>
                      <a:r>
                        <a:rPr lang="en-US" sz="1800" b="1" u="none" strike="noStrike" cap="none" dirty="0">
                          <a:latin typeface="Century Gothic" panose="020B0502020202020204" pitchFamily="34" charset="0"/>
                          <a:sym typeface="Calibri"/>
                        </a:rPr>
                        <a:t> </a:t>
                      </a:r>
                      <a:r>
                        <a:rPr lang="en-US" sz="1800" b="1" u="none" strike="noStrike" cap="none" dirty="0" err="1">
                          <a:latin typeface="Century Gothic" panose="020B0502020202020204" pitchFamily="34" charset="0"/>
                          <a:sym typeface="Calibri"/>
                        </a:rPr>
                        <a:t>роль</a:t>
                      </a:r>
                      <a:r>
                        <a:rPr lang="en-US" sz="1800" b="1" u="none" strike="noStrike" cap="none" dirty="0">
                          <a:latin typeface="Century Gothic" panose="020B0502020202020204" pitchFamily="34" charset="0"/>
                          <a:sym typeface="Calibri"/>
                        </a:rPr>
                        <a:t> </a:t>
                      </a:r>
                      <a:endParaRPr lang="en-US" sz="1800" b="1" i="0" u="none" strike="noStrike" cap="none" dirty="0">
                        <a:solidFill>
                          <a:srgbClr val="FFFFFF"/>
                        </a:solidFill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4300" marR="74300" marT="45750" marB="457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ct val="25000"/>
                        <a:buFont typeface="Calibri"/>
                        <a:buNone/>
                      </a:pPr>
                      <a:r>
                        <a:rPr lang="en-US" sz="1800" b="1" u="none" strike="noStrike" cap="none" dirty="0" err="1">
                          <a:latin typeface="Century Gothic" panose="020B0502020202020204" pitchFamily="34" charset="0"/>
                          <a:sym typeface="Calibri"/>
                        </a:rPr>
                        <a:t>Обоснование</a:t>
                      </a:r>
                      <a:r>
                        <a:rPr lang="en-US" sz="1800" b="1" u="none" strike="noStrike" cap="none" dirty="0">
                          <a:latin typeface="Century Gothic" panose="020B0502020202020204" pitchFamily="34" charset="0"/>
                          <a:sym typeface="Calibri"/>
                        </a:rPr>
                        <a:t> </a:t>
                      </a:r>
                      <a:endParaRPr lang="en-US" sz="1800" b="1" i="0" u="none" strike="noStrike" cap="none" dirty="0">
                        <a:solidFill>
                          <a:srgbClr val="FFFFFF"/>
                        </a:solidFill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4300" marR="74300" marT="45750" marB="457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ru-RU" sz="1800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Егорова Людмила Геннадьевна</a:t>
                      </a:r>
                      <a:endParaRPr lang="en-US" sz="1800" b="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chemeClr val="dk1"/>
                        </a:solidFill>
                        <a:effectLst/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4300" marR="74300" marT="45750" marB="457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800" u="none" dirty="0" err="1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Arial"/>
                        </a:rPr>
                        <a:t>Руководитель</a:t>
                      </a:r>
                      <a:endParaRPr lang="en-US" sz="1800" b="0" i="0" u="non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25" marR="73125" marT="62725" marB="468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ru-RU" sz="1800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Опыт р</a:t>
                      </a:r>
                      <a:r>
                        <a:rPr lang="en-US" sz="1800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уководства </a:t>
                      </a:r>
                      <a:r>
                        <a:rPr lang="ru-RU" sz="1800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инновационными </a:t>
                      </a:r>
                      <a:r>
                        <a:rPr lang="en-US" sz="1800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проектами</a:t>
                      </a:r>
                      <a:endParaRPr lang="en-US" sz="1800" b="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chemeClr val="dk1"/>
                        </a:solidFill>
                        <a:effectLst/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4300" marR="74300" marT="45750" marB="457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ru-RU" sz="1800" dirty="0" err="1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Зозин</a:t>
                      </a:r>
                      <a:r>
                        <a:rPr lang="ru-RU" sz="1800" dirty="0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 Павел Алексеевич</a:t>
                      </a:r>
                      <a:endParaRPr lang="en-US" sz="1800" b="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chemeClr val="dk1"/>
                        </a:solidFill>
                        <a:effectLst/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4300" marR="74300" marT="45750" marB="4575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Arial"/>
                        <a:buNone/>
                      </a:pPr>
                      <a:r>
                        <a:rPr lang="ru-RU" sz="1800" u="none" dirty="0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Arial"/>
                        </a:rPr>
                        <a:t>Разработчик, Менеджер</a:t>
                      </a:r>
                      <a:r>
                        <a:rPr lang="ru-RU" sz="1800" u="none" baseline="0" dirty="0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Arial"/>
                        </a:rPr>
                        <a:t>, маркетолог</a:t>
                      </a:r>
                      <a:endParaRPr lang="en-US" sz="1800" b="0" i="0" u="non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3125" marR="73125" marT="62725" marB="468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Практический опыт</a:t>
                      </a:r>
                      <a:r>
                        <a:rPr lang="ru-RU" sz="1600" baseline="0" dirty="0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 </a:t>
                      </a:r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в создании приложений, работе с базами данных и стремлению к освоению новых технологий, таких как </a:t>
                      </a:r>
                      <a:r>
                        <a:rPr lang="ru-RU" sz="1600" dirty="0" err="1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DevOps</a:t>
                      </a:r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 и CI/CD. Навыки организации работы, взаимодействия с командой и умения доводить проекты до результата. Навыки в анализе</a:t>
                      </a:r>
                      <a:r>
                        <a:rPr lang="ru-RU" sz="1600" baseline="0" dirty="0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 </a:t>
                      </a:r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  <a:sym typeface="Calibri"/>
                        </a:rPr>
                        <a:t>потребностей аудитории, создании визуально привлекательных решений и креативном подходе к задачам.</a:t>
                      </a:r>
                      <a:endParaRPr lang="en-US" sz="1600" b="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chemeClr val="dk1"/>
                        </a:solidFill>
                        <a:effectLst/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4300" marR="74300" marT="45750" marB="457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659" y="88215"/>
            <a:ext cx="2007378" cy="1129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83128" y="925888"/>
            <a:ext cx="9906000" cy="13255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342900" lvl="0" indent="-342900" algn="ctr">
              <a:lnSpc>
                <a:spcPct val="93000"/>
              </a:lnSpc>
              <a:buClr>
                <a:srgbClr val="002060"/>
              </a:buClr>
              <a:buSzPct val="25000"/>
            </a:pPr>
            <a:r>
              <a:rPr lang="ru-RU" sz="28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АВТОМАТИЗАЦИЯ МЕНЕДЖМЕНТА РАБОТЫ ВОЛОНТЕРОВ</a:t>
            </a:r>
            <a:endParaRPr lang="en-US" sz="2800" b="1" i="0" u="sng" strike="noStrike" cap="none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sym typeface="Calibri"/>
            </a:endParaRPr>
          </a:p>
        </p:txBody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357909" y="2055038"/>
            <a:ext cx="9356437" cy="435133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indent="-342900" algn="ctr">
              <a:spcBef>
                <a:spcPts val="600"/>
              </a:spcBef>
              <a:buFont typeface="Wingdings" pitchFamily="2" charset="2"/>
              <a:buChar char="ü"/>
            </a:pPr>
            <a:r>
              <a:rPr lang="ru-RU" sz="23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Рост волонтёрской активности</a:t>
            </a:r>
            <a:r>
              <a:rPr lang="ru-RU" sz="2300" dirty="0">
                <a:solidFill>
                  <a:srgbClr val="002060"/>
                </a:solidFill>
                <a:latin typeface="Century Gothic" panose="020B0502020202020204" pitchFamily="34" charset="0"/>
              </a:rPr>
              <a:t>: В последние годы количество волонтёров увеличилось на </a:t>
            </a:r>
            <a:r>
              <a:rPr lang="ru-RU" sz="23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20–30%</a:t>
            </a:r>
            <a:r>
              <a:rPr lang="ru-RU" sz="2300" dirty="0">
                <a:solidFill>
                  <a:srgbClr val="002060"/>
                </a:solidFill>
                <a:latin typeface="Century Gothic" panose="020B0502020202020204" pitchFamily="34" charset="0"/>
              </a:rPr>
              <a:t> благодаря росту социальной осознанности</a:t>
            </a:r>
            <a:r>
              <a:rPr lang="ru-RU" sz="23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.</a:t>
            </a:r>
          </a:p>
          <a:p>
            <a:pPr marL="342900" indent="-342900" algn="ctr">
              <a:spcBef>
                <a:spcPts val="600"/>
              </a:spcBef>
              <a:buFont typeface="Wingdings" pitchFamily="2" charset="2"/>
              <a:buChar char="ü"/>
            </a:pPr>
            <a:endParaRPr lang="ru-RU" sz="2300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342900" indent="-342900" algn="ctr">
              <a:spcBef>
                <a:spcPts val="600"/>
              </a:spcBef>
              <a:buFont typeface="Wingdings" pitchFamily="2" charset="2"/>
              <a:buChar char="ü"/>
            </a:pPr>
            <a:r>
              <a:rPr lang="ru-RU" sz="23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Низкая эффективность управления</a:t>
            </a:r>
            <a:r>
              <a:rPr lang="ru-RU" sz="2300" dirty="0">
                <a:solidFill>
                  <a:srgbClr val="002060"/>
                </a:solidFill>
                <a:latin typeface="Century Gothic" panose="020B0502020202020204" pitchFamily="34" charset="0"/>
              </a:rPr>
              <a:t>: Более </a:t>
            </a:r>
            <a:r>
              <a:rPr lang="ru-RU" sz="23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60% </a:t>
            </a:r>
            <a:r>
              <a:rPr lang="ru-RU" sz="2300" dirty="0">
                <a:solidFill>
                  <a:srgbClr val="002060"/>
                </a:solidFill>
                <a:latin typeface="Century Gothic" panose="020B0502020202020204" pitchFamily="34" charset="0"/>
              </a:rPr>
              <a:t>организаций сталкиваются с трудностями в координации волонтёров из-за отсутствия удобных инструментов</a:t>
            </a:r>
            <a:r>
              <a:rPr lang="ru-RU" sz="23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.</a:t>
            </a:r>
          </a:p>
          <a:p>
            <a:pPr marL="342900" indent="-342900" algn="ctr">
              <a:spcBef>
                <a:spcPts val="600"/>
              </a:spcBef>
              <a:buFont typeface="Wingdings" pitchFamily="2" charset="2"/>
              <a:buChar char="ü"/>
            </a:pPr>
            <a:endParaRPr lang="ru-RU" sz="2300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342900" indent="-342900" algn="ctr">
              <a:spcBef>
                <a:spcPts val="600"/>
              </a:spcBef>
              <a:buFont typeface="Wingdings" pitchFamily="2" charset="2"/>
              <a:buChar char="ü"/>
            </a:pPr>
            <a:r>
              <a:rPr lang="ru-RU" sz="23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Потребность в автоматизации</a:t>
            </a:r>
            <a:r>
              <a:rPr lang="ru-RU" sz="2300" dirty="0">
                <a:solidFill>
                  <a:srgbClr val="002060"/>
                </a:solidFill>
                <a:latin typeface="Century Gothic" panose="020B0502020202020204" pitchFamily="34" charset="0"/>
              </a:rPr>
              <a:t>: Исследования показывают, что автоматизация процессов сокращает затраты времени на управление на </a:t>
            </a:r>
            <a:r>
              <a:rPr lang="ru-RU" sz="23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40%</a:t>
            </a:r>
            <a:r>
              <a:rPr lang="ru-RU" sz="2300" dirty="0">
                <a:solidFill>
                  <a:srgbClr val="002060"/>
                </a:solidFill>
                <a:latin typeface="Century Gothic" panose="020B0502020202020204" pitchFamily="34" charset="0"/>
              </a:rPr>
              <a:t>, позволяя организациям сосредоточиться на реальной помощи.</a:t>
            </a:r>
          </a:p>
          <a:p>
            <a:pPr algn="ctr"/>
            <a:endParaRPr lang="ru-RU" sz="2400" dirty="0">
              <a:solidFill>
                <a:srgbClr val="002060"/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Arial"/>
              <a:buNone/>
            </a:pPr>
            <a:endParaRPr lang="ru-RU" sz="2400" b="0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659" y="88215"/>
            <a:ext cx="2007378" cy="1129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710405" y="881568"/>
            <a:ext cx="8543925" cy="13255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342900" lvl="0" indent="-342900" algn="ctr">
              <a:lnSpc>
                <a:spcPct val="93000"/>
              </a:lnSpc>
              <a:buClr>
                <a:srgbClr val="002060"/>
              </a:buClr>
              <a:buSzPct val="25000"/>
            </a:pPr>
            <a:r>
              <a:rPr lang="ru-RU" sz="28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РЫНОК И КЛЮЧЕВЫЕ ИГРОКИ</a:t>
            </a:r>
          </a:p>
        </p:txBody>
      </p:sp>
      <p:graphicFrame>
        <p:nvGraphicFramePr>
          <p:cNvPr id="13" name="Shape 119">
            <a:extLst>
              <a:ext uri="{FF2B5EF4-FFF2-40B4-BE49-F238E27FC236}">
                <a16:creationId xmlns:a16="http://schemas.microsoft.com/office/drawing/2014/main" id="{12BD4DD3-EACE-463D-A6A3-34B0592AFD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9158258"/>
              </p:ext>
            </p:extLst>
          </p:nvPr>
        </p:nvGraphicFramePr>
        <p:xfrm>
          <a:off x="580308" y="2840541"/>
          <a:ext cx="8753480" cy="206089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82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6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36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25000"/>
                        <a:buFont typeface="Arial"/>
                        <a:buNone/>
                      </a:pPr>
                      <a:r>
                        <a:rPr lang="ru-RU" sz="1800" dirty="0">
                          <a:latin typeface="Century Gothic" panose="020B0502020202020204" pitchFamily="34" charset="0"/>
                          <a:sym typeface="Calibri"/>
                        </a:rPr>
                        <a:t>Название</a:t>
                      </a:r>
                      <a:endParaRPr lang="ru-RU" sz="1800" b="1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25000"/>
                        <a:buFont typeface="Arial"/>
                        <a:buNone/>
                      </a:pPr>
                      <a:r>
                        <a:rPr lang="ru-RU" sz="1800" dirty="0">
                          <a:latin typeface="Century Gothic" panose="020B0502020202020204" pitchFamily="34" charset="0"/>
                          <a:sym typeface="Calibri"/>
                        </a:rPr>
                        <a:t>Страна</a:t>
                      </a:r>
                      <a:endParaRPr lang="ru-RU" sz="1800" b="1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7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25000"/>
                        <a:buFont typeface="Arial"/>
                        <a:buNone/>
                      </a:pPr>
                      <a:r>
                        <a:rPr lang="ru-RU" sz="18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sym typeface="Calibri"/>
                        </a:rPr>
                        <a:t>Волонтёры Победы </a:t>
                      </a:r>
                      <a:endParaRPr lang="ru-RU" sz="18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25000"/>
                        <a:buFont typeface="Arial"/>
                        <a:buNone/>
                      </a:pPr>
                      <a:r>
                        <a:rPr lang="ru-RU" sz="1800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sym typeface="Calibri"/>
                        </a:rPr>
                        <a:t>Россия</a:t>
                      </a:r>
                      <a:endParaRPr lang="ru-RU" sz="18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7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8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sym typeface="Calibri"/>
                        </a:rPr>
                        <a:t>DOBRO.RU </a:t>
                      </a:r>
                      <a:endParaRPr lang="ru-RU" sz="18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25000"/>
                        <a:buFont typeface="Arial"/>
                        <a:buNone/>
                      </a:pPr>
                      <a:r>
                        <a:rPr lang="ru-RU" sz="1800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sym typeface="Calibri"/>
                        </a:rPr>
                        <a:t>Россия</a:t>
                      </a:r>
                      <a:endParaRPr lang="ru-RU" sz="18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7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8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sym typeface="Calibri"/>
                        </a:rPr>
                        <a:t>Volonter.ru </a:t>
                      </a:r>
                      <a:endParaRPr lang="ru-RU" sz="18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25000"/>
                        <a:buFont typeface="Arial"/>
                        <a:buNone/>
                      </a:pPr>
                      <a:r>
                        <a:rPr lang="ru-RU" sz="1800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sym typeface="Calibri"/>
                        </a:rPr>
                        <a:t>Россия</a:t>
                      </a:r>
                      <a:endParaRPr lang="ru-RU" sz="18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21">
            <a:extLst>
              <a:ext uri="{FF2B5EF4-FFF2-40B4-BE49-F238E27FC236}">
                <a16:creationId xmlns:a16="http://schemas.microsoft.com/office/drawing/2014/main" id="{EE07AA1A-947C-4F07-945F-9F2844836621}"/>
              </a:ext>
            </a:extLst>
          </p:cNvPr>
          <p:cNvSpPr/>
          <p:nvPr/>
        </p:nvSpPr>
        <p:spPr>
          <a:xfrm>
            <a:off x="4048" y="1945530"/>
            <a:ext cx="9906000" cy="523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Arial"/>
              <a:buNone/>
            </a:pPr>
            <a:r>
              <a:rPr lang="ru-RU" sz="1800" b="1" dirty="0">
                <a:solidFill>
                  <a:schemeClr val="tx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Компании, занимающиеся </a:t>
            </a:r>
            <a:endParaRPr lang="ru-RU" sz="1800" b="1" dirty="0" smtClean="0">
              <a:solidFill>
                <a:schemeClr val="tx1"/>
              </a:solidFill>
              <a:latin typeface="Century Gothic" panose="020B0502020202020204" pitchFamily="34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Arial"/>
              <a:buNone/>
            </a:pPr>
            <a:r>
              <a:rPr lang="ru-RU" sz="1800" b="1" dirty="0" smtClean="0">
                <a:solidFill>
                  <a:schemeClr val="tx1"/>
                </a:solidFill>
                <a:latin typeface="Century Gothic" panose="020B0502020202020204" pitchFamily="34" charset="0"/>
                <a:ea typeface="Calibri"/>
                <a:cs typeface="Calibri"/>
                <a:sym typeface="Calibri"/>
              </a:rPr>
              <a:t>разработкой систем для управления волонтерами</a:t>
            </a:r>
            <a:endParaRPr lang="ru-RU" sz="1800" b="1" dirty="0">
              <a:solidFill>
                <a:schemeClr val="tx1"/>
              </a:solidFill>
              <a:latin typeface="Century Gothic" panose="020B05020202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659" y="88215"/>
            <a:ext cx="2007378" cy="11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9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690661" y="1131280"/>
            <a:ext cx="8543925" cy="80874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342900" lvl="0" indent="-342900" algn="ctr">
              <a:lnSpc>
                <a:spcPct val="93000"/>
              </a:lnSpc>
              <a:buClr>
                <a:srgbClr val="002060"/>
              </a:buClr>
              <a:buSzPct val="25000"/>
            </a:pPr>
            <a:r>
              <a:rPr lang="ru-RU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Волонтёры Победы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934" y="63014"/>
            <a:ext cx="2007378" cy="1129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967" y="2038790"/>
            <a:ext cx="380641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Разрабатываемый </a:t>
            </a:r>
            <a:r>
              <a:rPr lang="ru-RU" sz="20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продукт:</a:t>
            </a:r>
          </a:p>
          <a:p>
            <a:pPr algn="ctr"/>
            <a:endParaRPr lang="ru-RU" sz="2000" b="1" dirty="0" smtClean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Century Gothic" panose="020B0502020202020204" pitchFamily="34" charset="0"/>
              </a:rPr>
              <a:t>Платформа для координации волонтёров</a:t>
            </a:r>
            <a:endParaRPr lang="ru-RU" sz="2000" dirty="0" smtClean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62266" y="3851503"/>
            <a:ext cx="452581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Функционал продукта:</a:t>
            </a:r>
          </a:p>
          <a:p>
            <a:pPr algn="ctr"/>
            <a:endParaRPr lang="ru-RU" sz="2000" dirty="0" smtClean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Century Gothic" panose="020B0502020202020204" pitchFamily="34" charset="0"/>
              </a:rPr>
              <a:t>Обеспечивает управление волонтёрскими проектами, взаимодействие участников и информирование о </a:t>
            </a:r>
            <a:r>
              <a:rPr lang="ru-RU" sz="20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мероприятиях</a:t>
            </a:r>
            <a:endParaRPr lang="ru-RU" sz="20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878" y="3177607"/>
            <a:ext cx="4658158" cy="149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5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4549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080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690661" y="1131280"/>
            <a:ext cx="8543925" cy="80874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342900" lvl="0" indent="-342900" algn="ctr">
              <a:lnSpc>
                <a:spcPct val="93000"/>
              </a:lnSpc>
              <a:buClr>
                <a:srgbClr val="002060"/>
              </a:buClr>
              <a:buSzPct val="25000"/>
            </a:pPr>
            <a:r>
              <a:rPr lang="en-US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DOBRO.RU</a:t>
            </a:r>
            <a:endParaRPr lang="ru-RU" sz="3200" b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934" y="63014"/>
            <a:ext cx="2007378" cy="1129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0539" y="2121517"/>
            <a:ext cx="380641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Разрабатываемый </a:t>
            </a:r>
            <a:r>
              <a:rPr lang="ru-RU" sz="20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продукт:</a:t>
            </a:r>
          </a:p>
          <a:p>
            <a:pPr algn="ctr"/>
            <a:endParaRPr lang="ru-RU" sz="2000" b="1" dirty="0" smtClean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Century Gothic" panose="020B0502020202020204" pitchFamily="34" charset="0"/>
              </a:rPr>
              <a:t>Социальная платформа для волонтёров</a:t>
            </a:r>
            <a:endParaRPr lang="ru-RU" sz="2000" dirty="0" smtClean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3851503"/>
            <a:ext cx="45258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Функционал продукта:</a:t>
            </a:r>
          </a:p>
          <a:p>
            <a:pPr algn="ctr"/>
            <a:endParaRPr lang="ru-RU" sz="2000" dirty="0" smtClean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Century Gothic" panose="020B0502020202020204" pitchFamily="34" charset="0"/>
              </a:rPr>
              <a:t>Помогает находить волонтёрские проекты, организовывать мероприятия и отслеживать вклад участников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256" y="3157420"/>
            <a:ext cx="51149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7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0093124" cy="685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91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690660" y="1241703"/>
            <a:ext cx="8543925" cy="80874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342900" lvl="0" indent="-342900" algn="ctr">
              <a:lnSpc>
                <a:spcPct val="93000"/>
              </a:lnSpc>
              <a:buClr>
                <a:srgbClr val="002060"/>
              </a:buClr>
              <a:buSzPct val="25000"/>
            </a:pPr>
            <a:r>
              <a:rPr lang="ru-RU" sz="32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/>
            </a:r>
            <a:br>
              <a:rPr lang="ru-RU" sz="32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</a:br>
            <a:r>
              <a:rPr lang="en-US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Volonter.ru</a:t>
            </a:r>
            <a:br>
              <a:rPr lang="en-US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</a:br>
            <a:endParaRPr lang="ru-RU" sz="3200" b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934" y="63014"/>
            <a:ext cx="2007378" cy="1129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0539" y="2121517"/>
            <a:ext cx="380641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Разрабатываемый </a:t>
            </a:r>
            <a:r>
              <a:rPr lang="ru-RU" sz="20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продукт:</a:t>
            </a:r>
          </a:p>
          <a:p>
            <a:pPr algn="ctr"/>
            <a:endParaRPr lang="ru-RU" sz="2000" b="1" dirty="0" smtClean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Century Gothic" panose="020B0502020202020204" pitchFamily="34" charset="0"/>
              </a:rPr>
              <a:t>Сервис для волонтёрской </a:t>
            </a:r>
            <a:r>
              <a:rPr lang="ru-RU" sz="20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деятельности</a:t>
            </a:r>
            <a:endParaRPr lang="ru-RU" sz="2000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3851503"/>
            <a:ext cx="45258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Функционал продукта:</a:t>
            </a:r>
          </a:p>
          <a:p>
            <a:pPr algn="ctr"/>
            <a:endParaRPr lang="ru-RU" sz="2000" dirty="0" smtClean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Century Gothic" panose="020B0502020202020204" pitchFamily="34" charset="0"/>
              </a:rPr>
              <a:t>Предоставляет информацию о волонтёрских инициативах, помогает в регистрации и координации </a:t>
            </a:r>
            <a:r>
              <a:rPr lang="ru-RU" sz="20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участников</a:t>
            </a:r>
            <a:endParaRPr lang="ru-RU" sz="2000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871" y="3225749"/>
            <a:ext cx="4685714" cy="10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9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10104698" cy="685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0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690661" y="1131280"/>
            <a:ext cx="8543925" cy="80874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Calibri"/>
              <a:buNone/>
            </a:pPr>
            <a:r>
              <a:rPr lang="ru-RU" sz="3200" b="1" i="0" u="sng" strike="noStrike" cap="none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Calibri"/>
              </a:rPr>
              <a:t>ИДЕЯ</a:t>
            </a:r>
            <a:endParaRPr lang="en-US" sz="3200" b="1" i="0" u="sng" strike="noStrike" cap="none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sym typeface="Calibri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934" y="63014"/>
            <a:ext cx="2007378" cy="11291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3113" y="5181600"/>
            <a:ext cx="91624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Программное </a:t>
            </a:r>
            <a:r>
              <a:rPr lang="ru-RU" sz="18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обеспечение позволит эффективно управлять задачами, распределять их между участниками и отслеживать выполнение в режиме реального времени. </a:t>
            </a:r>
            <a:r>
              <a:rPr lang="ru-RU" sz="18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Обеспечит </a:t>
            </a:r>
            <a:r>
              <a:rPr lang="ru-RU" sz="18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удобное взаимодействие между волонтёрами и координаторами, включая уведомления, аналитику и обратную связь.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661" y="1903395"/>
            <a:ext cx="8964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Разработка программного обеспечения для </a:t>
            </a:r>
            <a:r>
              <a:rPr lang="ru-RU" sz="24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автоматизации менеджмента волонтеров.</a:t>
            </a:r>
            <a:endParaRPr lang="ru-RU" sz="24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554" y="2190928"/>
            <a:ext cx="3534137" cy="3534137"/>
          </a:xfrm>
          <a:prstGeom prst="rect">
            <a:avLst/>
          </a:prstGeom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003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681037" y="1135562"/>
            <a:ext cx="8543925" cy="80874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Calibri"/>
              <a:buNone/>
            </a:pPr>
            <a:r>
              <a:rPr lang="ru-RU" sz="3200" b="1" i="0" u="sng" strike="noStrike" cap="none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Calibri"/>
              </a:rPr>
              <a:t>ЦЕЛИ</a:t>
            </a:r>
            <a:endParaRPr lang="en-US" sz="3200" b="1" i="0" u="sng" strike="noStrike" cap="none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sym typeface="Calibri"/>
            </a:endParaRPr>
          </a:p>
        </p:txBody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551474" y="2062121"/>
            <a:ext cx="8803050" cy="393228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endParaRPr lang="ru-RU" sz="2400" b="1" strike="noStrike" cap="none" dirty="0">
              <a:solidFill>
                <a:srgbClr val="002060"/>
              </a:solidFill>
              <a:latin typeface="Century Gothic" panose="020B0502020202020204" pitchFamily="34" charset="0"/>
              <a:sym typeface="Calibri"/>
            </a:endParaRP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r>
              <a:rPr lang="ru-RU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•	Упростить распределение задач</a:t>
            </a:r>
            <a:r>
              <a:rPr lang="ru-RU" sz="24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.</a:t>
            </a: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endParaRPr lang="ru-RU" sz="24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r>
              <a:rPr lang="ru-RU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•	Повысить качество коммуникации</a:t>
            </a:r>
            <a:r>
              <a:rPr lang="ru-RU" sz="24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.</a:t>
            </a: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endParaRPr lang="ru-RU" sz="2400" b="1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r>
              <a:rPr lang="ru-RU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•	Собирать данные для улучшения планирования и принятия решений.</a:t>
            </a: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endParaRPr lang="en-US" sz="2400" b="1" strike="noStrike" cap="none" dirty="0">
              <a:solidFill>
                <a:srgbClr val="002060"/>
              </a:solidFill>
              <a:latin typeface="Century Gothic" panose="020B0502020202020204" pitchFamily="34" charset="0"/>
              <a:sym typeface="Calibri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310" y="80691"/>
            <a:ext cx="2007378" cy="11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9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11">
            <a:extLst>
              <a:ext uri="{FF2B5EF4-FFF2-40B4-BE49-F238E27FC236}">
                <a16:creationId xmlns:a16="http://schemas.microsoft.com/office/drawing/2014/main" id="{E373F66E-E451-4CE2-AA3E-B91984CA5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458707"/>
              </p:ext>
            </p:extLst>
          </p:nvPr>
        </p:nvGraphicFramePr>
        <p:xfrm>
          <a:off x="259025" y="1774485"/>
          <a:ext cx="9522691" cy="46093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7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5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9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041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latin typeface="Century Gothic" panose="020B0502020202020204" pitchFamily="34" charset="0"/>
                          <a:cs typeface="Calibri" panose="020F0502020204030204" pitchFamily="34" charset="0"/>
                        </a:rPr>
                        <a:t>Характеристики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smtClean="0">
                          <a:latin typeface="Century Gothic" panose="020B0502020202020204" pitchFamily="34" charset="0"/>
                          <a:cs typeface="Calibri" panose="020F0502020204030204" pitchFamily="34" charset="0"/>
                        </a:rPr>
                        <a:t>Информационная система</a:t>
                      </a:r>
                    </a:p>
                    <a:p>
                      <a:pPr algn="ctr"/>
                      <a:r>
                        <a:rPr lang="ru-RU" sz="1400" b="1" dirty="0" smtClean="0">
                          <a:latin typeface="Century Gothic" panose="020B0502020202020204" pitchFamily="34" charset="0"/>
                          <a:cs typeface="Calibri" panose="020F0502020204030204" pitchFamily="34" charset="0"/>
                        </a:rPr>
                        <a:t>от</a:t>
                      </a:r>
                      <a:r>
                        <a:rPr lang="ru-RU" sz="1400" b="1" baseline="0" dirty="0" smtClean="0">
                          <a:latin typeface="Century Gothic" panose="020B0502020202020204" pitchFamily="34" charset="0"/>
                          <a:cs typeface="Calibri" panose="020F0502020204030204" pitchFamily="34" charset="0"/>
                        </a:rPr>
                        <a:t> «</a:t>
                      </a:r>
                      <a:r>
                        <a:rPr lang="en-US" sz="1400" b="1" baseline="0" dirty="0" smtClean="0">
                          <a:latin typeface="Century Gothic" panose="020B0502020202020204" pitchFamily="34" charset="0"/>
                          <a:cs typeface="Calibri" panose="020F0502020204030204" pitchFamily="34" charset="0"/>
                        </a:rPr>
                        <a:t>Dobro.ru</a:t>
                      </a:r>
                      <a:r>
                        <a:rPr lang="ru-RU" sz="1400" b="1" baseline="0" dirty="0" smtClean="0">
                          <a:latin typeface="Century Gothic" panose="020B0502020202020204" pitchFamily="34" charset="0"/>
                          <a:cs typeface="Calibri" panose="020F0502020204030204" pitchFamily="34" charset="0"/>
                        </a:rPr>
                        <a:t>»</a:t>
                      </a:r>
                      <a:endParaRPr lang="ru-RU" sz="1400" b="1" dirty="0" smtClean="0">
                        <a:latin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 smtClean="0">
                          <a:latin typeface="Century Gothic" panose="020B0502020202020204" pitchFamily="34" charset="0"/>
                          <a:cs typeface="Calibri" panose="020F0502020204030204" pitchFamily="34" charset="0"/>
                        </a:rPr>
                        <a:t>АИС</a:t>
                      </a:r>
                      <a:r>
                        <a:rPr lang="ru-RU" sz="1400" b="1" baseline="0" dirty="0" smtClean="0">
                          <a:latin typeface="Century Gothic" panose="020B050202020202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400" b="1" baseline="0" dirty="0" smtClean="0">
                          <a:latin typeface="Century Gothic" panose="020B0502020202020204" pitchFamily="34" charset="0"/>
                          <a:cs typeface="Calibri" panose="020F0502020204030204" pitchFamily="34" charset="0"/>
                        </a:rPr>
                        <a:t>«</a:t>
                      </a:r>
                      <a:r>
                        <a:rPr lang="en-US" sz="1400" b="1" baseline="0" dirty="0" err="1" smtClean="0">
                          <a:latin typeface="Century Gothic" panose="020B0502020202020204" pitchFamily="34" charset="0"/>
                          <a:cs typeface="Calibri" panose="020F0502020204030204" pitchFamily="34" charset="0"/>
                        </a:rPr>
                        <a:t>HandsOn</a:t>
                      </a:r>
                      <a:r>
                        <a:rPr lang="ru-RU" sz="1400" b="1" baseline="0" dirty="0" smtClean="0">
                          <a:latin typeface="Century Gothic" panose="020B0502020202020204" pitchFamily="34" charset="0"/>
                          <a:cs typeface="Calibri" panose="020F0502020204030204" pitchFamily="34" charset="0"/>
                        </a:rPr>
                        <a:t>»</a:t>
                      </a:r>
                      <a:r>
                        <a:rPr lang="ru-RU" sz="1400" b="1" dirty="0" smtClean="0">
                          <a:latin typeface="Century Gothic" panose="020B050202020202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ru-RU" sz="1400" b="1" dirty="0">
                        <a:latin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037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Управление проектами</a:t>
                      </a:r>
                      <a:endParaRPr lang="ru-RU" sz="1400" b="1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cs typeface="Calibri" panose="020F0502020204030204" pitchFamily="34" charset="0"/>
                        </a:rPr>
                        <a:t>Возможность создания и управления волонтёрскими проектами</a:t>
                      </a:r>
                      <a:endParaRPr lang="ru-RU" sz="1400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Упрощённое распределение задач между волонтёрами и отслеживание их выполнения в реальном времени</a:t>
                      </a:r>
                      <a:endParaRPr lang="ru-RU" sz="1400" b="0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Регистрация и профили волонтёров</a:t>
                      </a:r>
                      <a:endParaRPr lang="ru-RU" sz="1400" b="1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Создание профилей волонтёров и возможность участвовать в проектах</a:t>
                      </a:r>
                      <a:endParaRPr lang="ru-RU" sz="1400" b="0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Регистрация волонтёров, создание профилей с подробной информацией и историей активности</a:t>
                      </a:r>
                      <a:endParaRPr lang="ru-RU" sz="1400" b="0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840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Поиск проектов</a:t>
                      </a:r>
                      <a:endParaRPr lang="ru-RU" sz="1400" b="1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Фильтрация проектов по различным критериям</a:t>
                      </a:r>
                      <a:endParaRPr lang="ru-RU" sz="1400" b="0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Легкий поиск проектов по категориям, срокам и локации для волонтёров</a:t>
                      </a:r>
                      <a:endParaRPr lang="ru-RU" sz="1400" b="0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120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Коммуникация с координаторами</a:t>
                      </a:r>
                      <a:endParaRPr lang="ru-RU" sz="1400" b="1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Возможность общения волонтёров с координаторами через платформу</a:t>
                      </a:r>
                      <a:endParaRPr lang="ru-RU" sz="1400" b="0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Встроенный чат для обмена сообщениями между волонтёрами и координаторами</a:t>
                      </a:r>
                      <a:endParaRPr lang="ru-RU" sz="1400" b="0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5165">
                <a:tc>
                  <a:txBody>
                    <a:bodyPr/>
                    <a:lstStyle/>
                    <a:p>
                      <a:pPr algn="ctr"/>
                      <a:r>
                        <a:rPr lang="ru-RU" sz="1400" b="1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 Отчётность и аналитика</a:t>
                      </a:r>
                      <a:endParaRPr lang="ru-RU" sz="1400" b="1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Некоторые функции для просмотра статистики по проектам</a:t>
                      </a:r>
                      <a:endParaRPr lang="ru-RU" sz="1400" b="0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Расширенная аналитика по задачам, выполнению работы и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вовлечённости</a:t>
                      </a:r>
                      <a:r>
                        <a:rPr lang="ru-RU" sz="1400" b="0" i="0" u="none" strike="noStrike" cap="none" dirty="0" smtClean="0"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  <a:ea typeface="+mn-ea"/>
                          <a:cs typeface="Calibri"/>
                          <a:sym typeface="Arial"/>
                        </a:rPr>
                        <a:t> волонтёров</a:t>
                      </a:r>
                      <a:endParaRPr lang="ru-RU" sz="1400" b="0" i="0" u="none" strike="noStrike" cap="none" dirty="0">
                        <a:solidFill>
                          <a:srgbClr val="002060"/>
                        </a:solidFill>
                        <a:latin typeface="Century Gothic" panose="020B050202020202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748409" y="793117"/>
            <a:ext cx="8543925" cy="13255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Calibri"/>
              <a:buNone/>
            </a:pPr>
            <a:r>
              <a:rPr lang="ru-RU" sz="3200" b="1" i="0" u="sng" strike="noStrike" cap="none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Calibri"/>
              </a:rPr>
              <a:t>ПРОДУКТОВАЯ КОНКУРЕНЦИЯ</a:t>
            </a:r>
            <a:endParaRPr lang="en-US" sz="3200" b="1" i="0" u="sng" strike="noStrike" cap="none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sym typeface="Calibri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683" y="46928"/>
            <a:ext cx="2007378" cy="11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5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title"/>
          </p:nvPr>
        </p:nvSpPr>
        <p:spPr>
          <a:xfrm>
            <a:off x="385012" y="945250"/>
            <a:ext cx="9113000" cy="11811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Calibri"/>
              <a:buNone/>
            </a:pPr>
            <a:r>
              <a:rPr lang="ru-RU" sz="3200" b="1" i="0" u="sng" strike="noStrike" cap="none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Calibri"/>
              </a:rPr>
              <a:t>ДОРОЖНАЯ КАРТА</a:t>
            </a:r>
            <a:endParaRPr lang="en-US" sz="3200" b="1" i="0" u="sng" strike="noStrike" cap="none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sym typeface="Calibri"/>
            </a:endParaRPr>
          </a:p>
        </p:txBody>
      </p:sp>
      <p:sp>
        <p:nvSpPr>
          <p:cNvPr id="182" name="Shape 182"/>
          <p:cNvSpPr txBox="1">
            <a:spLocks noGrp="1"/>
          </p:cNvSpPr>
          <p:nvPr>
            <p:ph type="body" idx="1"/>
          </p:nvPr>
        </p:nvSpPr>
        <p:spPr>
          <a:xfrm>
            <a:off x="590550" y="3030538"/>
            <a:ext cx="8543925" cy="435133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endParaRPr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5B693E-21F1-475D-AFCC-161ED4AC0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41273"/>
              </p:ext>
            </p:extLst>
          </p:nvPr>
        </p:nvGraphicFramePr>
        <p:xfrm>
          <a:off x="278629" y="2049375"/>
          <a:ext cx="9367990" cy="3594244"/>
        </p:xfrm>
        <a:graphic>
          <a:graphicData uri="http://schemas.openxmlformats.org/drawingml/2006/table">
            <a:tbl>
              <a:tblPr firstRow="1" bandRow="1">
                <a:tableStyleId>{4489D902-96DE-4268-9899-EC5007A015B2}</a:tableStyleId>
              </a:tblPr>
              <a:tblGrid>
                <a:gridCol w="849633">
                  <a:extLst>
                    <a:ext uri="{9D8B030D-6E8A-4147-A177-3AD203B41FA5}">
                      <a16:colId xmlns:a16="http://schemas.microsoft.com/office/drawing/2014/main" val="439192884"/>
                    </a:ext>
                  </a:extLst>
                </a:gridCol>
                <a:gridCol w="1180829">
                  <a:extLst>
                    <a:ext uri="{9D8B030D-6E8A-4147-A177-3AD203B41FA5}">
                      <a16:colId xmlns:a16="http://schemas.microsoft.com/office/drawing/2014/main" val="3059832920"/>
                    </a:ext>
                  </a:extLst>
                </a:gridCol>
                <a:gridCol w="3497049">
                  <a:extLst>
                    <a:ext uri="{9D8B030D-6E8A-4147-A177-3AD203B41FA5}">
                      <a16:colId xmlns:a16="http://schemas.microsoft.com/office/drawing/2014/main" val="376282368"/>
                    </a:ext>
                  </a:extLst>
                </a:gridCol>
                <a:gridCol w="3840479">
                  <a:extLst>
                    <a:ext uri="{9D8B030D-6E8A-4147-A177-3AD203B41FA5}">
                      <a16:colId xmlns:a16="http://schemas.microsoft.com/office/drawing/2014/main" val="4091996070"/>
                    </a:ext>
                  </a:extLst>
                </a:gridCol>
              </a:tblGrid>
              <a:tr h="40425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ru-RU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Дата</a:t>
                      </a:r>
                      <a:endParaRPr lang="ru-RU" sz="1600" b="1" i="0" u="none" strike="noStrike" dirty="0"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600" b="1" u="none" strike="noStrike" dirty="0">
                          <a:effectLst/>
                          <a:latin typeface="Century Gothic" panose="020B0502020202020204" pitchFamily="34" charset="0"/>
                        </a:rPr>
                        <a:t>Финансирование</a:t>
                      </a:r>
                      <a:endParaRPr lang="ru-RU" sz="1600" b="1" i="0" u="none" strike="noStrike" dirty="0"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600" b="1" u="none" strike="noStrike">
                          <a:effectLst/>
                          <a:latin typeface="Century Gothic" panose="020B0502020202020204" pitchFamily="34" charset="0"/>
                        </a:rPr>
                        <a:t>Событие</a:t>
                      </a:r>
                      <a:endParaRPr lang="ru-RU" sz="1600" b="1" i="0" u="none" strike="noStrike"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2284908"/>
                  </a:ext>
                </a:extLst>
              </a:tr>
              <a:tr h="14437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u="none" strike="noStrike">
                          <a:effectLst/>
                          <a:latin typeface="Century Gothic" panose="020B0502020202020204" pitchFamily="34" charset="0"/>
                        </a:rPr>
                        <a:t>год</a:t>
                      </a:r>
                      <a:endParaRPr lang="ru-RU" sz="1400" b="1" i="0" u="none" strike="noStrike"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u="none" strike="noStrike" dirty="0">
                          <a:effectLst/>
                          <a:latin typeface="Century Gothic" panose="020B0502020202020204" pitchFamily="34" charset="0"/>
                        </a:rPr>
                        <a:t>месяц</a:t>
                      </a:r>
                      <a:endParaRPr lang="ru-RU" sz="1400" b="1" i="0" u="none" strike="noStrike" dirty="0"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344">
                <a:tc rowSpan="7">
                  <a:txBody>
                    <a:bodyPr/>
                    <a:lstStyle/>
                    <a:p>
                      <a:pPr algn="ctr" rtl="0" fontAlgn="ctr"/>
                      <a:r>
                        <a:rPr lang="ru-RU" sz="1600" b="1" u="none" strike="noStrike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2024</a:t>
                      </a:r>
                      <a:endParaRPr lang="ru-RU" sz="1600" b="1" i="0" u="none" strike="noStrike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Сентябрь</a:t>
                      </a:r>
                      <a:endParaRPr lang="ru-RU" sz="16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ru-RU" sz="1600" u="none" strike="noStrike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Собственные </a:t>
                      </a:r>
                      <a:r>
                        <a:rPr lang="ru-RU" sz="1600" u="none" strike="noStrike" dirty="0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средства </a:t>
                      </a:r>
                      <a:br>
                        <a:rPr lang="ru-RU" sz="1600" u="none" strike="noStrike" dirty="0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ru-RU" sz="1600" u="none" strike="noStrike" dirty="0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123,5</a:t>
                      </a:r>
                      <a:r>
                        <a:rPr lang="ru-RU" sz="1600" u="none" strike="noStrike" baseline="0" dirty="0" smtClean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 тыс. руб.</a:t>
                      </a:r>
                      <a:endParaRPr lang="ru-RU" sz="16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Определение спроса</a:t>
                      </a:r>
                      <a:endParaRPr lang="ru-RU" sz="16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9038902"/>
                  </a:ext>
                </a:extLst>
              </a:tr>
              <a:tr h="31763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Октябрь</a:t>
                      </a:r>
                      <a:endParaRPr lang="ru-RU" sz="16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Продумывание фукнционала</a:t>
                      </a:r>
                      <a:endParaRPr lang="ru-RU" sz="1600" b="0" i="0" u="none" strike="noStrike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1580769"/>
                  </a:ext>
                </a:extLst>
              </a:tr>
              <a:tr h="5091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Ноябрь</a:t>
                      </a:r>
                      <a:endParaRPr lang="ru-RU" sz="16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62341"/>
                  </a:ext>
                </a:extLst>
              </a:tr>
              <a:tr h="5091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Декабрь - Февраль</a:t>
                      </a:r>
                      <a:endParaRPr lang="ru-RU" sz="16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Разработка ПО</a:t>
                      </a:r>
                      <a:endParaRPr lang="ru-RU" sz="16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2310945"/>
                  </a:ext>
                </a:extLst>
              </a:tr>
              <a:tr h="5091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Март</a:t>
                      </a:r>
                      <a:endParaRPr lang="ru-RU" sz="16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Тестирование и отладка ПО</a:t>
                      </a:r>
                      <a:endParaRPr lang="ru-RU" sz="16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86305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Апрель</a:t>
                      </a:r>
                      <a:endParaRPr lang="ru-RU" sz="16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Внедрение ПО</a:t>
                      </a:r>
                      <a:endParaRPr lang="ru-RU" sz="16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4893444"/>
                  </a:ext>
                </a:extLst>
              </a:tr>
              <a:tr h="50919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Май</a:t>
                      </a:r>
                      <a:endParaRPr lang="ru-RU" sz="16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ln>
                            <a:solidFill>
                              <a:srgbClr val="002060"/>
                            </a:solidFill>
                          </a:ln>
                          <a:effectLst/>
                          <a:latin typeface="Century Gothic" panose="020B0502020202020204" pitchFamily="34" charset="0"/>
                        </a:rPr>
                        <a:t>Получение обратной связи и доработки</a:t>
                      </a:r>
                      <a:endParaRPr lang="ru-RU" sz="1600" b="0" i="0" u="none" strike="noStrike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6663516"/>
                  </a:ext>
                </a:extLst>
              </a:tr>
            </a:tbl>
          </a:graphicData>
        </a:graphic>
      </p:graphicFrame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935" y="16037"/>
            <a:ext cx="2007378" cy="11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1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>
            <a:spLocks noGrp="1"/>
          </p:cNvSpPr>
          <p:nvPr>
            <p:ph type="title"/>
          </p:nvPr>
        </p:nvSpPr>
        <p:spPr>
          <a:xfrm>
            <a:off x="681037" y="910512"/>
            <a:ext cx="8543925" cy="13255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Calibri"/>
              <a:buNone/>
            </a:pPr>
            <a:r>
              <a:rPr lang="ru-RU" sz="3200" b="1" i="0" u="sng" strike="noStrike" cap="none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Calibri"/>
              </a:rPr>
              <a:t>КЛЮЧЕВЫЕ </a:t>
            </a:r>
            <a:r>
              <a:rPr lang="en-US" sz="3200" b="1" i="0" u="sng" strike="noStrike" cap="none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Calibri"/>
              </a:rPr>
              <a:t>РИСКИ </a:t>
            </a:r>
            <a:endParaRPr lang="en-US" sz="3200" b="1" i="0" u="sng" strike="noStrike" cap="none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sym typeface="Calibri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310" y="156581"/>
            <a:ext cx="2007378" cy="1129150"/>
          </a:xfrm>
          <a:prstGeom prst="rect">
            <a:avLst/>
          </a:prstGeom>
        </p:spPr>
      </p:pic>
      <p:sp>
        <p:nvSpPr>
          <p:cNvPr id="5" name="Shape 160"/>
          <p:cNvSpPr txBox="1">
            <a:spLocks noGrp="1"/>
          </p:cNvSpPr>
          <p:nvPr>
            <p:ph type="body" idx="1"/>
          </p:nvPr>
        </p:nvSpPr>
        <p:spPr>
          <a:xfrm>
            <a:off x="468312" y="2111549"/>
            <a:ext cx="8993322" cy="420612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r>
              <a:rPr lang="ru-RU" sz="1800" dirty="0">
                <a:solidFill>
                  <a:srgbClr val="002060"/>
                </a:solidFill>
              </a:rPr>
              <a:t>	</a:t>
            </a:r>
            <a:r>
              <a:rPr lang="ru-RU" sz="1800" dirty="0" smtClean="0">
                <a:solidFill>
                  <a:srgbClr val="002060"/>
                </a:solidFill>
              </a:rPr>
              <a:t>Влияние: </a:t>
            </a:r>
            <a:r>
              <a:rPr lang="ru-RU" sz="1800" dirty="0">
                <a:solidFill>
                  <a:srgbClr val="002060"/>
                </a:solidFill>
              </a:rPr>
              <a:t>Высокое</a:t>
            </a:r>
            <a:endParaRPr lang="ru-RU" sz="1800" dirty="0" smtClean="0">
              <a:solidFill>
                <a:srgbClr val="002060"/>
              </a:solidFill>
            </a:endParaRPr>
          </a:p>
          <a:p>
            <a:pPr marL="285750" indent="-285750" algn="just">
              <a:spcBef>
                <a:spcPts val="0"/>
              </a:spcBef>
              <a:buClr>
                <a:srgbClr val="002060"/>
              </a:buClr>
              <a:buSzPct val="25000"/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rgbClr val="002060"/>
                </a:solidFill>
              </a:rPr>
              <a:t>Недостаточное вовлечение конечных </a:t>
            </a:r>
            <a:r>
              <a:rPr lang="ru-RU" sz="1800" dirty="0" smtClean="0">
                <a:solidFill>
                  <a:srgbClr val="002060"/>
                </a:solidFill>
              </a:rPr>
              <a:t>пользователей</a:t>
            </a:r>
          </a:p>
          <a:p>
            <a:pPr marL="285750" indent="-285750" algn="just">
              <a:spcBef>
                <a:spcPts val="0"/>
              </a:spcBef>
              <a:buClr>
                <a:srgbClr val="002060"/>
              </a:buClr>
              <a:buSzPct val="25000"/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rgbClr val="002060"/>
                </a:solidFill>
              </a:rPr>
              <a:t>Проблемы с синхронизацией </a:t>
            </a:r>
            <a:r>
              <a:rPr lang="ru-RU" sz="1800" dirty="0" smtClean="0">
                <a:solidFill>
                  <a:srgbClr val="002060"/>
                </a:solidFill>
              </a:rPr>
              <a:t>данных</a:t>
            </a:r>
          </a:p>
          <a:p>
            <a:pPr marL="285750" indent="-285750" algn="just">
              <a:spcBef>
                <a:spcPts val="0"/>
              </a:spcBef>
              <a:buClr>
                <a:srgbClr val="002060"/>
              </a:buClr>
              <a:buSzPct val="25000"/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rgbClr val="002060"/>
                </a:solidFill>
              </a:rPr>
              <a:t>Нехватка времени или ресурсов на доработку	</a:t>
            </a:r>
            <a:endParaRPr lang="ru-RU" sz="1800" dirty="0" smtClean="0">
              <a:solidFill>
                <a:srgbClr val="002060"/>
              </a:solidFill>
            </a:endParaRPr>
          </a:p>
          <a:p>
            <a:pPr marL="285750" indent="-285750" algn="just">
              <a:spcBef>
                <a:spcPts val="0"/>
              </a:spcBef>
              <a:buClr>
                <a:srgbClr val="002060"/>
              </a:buClr>
              <a:buSzPct val="25000"/>
              <a:buFont typeface="Wingdings" panose="05000000000000000000" pitchFamily="2" charset="2"/>
              <a:buChar char="v"/>
            </a:pPr>
            <a:endParaRPr lang="ru-RU" sz="1800" dirty="0">
              <a:solidFill>
                <a:srgbClr val="002060"/>
              </a:solidFill>
            </a:endParaRP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r>
              <a:rPr lang="ru-RU" sz="1800" dirty="0">
                <a:solidFill>
                  <a:srgbClr val="002060"/>
                </a:solidFill>
              </a:rPr>
              <a:t>	</a:t>
            </a:r>
            <a:r>
              <a:rPr lang="ru-RU" sz="1800" dirty="0" smtClean="0">
                <a:solidFill>
                  <a:srgbClr val="002060"/>
                </a:solidFill>
              </a:rPr>
              <a:t>Влияние: Среднее</a:t>
            </a:r>
          </a:p>
          <a:p>
            <a:pPr marL="285750" indent="-285750" algn="just">
              <a:spcBef>
                <a:spcPts val="0"/>
              </a:spcBef>
              <a:buClr>
                <a:srgbClr val="002060"/>
              </a:buClr>
              <a:buSzPct val="25000"/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rgbClr val="002060"/>
                </a:solidFill>
              </a:rPr>
              <a:t>Сложности с интеграцией с другими </a:t>
            </a:r>
            <a:r>
              <a:rPr lang="ru-RU" sz="1800" dirty="0" smtClean="0">
                <a:solidFill>
                  <a:srgbClr val="002060"/>
                </a:solidFill>
              </a:rPr>
              <a:t>системами</a:t>
            </a:r>
          </a:p>
          <a:p>
            <a:pPr marL="285750" indent="-285750" algn="just">
              <a:spcBef>
                <a:spcPts val="0"/>
              </a:spcBef>
              <a:buClr>
                <a:srgbClr val="002060"/>
              </a:buClr>
              <a:buSzPct val="25000"/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rgbClr val="002060"/>
                </a:solidFill>
              </a:rPr>
              <a:t>Пробелы в планировании и постановке </a:t>
            </a:r>
            <a:r>
              <a:rPr lang="ru-RU" sz="1800" dirty="0" smtClean="0">
                <a:solidFill>
                  <a:srgbClr val="002060"/>
                </a:solidFill>
              </a:rPr>
              <a:t>задач</a:t>
            </a:r>
          </a:p>
          <a:p>
            <a:pPr marL="285750" indent="-285750" algn="just">
              <a:spcBef>
                <a:spcPts val="0"/>
              </a:spcBef>
              <a:buClr>
                <a:srgbClr val="002060"/>
              </a:buClr>
              <a:buSzPct val="25000"/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rgbClr val="002060"/>
                </a:solidFill>
              </a:rPr>
              <a:t>Проблемы с соблюдением законодательства (например, по обработке данных</a:t>
            </a:r>
            <a:r>
              <a:rPr lang="ru-RU" sz="1800" dirty="0" smtClean="0">
                <a:solidFill>
                  <a:srgbClr val="002060"/>
                </a:solidFill>
              </a:rPr>
              <a:t>)</a:t>
            </a:r>
          </a:p>
          <a:p>
            <a:pPr marL="285750" indent="-285750" algn="just">
              <a:spcBef>
                <a:spcPts val="0"/>
              </a:spcBef>
              <a:buClr>
                <a:srgbClr val="002060"/>
              </a:buClr>
              <a:buSzPct val="25000"/>
              <a:buFont typeface="Wingdings" panose="05000000000000000000" pitchFamily="2" charset="2"/>
              <a:buChar char="v"/>
            </a:pPr>
            <a:endParaRPr lang="ru-RU" sz="1800" dirty="0">
              <a:solidFill>
                <a:srgbClr val="002060"/>
              </a:solidFill>
            </a:endParaRP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r>
              <a:rPr lang="ru-RU" sz="1800" dirty="0" smtClean="0">
                <a:solidFill>
                  <a:srgbClr val="002060"/>
                </a:solidFill>
              </a:rPr>
              <a:t>	Влияние: Низкая</a:t>
            </a:r>
          </a:p>
          <a:p>
            <a:pPr marL="285750" indent="-285750" algn="just">
              <a:spcBef>
                <a:spcPts val="0"/>
              </a:spcBef>
              <a:buClr>
                <a:srgbClr val="002060"/>
              </a:buClr>
              <a:buSzPct val="25000"/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rgbClr val="002060"/>
                </a:solidFill>
              </a:rPr>
              <a:t>Сбой серверного оборудования или облачных </a:t>
            </a:r>
            <a:r>
              <a:rPr lang="ru-RU" sz="1800" dirty="0" smtClean="0">
                <a:solidFill>
                  <a:srgbClr val="002060"/>
                </a:solidFill>
              </a:rPr>
              <a:t>сервисов</a:t>
            </a:r>
          </a:p>
          <a:p>
            <a:pPr marL="285750" indent="-285750" algn="just">
              <a:spcBef>
                <a:spcPts val="0"/>
              </a:spcBef>
              <a:buClr>
                <a:srgbClr val="002060"/>
              </a:buClr>
              <a:buSzPct val="25000"/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rgbClr val="002060"/>
                </a:solidFill>
              </a:rPr>
              <a:t>Низкая мотивация команды </a:t>
            </a:r>
            <a:r>
              <a:rPr lang="ru-RU" sz="1800" dirty="0" smtClean="0">
                <a:solidFill>
                  <a:srgbClr val="002060"/>
                </a:solidFill>
              </a:rPr>
              <a:t>разработки</a:t>
            </a:r>
          </a:p>
          <a:p>
            <a:pPr marL="285750" indent="-285750" algn="just">
              <a:spcBef>
                <a:spcPts val="0"/>
              </a:spcBef>
              <a:buClr>
                <a:srgbClr val="002060"/>
              </a:buClr>
              <a:buSzPct val="25000"/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rgbClr val="002060"/>
                </a:solidFill>
              </a:rPr>
              <a:t>Изменение требований проекта в последний момент</a:t>
            </a: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endParaRPr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>
            <a:spLocks noGrp="1"/>
          </p:cNvSpPr>
          <p:nvPr>
            <p:ph type="title"/>
          </p:nvPr>
        </p:nvSpPr>
        <p:spPr>
          <a:xfrm>
            <a:off x="681037" y="1121437"/>
            <a:ext cx="8543925" cy="87100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Calibri"/>
              <a:buNone/>
            </a:pPr>
            <a:r>
              <a:rPr lang="en-US" sz="3200" b="1" i="0" u="sng" strike="noStrike" cap="none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Calibri"/>
              </a:rPr>
              <a:t>ИНТЕЛЛЕКТУАЛЬН</a:t>
            </a:r>
            <a:r>
              <a:rPr lang="ru-RU" sz="3200" b="1" i="0" u="sng" strike="noStrike" cap="none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Calibri"/>
              </a:rPr>
              <a:t>АЯ</a:t>
            </a:r>
            <a:r>
              <a:rPr lang="en-US" sz="3200" b="1" i="0" u="sng" strike="noStrike" cap="none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sym typeface="Calibri"/>
              </a:rPr>
              <a:t> СОБСТВЕННОСТ</a:t>
            </a:r>
            <a:r>
              <a:rPr lang="ru-RU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Ь</a:t>
            </a:r>
            <a:endParaRPr lang="en-US" sz="3200" b="1" i="0" u="sng" strike="noStrike" cap="none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sym typeface="Calibri"/>
            </a:endParaRPr>
          </a:p>
        </p:txBody>
      </p:sp>
      <p:sp>
        <p:nvSpPr>
          <p:cNvPr id="160" name="Shape 160"/>
          <p:cNvSpPr txBox="1">
            <a:spLocks noGrp="1"/>
          </p:cNvSpPr>
          <p:nvPr>
            <p:ph type="body" idx="1"/>
          </p:nvPr>
        </p:nvSpPr>
        <p:spPr>
          <a:xfrm>
            <a:off x="468312" y="2111550"/>
            <a:ext cx="8993322" cy="313422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r>
              <a:rPr lang="en-US" sz="24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Способ</a:t>
            </a:r>
            <a:r>
              <a:rPr lang="en-US" sz="24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правовой</a:t>
            </a:r>
            <a:r>
              <a:rPr lang="en-US" sz="2400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охраны</a:t>
            </a:r>
            <a:r>
              <a:rPr lang="en-US" sz="2400" dirty="0">
                <a:solidFill>
                  <a:srgbClr val="002060"/>
                </a:solidFill>
                <a:latin typeface="Century Gothic" panose="020B0502020202020204" pitchFamily="34" charset="0"/>
              </a:rPr>
              <a:t> – </a:t>
            </a:r>
            <a:r>
              <a:rPr lang="en-US" sz="2400" b="1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комбинированный</a:t>
            </a:r>
            <a:r>
              <a:rPr lang="ru-RU" sz="24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. Защита авторских прав на программный код и защита товарного знака</a:t>
            </a:r>
            <a:endParaRPr lang="en-US" sz="2400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endParaRPr lang="ru-RU" sz="2400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endParaRPr lang="en-US" sz="2400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r>
              <a:rPr lang="en-US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1. </a:t>
            </a:r>
            <a:r>
              <a:rPr lang="ru-RU" sz="2400" dirty="0">
                <a:solidFill>
                  <a:srgbClr val="002060"/>
                </a:solidFill>
                <a:latin typeface="Century Gothic" panose="020B0502020202020204" pitchFamily="34" charset="0"/>
              </a:rPr>
              <a:t>Патентованию подлежат уникальные алгоритмы и технические решения</a:t>
            </a:r>
            <a:r>
              <a:rPr lang="ru-RU" sz="24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, которые </a:t>
            </a:r>
            <a:r>
              <a:rPr lang="ru-RU" sz="2400" dirty="0">
                <a:solidFill>
                  <a:srgbClr val="002060"/>
                </a:solidFill>
                <a:latin typeface="Century Gothic" panose="020B0502020202020204" pitchFamily="34" charset="0"/>
              </a:rPr>
              <a:t>могут быть инновационными и отличаться от существующих решений на рынке.</a:t>
            </a:r>
          </a:p>
          <a:p>
            <a:pPr marL="0" indent="0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endParaRPr lang="ru-RU" sz="1400" dirty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r>
              <a:rPr lang="ru-RU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2.  </a:t>
            </a:r>
            <a:r>
              <a:rPr lang="ru-RU" sz="2400" dirty="0">
                <a:solidFill>
                  <a:srgbClr val="002060"/>
                </a:solidFill>
                <a:latin typeface="Century Gothic" panose="020B0502020202020204" pitchFamily="34" charset="0"/>
              </a:rPr>
              <a:t>ПО </a:t>
            </a:r>
            <a:r>
              <a:rPr lang="en-US" sz="24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–</a:t>
            </a:r>
            <a:r>
              <a:rPr lang="ru-RU" sz="24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2400" dirty="0">
                <a:solidFill>
                  <a:srgbClr val="002060"/>
                </a:solidFill>
                <a:latin typeface="Century Gothic" panose="020B0502020202020204" pitchFamily="34" charset="0"/>
              </a:rPr>
              <a:t>регистрация свидетельства</a:t>
            </a: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endParaRPr lang="ru-RU" sz="1400" dirty="0">
              <a:solidFill>
                <a:srgbClr val="002060"/>
              </a:solidFill>
            </a:endParaRP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r>
              <a:rPr lang="en-US" sz="2400" dirty="0">
                <a:solidFill>
                  <a:srgbClr val="002060"/>
                </a:solidFill>
              </a:rPr>
              <a:t> </a:t>
            </a: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endParaRPr sz="2400" dirty="0">
              <a:solidFill>
                <a:srgbClr val="002060"/>
              </a:solidFill>
            </a:endParaRPr>
          </a:p>
          <a:p>
            <a:pPr marL="0" indent="0" algn="just">
              <a:spcBef>
                <a:spcPts val="0"/>
              </a:spcBef>
              <a:buClr>
                <a:srgbClr val="002060"/>
              </a:buClr>
              <a:buSzPct val="25000"/>
              <a:buNone/>
            </a:pPr>
            <a:endParaRPr sz="2400" dirty="0">
              <a:solidFill>
                <a:srgbClr val="00206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284" y="89928"/>
            <a:ext cx="2007378" cy="11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7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>
            <a:spLocks noGrp="1"/>
          </p:cNvSpPr>
          <p:nvPr>
            <p:ph type="title"/>
          </p:nvPr>
        </p:nvSpPr>
        <p:spPr>
          <a:xfrm>
            <a:off x="681037" y="1220787"/>
            <a:ext cx="8543925" cy="69593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 algn="ctr">
              <a:buClr>
                <a:srgbClr val="002060"/>
              </a:buClr>
              <a:buSzPct val="25000"/>
            </a:pPr>
            <a:r>
              <a:rPr lang="ru-RU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Трудоёмкость </a:t>
            </a:r>
            <a:r>
              <a:rPr lang="ru-RU" sz="32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разработки ПП</a:t>
            </a:r>
            <a:endParaRPr lang="ru-RU" sz="3200" b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229" name="Shape 229"/>
          <p:cNvSpPr txBox="1">
            <a:spLocks noGrp="1"/>
          </p:cNvSpPr>
          <p:nvPr>
            <p:ph type="body" idx="1"/>
          </p:nvPr>
        </p:nvSpPr>
        <p:spPr>
          <a:xfrm>
            <a:off x="315461" y="2059079"/>
            <a:ext cx="9275075" cy="10860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indent="0" algn="ctr">
              <a:buClr>
                <a:srgbClr val="002060"/>
              </a:buClr>
              <a:buSzPct val="25000"/>
              <a:buNone/>
            </a:pPr>
            <a:r>
              <a:rPr lang="ru-RU" b="1" dirty="0">
                <a:solidFill>
                  <a:srgbClr val="002060"/>
                </a:solidFill>
                <a:latin typeface="Century Gothic" panose="020B0502020202020204" pitchFamily="34" charset="0"/>
              </a:rPr>
              <a:t>Общая трудоёмкость разработки ПО составит </a:t>
            </a:r>
            <a:r>
              <a:rPr lang="ru-RU" b="1" u="sng" dirty="0">
                <a:solidFill>
                  <a:srgbClr val="002060"/>
                </a:solidFill>
                <a:latin typeface="Century Gothic" panose="020B0502020202020204" pitchFamily="34" charset="0"/>
              </a:rPr>
              <a:t>186 человеко-дней </a:t>
            </a:r>
            <a:r>
              <a:rPr lang="ru-RU" b="1" dirty="0">
                <a:solidFill>
                  <a:srgbClr val="002060"/>
                </a:solidFill>
                <a:latin typeface="Century Gothic" panose="020B0502020202020204" pitchFamily="34" charset="0"/>
              </a:rPr>
              <a:t>или же </a:t>
            </a:r>
            <a:r>
              <a:rPr lang="ru-RU" b="1" u="sng" dirty="0">
                <a:solidFill>
                  <a:srgbClr val="002060"/>
                </a:solidFill>
                <a:latin typeface="Century Gothic" panose="020B0502020202020204" pitchFamily="34" charset="0"/>
              </a:rPr>
              <a:t>186 рабочих </a:t>
            </a:r>
            <a:r>
              <a:rPr lang="ru-RU" b="1" u="sng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дня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424873" y="3317874"/>
            <a:ext cx="9365672" cy="280859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buClr>
                <a:srgbClr val="002060"/>
              </a:buClr>
              <a:buSzPct val="25000"/>
            </a:pPr>
            <a:r>
              <a:rPr lang="ru-RU" sz="2600" b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1) </a:t>
            </a:r>
            <a:r>
              <a:rPr lang="ru-RU" sz="26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Техническое задание –</a:t>
            </a:r>
            <a:r>
              <a:rPr lang="ru-RU" sz="2600" dirty="0" smtClean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</a:t>
            </a:r>
            <a:r>
              <a:rPr lang="ru-RU" sz="2600" b="1" u="sng" dirty="0" smtClean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14 </a:t>
            </a:r>
            <a:r>
              <a:rPr lang="ru-RU" sz="2600" b="1" u="sng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дней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SzPct val="25000"/>
            </a:pPr>
            <a:r>
              <a:rPr lang="ru-RU" sz="2600" b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2) </a:t>
            </a:r>
            <a:r>
              <a:rPr lang="ru-RU" sz="26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Эскизный проект программного продукта –</a:t>
            </a:r>
            <a:r>
              <a:rPr lang="ru-RU" sz="2600" dirty="0" smtClean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</a:t>
            </a:r>
            <a:r>
              <a:rPr lang="ru-RU" sz="2600" b="1" u="sng" dirty="0" smtClean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14 </a:t>
            </a:r>
            <a:r>
              <a:rPr lang="ru-RU" sz="2600" b="1" u="sng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дней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SzPct val="25000"/>
            </a:pPr>
            <a:r>
              <a:rPr lang="ru-RU" sz="2600" b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3) </a:t>
            </a:r>
            <a:r>
              <a:rPr lang="ru-RU" sz="26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Технический проект ПП –</a:t>
            </a:r>
            <a:r>
              <a:rPr lang="ru-RU" sz="2600" dirty="0" smtClean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</a:t>
            </a:r>
            <a:r>
              <a:rPr lang="ru-RU" sz="2600" b="1" u="sng" dirty="0" smtClean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31 день</a:t>
            </a:r>
            <a:endParaRPr lang="ru-RU" sz="2600" b="1" u="sng" dirty="0">
              <a:solidFill>
                <a:srgbClr val="002060"/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SzPct val="25000"/>
            </a:pPr>
            <a:r>
              <a:rPr lang="ru-RU" sz="2600" b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4) </a:t>
            </a:r>
            <a:r>
              <a:rPr lang="ru-RU" sz="26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Рабочий проект </a:t>
            </a:r>
            <a:r>
              <a:rPr lang="ru-RU" sz="2600" dirty="0" smtClean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ПП – </a:t>
            </a:r>
            <a:r>
              <a:rPr lang="ru-RU" sz="2600" b="1" u="sng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121 </a:t>
            </a:r>
            <a:r>
              <a:rPr lang="ru-RU" sz="2600" b="1" u="sng" dirty="0" smtClean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день</a:t>
            </a:r>
            <a:endParaRPr lang="ru-RU" sz="2600" b="1" u="sng" dirty="0">
              <a:solidFill>
                <a:srgbClr val="002060"/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SzPct val="25000"/>
            </a:pPr>
            <a:r>
              <a:rPr lang="ru-RU" sz="2600" b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5) </a:t>
            </a:r>
            <a:r>
              <a:rPr lang="ru-RU" sz="26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Внедрение разработанного ПП – </a:t>
            </a:r>
            <a:r>
              <a:rPr lang="ru-RU" sz="2600" b="1" u="sng" dirty="0" smtClean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6 дней</a:t>
            </a:r>
            <a:endParaRPr lang="ru-RU" sz="2600" b="1" u="sng" dirty="0">
              <a:solidFill>
                <a:srgbClr val="002060"/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463" y="157936"/>
            <a:ext cx="2007378" cy="11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2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>
            <a:spLocks noGrp="1"/>
          </p:cNvSpPr>
          <p:nvPr>
            <p:ph type="title"/>
          </p:nvPr>
        </p:nvSpPr>
        <p:spPr>
          <a:xfrm>
            <a:off x="681037" y="944058"/>
            <a:ext cx="8543925" cy="13255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Calibri"/>
              <a:buNone/>
            </a:pPr>
            <a:r>
              <a:rPr lang="ru-RU" sz="32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Затраты на создание ПП</a:t>
            </a:r>
            <a:endParaRPr lang="ru-RU" sz="3200" b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229" name="Shape 229"/>
          <p:cNvSpPr txBox="1">
            <a:spLocks noGrp="1"/>
          </p:cNvSpPr>
          <p:nvPr>
            <p:ph type="body" idx="1"/>
          </p:nvPr>
        </p:nvSpPr>
        <p:spPr>
          <a:xfrm>
            <a:off x="397164" y="1955431"/>
            <a:ext cx="9310254" cy="450522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Arial"/>
              <a:buNone/>
            </a:pPr>
            <a:r>
              <a:rPr lang="ru-RU" sz="24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Затраты:</a:t>
            </a:r>
          </a:p>
          <a:p>
            <a:pPr marL="457200" lvl="1" indent="0">
              <a:spcBef>
                <a:spcPts val="1000"/>
              </a:spcBef>
              <a:buClr>
                <a:srgbClr val="002060"/>
              </a:buClr>
              <a:buSzPct val="25000"/>
              <a:buNone/>
            </a:pPr>
            <a:r>
              <a:rPr lang="ru-RU" b="1" dirty="0">
                <a:solidFill>
                  <a:srgbClr val="002060"/>
                </a:solidFill>
                <a:latin typeface="Century Gothic" panose="020B0502020202020204" pitchFamily="34" charset="0"/>
              </a:rPr>
              <a:t>1</a:t>
            </a:r>
            <a:r>
              <a:rPr lang="ru-RU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) 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Затраты на оборудование и ПО </a:t>
            </a:r>
            <a:r>
              <a:rPr lang="ru-RU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– </a:t>
            </a:r>
            <a:r>
              <a:rPr lang="ru-RU" b="1" u="sng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246835 рублей</a:t>
            </a:r>
          </a:p>
          <a:p>
            <a:pPr marL="457200" lvl="1" indent="0">
              <a:spcBef>
                <a:spcPts val="1000"/>
              </a:spcBef>
              <a:buClr>
                <a:srgbClr val="002060"/>
              </a:buClr>
              <a:buSzPct val="25000"/>
              <a:buNone/>
            </a:pPr>
            <a:r>
              <a:rPr lang="ru-RU" b="1" dirty="0">
                <a:solidFill>
                  <a:srgbClr val="002060"/>
                </a:solidFill>
                <a:latin typeface="Century Gothic" panose="020B0502020202020204" pitchFamily="34" charset="0"/>
              </a:rPr>
              <a:t>2</a:t>
            </a:r>
            <a:r>
              <a:rPr lang="ru-RU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) </a:t>
            </a:r>
            <a:r>
              <a:rPr lang="ru-RU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На заработную плату сотрудникам – </a:t>
            </a:r>
            <a:r>
              <a:rPr lang="ru-RU" b="1" u="sng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1 058 </a:t>
            </a:r>
            <a:r>
              <a:rPr lang="ru-RU" b="1" u="sng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285 рублей</a:t>
            </a:r>
            <a:endParaRPr lang="ru-RU" b="1" u="sng" dirty="0" smtClean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457200" lvl="1" indent="0">
              <a:spcBef>
                <a:spcPts val="1000"/>
              </a:spcBef>
              <a:buClr>
                <a:srgbClr val="002060"/>
              </a:buClr>
              <a:buSzPct val="25000"/>
              <a:buNone/>
            </a:pPr>
            <a:r>
              <a:rPr lang="ru-RU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4) </a:t>
            </a:r>
            <a:r>
              <a:rPr lang="ru-RU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На  дополнительную ЗП потребуется – </a:t>
            </a:r>
            <a:r>
              <a:rPr lang="ru-RU" b="1" u="sng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106 285 </a:t>
            </a:r>
            <a:r>
              <a:rPr lang="ru-RU" b="1" u="sng" dirty="0">
                <a:solidFill>
                  <a:srgbClr val="002060"/>
                </a:solidFill>
                <a:latin typeface="Century Gothic" panose="020B0502020202020204" pitchFamily="34" charset="0"/>
              </a:rPr>
              <a:t>рублей</a:t>
            </a:r>
            <a:endParaRPr lang="ru-RU" b="1" u="sng" dirty="0" smtClean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457200" lvl="1" indent="0">
              <a:spcBef>
                <a:spcPts val="1000"/>
              </a:spcBef>
              <a:buClr>
                <a:srgbClr val="002060"/>
              </a:buClr>
              <a:buSzPct val="25000"/>
              <a:buNone/>
            </a:pPr>
            <a:r>
              <a:rPr lang="ru-RU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5) </a:t>
            </a:r>
            <a:r>
              <a:rPr lang="ru-RU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На социальное страхование – </a:t>
            </a:r>
            <a:r>
              <a:rPr lang="ru-RU" b="1" u="sng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302 788 рублей</a:t>
            </a:r>
          </a:p>
          <a:p>
            <a:pPr marL="457200" lvl="1" indent="0">
              <a:spcBef>
                <a:spcPts val="1000"/>
              </a:spcBef>
              <a:buClr>
                <a:srgbClr val="002060"/>
              </a:buClr>
              <a:buSzPct val="25000"/>
              <a:buNone/>
            </a:pPr>
            <a:r>
              <a:rPr lang="ru-RU" b="1" dirty="0">
                <a:solidFill>
                  <a:srgbClr val="002060"/>
                </a:solidFill>
                <a:latin typeface="Century Gothic" panose="020B0502020202020204" pitchFamily="34" charset="0"/>
              </a:rPr>
              <a:t>6</a:t>
            </a:r>
            <a:r>
              <a:rPr lang="ru-RU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) 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Накладные расходы – </a:t>
            </a:r>
            <a:r>
              <a:rPr lang="ru-RU" b="1" u="sng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159 428 рублей</a:t>
            </a:r>
          </a:p>
          <a:p>
            <a:pPr marL="457200" lvl="1" indent="0">
              <a:spcBef>
                <a:spcPts val="1000"/>
              </a:spcBef>
              <a:buClr>
                <a:srgbClr val="002060"/>
              </a:buClr>
              <a:buSzPct val="25000"/>
              <a:buNone/>
            </a:pPr>
            <a:r>
              <a:rPr lang="ru-RU" b="1" dirty="0">
                <a:solidFill>
                  <a:srgbClr val="002060"/>
                </a:solidFill>
                <a:latin typeface="Century Gothic" panose="020B0502020202020204" pitchFamily="34" charset="0"/>
              </a:rPr>
              <a:t>7</a:t>
            </a:r>
            <a:r>
              <a:rPr lang="ru-RU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) </a:t>
            </a:r>
            <a:r>
              <a:rPr lang="ru-RU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Амортизация оборудования – </a:t>
            </a:r>
            <a:r>
              <a:rPr lang="ru-RU" b="1" u="sng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5 755 </a:t>
            </a:r>
            <a:r>
              <a:rPr lang="ru-RU" b="1" u="sng" dirty="0">
                <a:solidFill>
                  <a:srgbClr val="002060"/>
                </a:solidFill>
                <a:latin typeface="Century Gothic" panose="020B0502020202020204" pitchFamily="34" charset="0"/>
              </a:rPr>
              <a:t>рубля</a:t>
            </a:r>
            <a:endParaRPr lang="ru-RU" b="1" u="sng" dirty="0" smtClean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457200" lvl="1" indent="0">
              <a:spcBef>
                <a:spcPts val="1000"/>
              </a:spcBef>
              <a:buClr>
                <a:srgbClr val="002060"/>
              </a:buClr>
              <a:buSzPct val="25000"/>
              <a:buFont typeface="Arial"/>
              <a:buNone/>
            </a:pPr>
            <a:endParaRPr lang="ru-RU" b="1" u="sng" dirty="0" smtClean="0">
              <a:solidFill>
                <a:srgbClr val="002060"/>
              </a:solidFill>
              <a:latin typeface="Century Gothic" panose="020B0502020202020204" pitchFamily="34" charset="0"/>
            </a:endParaRPr>
          </a:p>
          <a:p>
            <a:pPr marL="0" lvl="0" indent="0" algn="ctr">
              <a:buClr>
                <a:srgbClr val="002060"/>
              </a:buClr>
              <a:buSzPct val="25000"/>
              <a:buNone/>
            </a:pPr>
            <a:r>
              <a:rPr lang="ru-RU" b="1" u="sng" dirty="0" smtClean="0">
                <a:solidFill>
                  <a:srgbClr val="FF0000"/>
                </a:solidFill>
                <a:latin typeface="Century Gothic" panose="020B0502020202020204" pitchFamily="34" charset="0"/>
              </a:rPr>
              <a:t>Итого</a:t>
            </a:r>
            <a:r>
              <a:rPr lang="ru-RU" b="1" u="sng" dirty="0">
                <a:solidFill>
                  <a:srgbClr val="FF0000"/>
                </a:solidFill>
                <a:latin typeface="Century Gothic" panose="020B0502020202020204" pitchFamily="34" charset="0"/>
              </a:rPr>
              <a:t>:</a:t>
            </a:r>
            <a:r>
              <a:rPr lang="ru-RU" b="1" u="sng" dirty="0" smtClean="0">
                <a:solidFill>
                  <a:srgbClr val="FF0000"/>
                </a:solidFill>
                <a:latin typeface="Century Gothic" panose="020B0502020202020204" pitchFamily="34" charset="0"/>
              </a:rPr>
              <a:t> 1 847 784 рублей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463" y="157936"/>
            <a:ext cx="2007378" cy="11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4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>
            <a:spLocks noGrp="1"/>
          </p:cNvSpPr>
          <p:nvPr>
            <p:ph type="title"/>
          </p:nvPr>
        </p:nvSpPr>
        <p:spPr>
          <a:xfrm>
            <a:off x="689189" y="926280"/>
            <a:ext cx="8543925" cy="13255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 algn="ctr">
              <a:spcBef>
                <a:spcPts val="1000"/>
              </a:spcBef>
              <a:buClr>
                <a:srgbClr val="002060"/>
              </a:buClr>
              <a:buSzPct val="25000"/>
            </a:pPr>
            <a:r>
              <a:rPr lang="ru-RU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Себестоимость и </a:t>
            </a:r>
            <a:r>
              <a:rPr lang="ru-RU" sz="32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стоимость услуг</a:t>
            </a:r>
            <a:endParaRPr lang="ru-RU" sz="3200" b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9" name="Shape 229"/>
          <p:cNvSpPr txBox="1">
            <a:spLocks noGrp="1"/>
          </p:cNvSpPr>
          <p:nvPr>
            <p:ph type="body" idx="1"/>
          </p:nvPr>
        </p:nvSpPr>
        <p:spPr>
          <a:xfrm>
            <a:off x="1014232" y="1589061"/>
            <a:ext cx="7893836" cy="20413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lvl="0" indent="0" algn="ctr">
              <a:buClr>
                <a:srgbClr val="002060"/>
              </a:buClr>
              <a:buSzPct val="25000"/>
              <a:buNone/>
            </a:pPr>
            <a:r>
              <a:rPr lang="ru-RU" sz="2000" b="1" u="sng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Себестоимость</a:t>
            </a:r>
            <a:r>
              <a:rPr lang="ru-RU" sz="20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 данного программного продукта составляет </a:t>
            </a:r>
            <a:r>
              <a:rPr lang="ru-RU" sz="2000" b="1" u="sng" dirty="0">
                <a:solidFill>
                  <a:srgbClr val="002060"/>
                </a:solidFill>
                <a:latin typeface="Century Gothic" panose="020B0502020202020204" pitchFamily="34" charset="0"/>
              </a:rPr>
              <a:t>1 </a:t>
            </a:r>
            <a:r>
              <a:rPr lang="ru-RU" sz="2000" b="1" u="sng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847 тыс</a:t>
            </a:r>
            <a:r>
              <a:rPr lang="ru-RU" sz="2000" b="1" u="sng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. рублей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25000"/>
              <a:buFont typeface="Arial"/>
              <a:buNone/>
            </a:pPr>
            <a:r>
              <a:rPr lang="ru-RU" sz="20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Внедрение </a:t>
            </a:r>
            <a:r>
              <a:rPr lang="ru-RU" sz="20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ИС «</a:t>
            </a:r>
            <a:r>
              <a:rPr lang="en-US" sz="2000" dirty="0" err="1" smtClean="0">
                <a:solidFill>
                  <a:srgbClr val="002060"/>
                </a:solidFill>
                <a:latin typeface="Century Gothic" panose="020B0502020202020204" pitchFamily="34" charset="0"/>
              </a:rPr>
              <a:t>HandsOn</a:t>
            </a:r>
            <a:r>
              <a:rPr lang="ru-RU" sz="20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» </a:t>
            </a:r>
            <a:r>
              <a:rPr lang="ru-RU" sz="20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приведёт </a:t>
            </a:r>
            <a:r>
              <a:rPr lang="ru-RU" sz="20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к </a:t>
            </a:r>
            <a:r>
              <a:rPr lang="ru-RU" sz="2000" b="1" u="sng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сокращению затрат</a:t>
            </a:r>
            <a:r>
              <a:rPr lang="ru-RU" sz="20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2000" b="1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волонтерских организаций </a:t>
            </a:r>
            <a:r>
              <a:rPr lang="ru-RU" sz="2000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на </a:t>
            </a:r>
            <a:r>
              <a:rPr lang="ru-RU" sz="2000" b="1" u="sng" dirty="0" smtClean="0">
                <a:solidFill>
                  <a:srgbClr val="002060"/>
                </a:solidFill>
                <a:latin typeface="Century Gothic" panose="020B0502020202020204" pitchFamily="34" charset="0"/>
              </a:rPr>
              <a:t>80 тыс. рублей</a:t>
            </a:r>
            <a:endParaRPr lang="ru-RU" sz="2000" b="1" u="sng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463" y="157936"/>
            <a:ext cx="2007378" cy="1129150"/>
          </a:xfrm>
          <a:prstGeom prst="rect">
            <a:avLst/>
          </a:prstGeom>
        </p:spPr>
      </p:pic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694634"/>
              </p:ext>
            </p:extLst>
          </p:nvPr>
        </p:nvGraphicFramePr>
        <p:xfrm>
          <a:off x="761546" y="3655028"/>
          <a:ext cx="8399209" cy="2895600"/>
        </p:xfrm>
        <a:graphic>
          <a:graphicData uri="http://schemas.openxmlformats.org/drawingml/2006/table">
            <a:tbl>
              <a:tblPr firstRow="1" bandRow="1">
                <a:tableStyleId>{4489D902-96DE-4268-9899-EC5007A015B2}</a:tableStyleId>
              </a:tblPr>
              <a:tblGrid>
                <a:gridCol w="5001945">
                  <a:extLst>
                    <a:ext uri="{9D8B030D-6E8A-4147-A177-3AD203B41FA5}">
                      <a16:colId xmlns:a16="http://schemas.microsoft.com/office/drawing/2014/main" val="1169147051"/>
                    </a:ext>
                  </a:extLst>
                </a:gridCol>
                <a:gridCol w="1644073">
                  <a:extLst>
                    <a:ext uri="{9D8B030D-6E8A-4147-A177-3AD203B41FA5}">
                      <a16:colId xmlns:a16="http://schemas.microsoft.com/office/drawing/2014/main" val="3156442267"/>
                    </a:ext>
                  </a:extLst>
                </a:gridCol>
                <a:gridCol w="1753191">
                  <a:extLst>
                    <a:ext uri="{9D8B030D-6E8A-4147-A177-3AD203B41FA5}">
                      <a16:colId xmlns:a16="http://schemas.microsoft.com/office/drawing/2014/main" val="3031900850"/>
                    </a:ext>
                  </a:extLst>
                </a:gridCol>
              </a:tblGrid>
              <a:tr h="497343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 smtClean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Наименование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 услуги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 smtClean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Минимальная цена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 smtClean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Максимальная цена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765490"/>
                  </a:ext>
                </a:extLst>
              </a:tr>
              <a:tr h="355941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Установка и развёртывание программного обеспечения</a:t>
                      </a:r>
                      <a:endParaRPr lang="ru-RU" sz="16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20 тыс.</a:t>
                      </a:r>
                      <a:r>
                        <a:rPr lang="ru-RU" sz="1600" baseline="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 руб.</a:t>
                      </a:r>
                      <a:endParaRPr lang="ru-RU" sz="16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aseline="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40 </a:t>
                      </a:r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тыс.</a:t>
                      </a:r>
                      <a:r>
                        <a:rPr lang="ru-RU" sz="1600" baseline="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 руб.</a:t>
                      </a:r>
                      <a:endParaRPr lang="ru-RU" sz="1600" dirty="0" smtClean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106909"/>
                  </a:ext>
                </a:extLst>
              </a:tr>
              <a:tr h="49347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Годовая подписка на обновления программного обеспечения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15 тыс.</a:t>
                      </a:r>
                      <a:r>
                        <a:rPr lang="ru-RU" sz="1600" baseline="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 руб.</a:t>
                      </a:r>
                      <a:endParaRPr lang="ru-RU" sz="16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20 тыс.</a:t>
                      </a:r>
                      <a:r>
                        <a:rPr lang="ru-RU" sz="1600" baseline="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 руб.</a:t>
                      </a:r>
                      <a:endParaRPr lang="ru-RU" sz="16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794200"/>
                  </a:ext>
                </a:extLst>
              </a:tr>
              <a:tr h="49347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Усовершенствование ПО для внедрения в имеющуюся систему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10 тыс.</a:t>
                      </a:r>
                      <a:r>
                        <a:rPr lang="ru-RU" sz="1600" baseline="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 руб.</a:t>
                      </a:r>
                      <a:endParaRPr lang="ru-RU" sz="16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30 тыс.</a:t>
                      </a:r>
                      <a:r>
                        <a:rPr lang="ru-RU" sz="1600" baseline="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 руб.</a:t>
                      </a:r>
                      <a:endParaRPr lang="ru-RU" sz="16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918594"/>
                  </a:ext>
                </a:extLst>
              </a:tr>
              <a:tr h="49347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Подписка на техническое</a:t>
                      </a:r>
                      <a:r>
                        <a:rPr lang="ru-RU" sz="1600" baseline="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 сопровождение проекта</a:t>
                      </a:r>
                      <a:endParaRPr lang="ru-RU" sz="1600" dirty="0" smtClean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5</a:t>
                      </a:r>
                      <a:r>
                        <a:rPr lang="ru-RU" sz="1600" baseline="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 тыс. руб.</a:t>
                      </a:r>
                      <a:endParaRPr lang="ru-RU" sz="16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10</a:t>
                      </a:r>
                      <a:r>
                        <a:rPr lang="ru-RU" sz="1600" baseline="0" dirty="0" smtClean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Century Gothic" panose="020B0502020202020204" pitchFamily="34" charset="0"/>
                        </a:rPr>
                        <a:t> тыс. руб.</a:t>
                      </a:r>
                      <a:endParaRPr lang="ru-RU" sz="1600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260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30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>
            <a:spLocks noGrp="1"/>
          </p:cNvSpPr>
          <p:nvPr>
            <p:ph type="title"/>
          </p:nvPr>
        </p:nvSpPr>
        <p:spPr>
          <a:xfrm>
            <a:off x="689189" y="246383"/>
            <a:ext cx="8543925" cy="52009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 algn="ctr">
              <a:spcBef>
                <a:spcPts val="1000"/>
              </a:spcBef>
              <a:buClr>
                <a:srgbClr val="002060"/>
              </a:buClr>
              <a:buSzPct val="25000"/>
            </a:pPr>
            <a:r>
              <a:rPr lang="ru-RU" sz="32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План </a:t>
            </a:r>
            <a:r>
              <a:rPr lang="ru-RU" sz="32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сбыта</a:t>
            </a:r>
            <a:endParaRPr lang="ru-RU" sz="3200" b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3" name="Shape 233"/>
          <p:cNvSpPr txBox="1"/>
          <p:nvPr/>
        </p:nvSpPr>
        <p:spPr>
          <a:xfrm>
            <a:off x="49552" y="5316750"/>
            <a:ext cx="9823200" cy="1325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226" y="0"/>
            <a:ext cx="1337118" cy="752129"/>
          </a:xfrm>
          <a:prstGeom prst="rect">
            <a:avLst/>
          </a:prstGeom>
        </p:spPr>
      </p:pic>
      <p:graphicFrame>
        <p:nvGraphicFramePr>
          <p:cNvPr id="7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0695244"/>
              </p:ext>
            </p:extLst>
          </p:nvPr>
        </p:nvGraphicFramePr>
        <p:xfrm>
          <a:off x="18992" y="3549375"/>
          <a:ext cx="9853760" cy="3308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Диаграмма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295343"/>
              </p:ext>
            </p:extLst>
          </p:nvPr>
        </p:nvGraphicFramePr>
        <p:xfrm>
          <a:off x="0" y="879222"/>
          <a:ext cx="9906000" cy="2655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60927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7A59A4-73DE-41E5-867C-C9890162ACF6}"/>
              </a:ext>
            </a:extLst>
          </p:cNvPr>
          <p:cNvSpPr txBox="1"/>
          <p:nvPr/>
        </p:nvSpPr>
        <p:spPr>
          <a:xfrm>
            <a:off x="2206263" y="1463509"/>
            <a:ext cx="558999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78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Century Gothic" panose="020B0502020202020204" pitchFamily="34" charset="0"/>
              </a:rPr>
              <a:t>Спасибо </a:t>
            </a:r>
          </a:p>
          <a:p>
            <a:pPr algn="ctr"/>
            <a:r>
              <a:rPr lang="ru-RU" sz="78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Century Gothic" panose="020B0502020202020204" pitchFamily="34" charset="0"/>
              </a:rPr>
              <a:t>за</a:t>
            </a:r>
          </a:p>
          <a:p>
            <a:pPr algn="ctr"/>
            <a:r>
              <a:rPr lang="ru-RU" sz="78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Century Gothic" panose="020B0502020202020204" pitchFamily="34" charset="0"/>
              </a:rPr>
              <a:t>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58679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762</Words>
  <Application>Microsoft Office PowerPoint</Application>
  <PresentationFormat>Лист A4 (210x297 мм)</PresentationFormat>
  <Paragraphs>185</Paragraphs>
  <Slides>21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Century Gothic</vt:lpstr>
      <vt:lpstr>Wingdings</vt:lpstr>
      <vt:lpstr>Тема Office</vt:lpstr>
      <vt:lpstr> Команда «Зозин Павел»  ПРОЕКТ  Автоматизированная информационная система  «HandsOn»  для облегчения процесса менеджмента волонтеров</vt:lpstr>
      <vt:lpstr>КОМАНДА</vt:lpstr>
      <vt:lpstr>АВТОМАТИЗАЦИЯ МЕНЕДЖМЕНТА РАБОТЫ ВОЛОНТЕРОВ</vt:lpstr>
      <vt:lpstr>РЫНОК И КЛЮЧЕВЫЕ ИГРОКИ</vt:lpstr>
      <vt:lpstr>Волонтёры Победы</vt:lpstr>
      <vt:lpstr>Презентация PowerPoint</vt:lpstr>
      <vt:lpstr>DOBRO.RU</vt:lpstr>
      <vt:lpstr>Презентация PowerPoint</vt:lpstr>
      <vt:lpstr> Volonter.ru </vt:lpstr>
      <vt:lpstr>Презентация PowerPoint</vt:lpstr>
      <vt:lpstr>ИДЕЯ</vt:lpstr>
      <vt:lpstr>ЦЕЛИ</vt:lpstr>
      <vt:lpstr>ПРОДУКТОВАЯ КОНКУРЕНЦИЯ</vt:lpstr>
      <vt:lpstr>ДОРОЖНАЯ КАРТА</vt:lpstr>
      <vt:lpstr>КЛЮЧЕВЫЕ РИСКИ </vt:lpstr>
      <vt:lpstr>ИНТЕЛЛЕКТУАЛЬНАЯ СОБСТВЕННОСТЬ</vt:lpstr>
      <vt:lpstr>Трудоёмкость разработки ПП</vt:lpstr>
      <vt:lpstr>Затраты на создание ПП</vt:lpstr>
      <vt:lpstr>Себестоимость и стоимость услуг</vt:lpstr>
      <vt:lpstr>План сбыта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ИННОВАЦИОННАЯ ЭКОНОМИКА И ТЕХНОЛОГИЧЕСКОЕ ПРЕДПРИНИМАТЕЛЬСТВО</dc:title>
  <dc:creator>Gennadii</dc:creator>
  <cp:lastModifiedBy>Павел</cp:lastModifiedBy>
  <cp:revision>115</cp:revision>
  <dcterms:modified xsi:type="dcterms:W3CDTF">2024-12-08T18:05:40Z</dcterms:modified>
</cp:coreProperties>
</file>