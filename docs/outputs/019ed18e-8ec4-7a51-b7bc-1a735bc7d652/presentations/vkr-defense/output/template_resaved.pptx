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C23A000-300F-4321-BD49-D472AD37DB6F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80EE18-6841-44B7-98B3-4321BA39AF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D9FE1E-E85B-4195-B4E8-C1D1D84C93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14A625-951D-4C96-B60A-EC53579068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33ED59-8629-46C3-AD35-DC262830315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B1084A-B51C-433C-8518-40D78FA7A56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52CAB3-D243-4BCB-A5DF-63320D3763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ECD19D-A3A5-4E2F-B5EF-6B1A4C916B3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E02FCF-D13D-4F83-B132-897658FD0EF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48CF32-AC94-409A-9DDC-E0C3F9D0C53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3DD7CC-A80C-4608-A608-35178B5FA5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C40CFD-615F-4F8B-8E4F-8DFA527060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GB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1947600" y="320040"/>
            <a:ext cx="9966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323c8d"/>
                </a:solidFill>
                <a:latin typeface="Century Gothic"/>
                <a:ea typeface="Century Gothic"/>
              </a:rPr>
              <a:t>Министерство науки и высшего образования Российской Федерации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323c8d"/>
                </a:solidFill>
                <a:latin typeface="Century Gothic"/>
                <a:ea typeface="Century Gothic"/>
              </a:rPr>
              <a:t>ФГБОУ ВО «Магнитогорский государственный технический университет им. Г.И. Носова»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323c8d"/>
                </a:solidFill>
                <a:latin typeface="Century Gothic"/>
                <a:ea typeface="Century Gothic"/>
              </a:rPr>
              <a:t>Институт энергетики и автоматизированных систем · Кафедра ВТиП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792080" y="2468880"/>
            <a:ext cx="100580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323c8d"/>
                </a:solidFill>
                <a:latin typeface="Century Gothic"/>
                <a:ea typeface="Century Gothic"/>
              </a:rPr>
              <a:t>РАЗРАБОТКА ВЕБ-СЕРВИСА ДЛЯ РЕДАКТИРОВАНИЯ ИЗОБРАЖЕНИЙ С ИСПОЛЬЗОВАНИЕМ ТЕХНОЛОГИЙ ИСКУССТВЕННОГО ИНТЕЛЛЕКТА</a:t>
            </a:r>
            <a:endParaRPr b="0" lang="en-GB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3218760" y="5650920"/>
            <a:ext cx="8595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1e2430"/>
                </a:solidFill>
                <a:latin typeface="Century Gothic"/>
                <a:ea typeface="Century Gothic"/>
              </a:rPr>
              <a:t>Выполнил: обучающийся Поляков С.А.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430"/>
                </a:solidFill>
                <a:latin typeface="Century Gothic"/>
                <a:ea typeface="Century Gothic"/>
              </a:rPr>
              <a:t>Направление 09.03.01 — Информатика и вычислительная техника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430"/>
                </a:solidFill>
                <a:latin typeface="Century Gothic"/>
                <a:ea typeface="Century Gothic"/>
              </a:rPr>
              <a:t>Руководитель: зав. кафедрой ВТиП, д.т.н., профессор Логунова О.С.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0058400" y="651060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323c8d"/>
                </a:solidFill>
                <a:latin typeface="Century Gothic"/>
                <a:ea typeface="Century Gothic"/>
              </a:rPr>
              <a:t>Магнитогорск, 2026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3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Цель и задачи работы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1"/>
          <p:cNvSpPr/>
          <p:nvPr/>
        </p:nvSpPr>
        <p:spPr>
          <a:xfrm>
            <a:off x="640080" y="1234440"/>
            <a:ext cx="10908360" cy="1371240"/>
          </a:xfrm>
          <a:prstGeom prst="roundRect">
            <a:avLst>
              <a:gd name="adj" fmla="val 5333"/>
            </a:avLst>
          </a:prstGeom>
          <a:solidFill>
            <a:srgbClr val="323c8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914400" y="137160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c0392b"/>
                </a:solidFill>
                <a:latin typeface="Arial"/>
                <a:ea typeface="Arial"/>
              </a:rPr>
              <a:t>ЦЕЛЬ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914400" y="1737360"/>
            <a:ext cx="1033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Проектирование и разработка веб-сервиса AI Image Editor — доступной платформы для редактирования изображений средствами искусственного интеллекта без специальных знаний в области машинного обучения.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4"/>
          <p:cNvSpPr/>
          <p:nvPr/>
        </p:nvSpPr>
        <p:spPr>
          <a:xfrm>
            <a:off x="640080" y="28346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323c8d"/>
                </a:solidFill>
                <a:latin typeface="Arial"/>
                <a:ea typeface="Arial"/>
              </a:rPr>
              <a:t>ЗАДАЧИ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5"/>
          <p:cNvSpPr/>
          <p:nvPr/>
        </p:nvSpPr>
        <p:spPr>
          <a:xfrm>
            <a:off x="640080" y="3246120"/>
            <a:ext cx="5348880" cy="8683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6"/>
          <p:cNvSpPr/>
          <p:nvPr/>
        </p:nvSpPr>
        <p:spPr>
          <a:xfrm>
            <a:off x="804600" y="3452040"/>
            <a:ext cx="456840" cy="456840"/>
          </a:xfrm>
          <a:prstGeom prst="ellipse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7"/>
          <p:cNvSpPr/>
          <p:nvPr/>
        </p:nvSpPr>
        <p:spPr>
          <a:xfrm>
            <a:off x="804600" y="3452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GB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8"/>
          <p:cNvSpPr/>
          <p:nvPr/>
        </p:nvSpPr>
        <p:spPr>
          <a:xfrm>
            <a:off x="1417320" y="3246120"/>
            <a:ext cx="4434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Проанализировать существующие решения AI-редактирования и выявить их недостатки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9"/>
          <p:cNvSpPr/>
          <p:nvPr/>
        </p:nvSpPr>
        <p:spPr>
          <a:xfrm>
            <a:off x="6199560" y="3246120"/>
            <a:ext cx="5348880" cy="8683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10"/>
          <p:cNvSpPr/>
          <p:nvPr/>
        </p:nvSpPr>
        <p:spPr>
          <a:xfrm>
            <a:off x="6364080" y="3452040"/>
            <a:ext cx="456840" cy="456840"/>
          </a:xfrm>
          <a:prstGeom prst="ellipse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6364080" y="3452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GB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6976800" y="3246120"/>
            <a:ext cx="4434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Спроектировать архитектуру, базу данных и REST API веб-сервиса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3"/>
          <p:cNvSpPr/>
          <p:nvPr/>
        </p:nvSpPr>
        <p:spPr>
          <a:xfrm>
            <a:off x="640080" y="4297680"/>
            <a:ext cx="5348880" cy="8683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4"/>
          <p:cNvSpPr/>
          <p:nvPr/>
        </p:nvSpPr>
        <p:spPr>
          <a:xfrm>
            <a:off x="804600" y="4503600"/>
            <a:ext cx="456840" cy="456840"/>
          </a:xfrm>
          <a:prstGeom prst="ellipse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5"/>
          <p:cNvSpPr/>
          <p:nvPr/>
        </p:nvSpPr>
        <p:spPr>
          <a:xfrm>
            <a:off x="804600" y="4503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GB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6"/>
          <p:cNvSpPr/>
          <p:nvPr/>
        </p:nvSpPr>
        <p:spPr>
          <a:xfrm>
            <a:off x="1417320" y="4297680"/>
            <a:ext cx="4434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Разработать алгоритмы асинхронной обработки изображений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7"/>
          <p:cNvSpPr/>
          <p:nvPr/>
        </p:nvSpPr>
        <p:spPr>
          <a:xfrm>
            <a:off x="6199560" y="4297680"/>
            <a:ext cx="5348880" cy="8683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8"/>
          <p:cNvSpPr/>
          <p:nvPr/>
        </p:nvSpPr>
        <p:spPr>
          <a:xfrm>
            <a:off x="6364080" y="4503600"/>
            <a:ext cx="456840" cy="456840"/>
          </a:xfrm>
          <a:prstGeom prst="ellipse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9"/>
          <p:cNvSpPr/>
          <p:nvPr/>
        </p:nvSpPr>
        <p:spPr>
          <a:xfrm>
            <a:off x="6364080" y="4503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GB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20"/>
          <p:cNvSpPr/>
          <p:nvPr/>
        </p:nvSpPr>
        <p:spPr>
          <a:xfrm>
            <a:off x="6976800" y="4297680"/>
            <a:ext cx="4434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Реализовать серверную и клиентскую части с интеграцией ComfyUI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21"/>
          <p:cNvSpPr/>
          <p:nvPr/>
        </p:nvSpPr>
        <p:spPr>
          <a:xfrm>
            <a:off x="640080" y="5349240"/>
            <a:ext cx="5348880" cy="8683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22"/>
          <p:cNvSpPr/>
          <p:nvPr/>
        </p:nvSpPr>
        <p:spPr>
          <a:xfrm>
            <a:off x="804600" y="5555160"/>
            <a:ext cx="456840" cy="456840"/>
          </a:xfrm>
          <a:prstGeom prst="ellipse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23"/>
          <p:cNvSpPr/>
          <p:nvPr/>
        </p:nvSpPr>
        <p:spPr>
          <a:xfrm>
            <a:off x="804600" y="55551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n-GB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4"/>
          <p:cNvSpPr/>
          <p:nvPr/>
        </p:nvSpPr>
        <p:spPr>
          <a:xfrm>
            <a:off x="1417320" y="5349240"/>
            <a:ext cx="4434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Провести функциональное и нагрузочное тестирование системы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25"/>
          <p:cNvSpPr/>
          <p:nvPr/>
        </p:nvSpPr>
        <p:spPr>
          <a:xfrm>
            <a:off x="6199560" y="5349240"/>
            <a:ext cx="5348880" cy="8683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26"/>
          <p:cNvSpPr/>
          <p:nvPr/>
        </p:nvSpPr>
        <p:spPr>
          <a:xfrm>
            <a:off x="6364080" y="5555160"/>
            <a:ext cx="456840" cy="456840"/>
          </a:xfrm>
          <a:prstGeom prst="ellipse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27"/>
          <p:cNvSpPr/>
          <p:nvPr/>
        </p:nvSpPr>
        <p:spPr>
          <a:xfrm>
            <a:off x="6364080" y="55551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b="0" lang="en-GB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28"/>
          <p:cNvSpPr/>
          <p:nvPr/>
        </p:nvSpPr>
        <p:spPr>
          <a:xfrm>
            <a:off x="6976800" y="5349240"/>
            <a:ext cx="4434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Выполнить юзабилити-исследование и сформулировать улучшения интерфейса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29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30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23c8d"/>
                </a:solidFill>
                <a:latin typeface="Calibri"/>
                <a:ea typeface="Calibri"/>
              </a:rPr>
              <a:t>2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45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Анализ существующих решений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640080" y="1280160"/>
            <a:ext cx="2669760" cy="416016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2"/>
          <p:cNvSpPr/>
          <p:nvPr/>
        </p:nvSpPr>
        <p:spPr>
          <a:xfrm>
            <a:off x="1472040" y="1554480"/>
            <a:ext cx="1005480" cy="1005480"/>
          </a:xfrm>
          <a:prstGeom prst="roundRect">
            <a:avLst>
              <a:gd name="adj" fmla="val 10909"/>
            </a:avLst>
          </a:prstGeom>
          <a:solidFill>
            <a:srgbClr val="001e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1472040" y="155448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31a8ff"/>
                </a:solidFill>
                <a:latin typeface="Arial"/>
                <a:ea typeface="Arial"/>
              </a:rPr>
              <a:t>Ps</a:t>
            </a:r>
            <a:endParaRPr b="0" lang="en-GB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777240" y="2697480"/>
            <a:ext cx="239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23c8d"/>
                </a:solidFill>
                <a:latin typeface="Arial"/>
                <a:ea typeface="Arial"/>
              </a:rPr>
              <a:t>Adobe Photoshop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23c8d"/>
                </a:solidFill>
                <a:latin typeface="Arial"/>
                <a:ea typeface="Arial"/>
              </a:rPr>
              <a:t>+ Firefly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1005840" y="3429000"/>
            <a:ext cx="1938240" cy="360"/>
          </a:xfrm>
          <a:prstGeom prst="line">
            <a:avLst/>
          </a:prstGeom>
          <a:ln w="12700">
            <a:solidFill>
              <a:srgbClr val="eae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822960" y="3520440"/>
            <a:ext cx="230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c0392b"/>
                </a:solidFill>
                <a:latin typeface="Arial"/>
                <a:ea typeface="Arial"/>
              </a:rPr>
              <a:t>НЕДОСТАТКИ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822960" y="3822120"/>
            <a:ext cx="2304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a6473"/>
                </a:solidFill>
                <a:latin typeface="Arial"/>
                <a:ea typeface="Arial"/>
              </a:rPr>
              <a:t>Высокая стоимость лицензии, настольное приложение, требует опыта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8"/>
          <p:cNvSpPr/>
          <p:nvPr/>
        </p:nvSpPr>
        <p:spPr>
          <a:xfrm>
            <a:off x="3456360" y="1280160"/>
            <a:ext cx="2669760" cy="416016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9"/>
          <p:cNvSpPr/>
          <p:nvPr/>
        </p:nvSpPr>
        <p:spPr>
          <a:xfrm>
            <a:off x="4288680" y="1554480"/>
            <a:ext cx="1005480" cy="1005480"/>
          </a:xfrm>
          <a:prstGeom prst="roundRect">
            <a:avLst>
              <a:gd name="adj" fmla="val 10909"/>
            </a:avLst>
          </a:prstGeom>
          <a:solidFill>
            <a:srgbClr val="7d2a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0"/>
          <p:cNvSpPr/>
          <p:nvPr/>
        </p:nvSpPr>
        <p:spPr>
          <a:xfrm>
            <a:off x="4288680" y="155448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Arial"/>
                <a:ea typeface="Arial"/>
              </a:rPr>
              <a:t>C</a:t>
            </a:r>
            <a:endParaRPr b="0" lang="en-GB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1"/>
          <p:cNvSpPr/>
          <p:nvPr/>
        </p:nvSpPr>
        <p:spPr>
          <a:xfrm>
            <a:off x="3593520" y="2697480"/>
            <a:ext cx="239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23c8d"/>
                </a:solidFill>
                <a:latin typeface="Arial"/>
                <a:ea typeface="Arial"/>
              </a:rPr>
              <a:t>Canva AI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2"/>
          <p:cNvSpPr/>
          <p:nvPr/>
        </p:nvSpPr>
        <p:spPr>
          <a:xfrm>
            <a:off x="3822120" y="3429000"/>
            <a:ext cx="1938600" cy="360"/>
          </a:xfrm>
          <a:prstGeom prst="line">
            <a:avLst/>
          </a:prstGeom>
          <a:ln w="12700">
            <a:solidFill>
              <a:srgbClr val="eae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3"/>
          <p:cNvSpPr/>
          <p:nvPr/>
        </p:nvSpPr>
        <p:spPr>
          <a:xfrm>
            <a:off x="3639240" y="3520440"/>
            <a:ext cx="230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c0392b"/>
                </a:solidFill>
                <a:latin typeface="Arial"/>
                <a:ea typeface="Arial"/>
              </a:rPr>
              <a:t>НЕДОСТАТКИ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4"/>
          <p:cNvSpPr/>
          <p:nvPr/>
        </p:nvSpPr>
        <p:spPr>
          <a:xfrm>
            <a:off x="3639240" y="3822120"/>
            <a:ext cx="2304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a6473"/>
                </a:solidFill>
                <a:latin typeface="Arial"/>
                <a:ea typeface="Arial"/>
              </a:rPr>
              <a:t>Ограниченный набор функций, нет тонкой настройки и своих воркфлоу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15"/>
          <p:cNvSpPr/>
          <p:nvPr/>
        </p:nvSpPr>
        <p:spPr>
          <a:xfrm>
            <a:off x="6272640" y="1280160"/>
            <a:ext cx="2669760" cy="416016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6"/>
          <p:cNvSpPr/>
          <p:nvPr/>
        </p:nvSpPr>
        <p:spPr>
          <a:xfrm>
            <a:off x="7104960" y="1554480"/>
            <a:ext cx="1005480" cy="1005480"/>
          </a:xfrm>
          <a:prstGeom prst="roundRect">
            <a:avLst>
              <a:gd name="adj" fmla="val 10909"/>
            </a:avLst>
          </a:prstGeom>
          <a:solidFill>
            <a:srgbClr val="2222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7"/>
          <p:cNvSpPr/>
          <p:nvPr/>
        </p:nvSpPr>
        <p:spPr>
          <a:xfrm>
            <a:off x="7104960" y="155448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Arial"/>
                <a:ea typeface="Arial"/>
              </a:rPr>
              <a:t>A1</a:t>
            </a:r>
            <a:endParaRPr b="0" lang="en-GB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8"/>
          <p:cNvSpPr/>
          <p:nvPr/>
        </p:nvSpPr>
        <p:spPr>
          <a:xfrm>
            <a:off x="6409800" y="2697480"/>
            <a:ext cx="239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23c8d"/>
                </a:solidFill>
                <a:latin typeface="Arial"/>
                <a:ea typeface="Arial"/>
              </a:rPr>
              <a:t>AUTOMATIC1111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23c8d"/>
                </a:solidFill>
                <a:latin typeface="Arial"/>
                <a:ea typeface="Arial"/>
              </a:rPr>
              <a:t>Stable Diffusion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9"/>
          <p:cNvSpPr/>
          <p:nvPr/>
        </p:nvSpPr>
        <p:spPr>
          <a:xfrm>
            <a:off x="6638400" y="3429000"/>
            <a:ext cx="1938600" cy="360"/>
          </a:xfrm>
          <a:prstGeom prst="line">
            <a:avLst/>
          </a:prstGeom>
          <a:ln w="12700">
            <a:solidFill>
              <a:srgbClr val="eae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20"/>
          <p:cNvSpPr/>
          <p:nvPr/>
        </p:nvSpPr>
        <p:spPr>
          <a:xfrm>
            <a:off x="6455520" y="3520440"/>
            <a:ext cx="230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c0392b"/>
                </a:solidFill>
                <a:latin typeface="Arial"/>
                <a:ea typeface="Arial"/>
              </a:rPr>
              <a:t>НЕДОСТАТКИ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21"/>
          <p:cNvSpPr/>
          <p:nvPr/>
        </p:nvSpPr>
        <p:spPr>
          <a:xfrm>
            <a:off x="6455520" y="3822120"/>
            <a:ext cx="2304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a6473"/>
                </a:solidFill>
                <a:latin typeface="Arial"/>
                <a:ea typeface="Arial"/>
              </a:rPr>
              <a:t>Сложный интерфейс для технических специалистов, нет пресетов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22"/>
          <p:cNvSpPr/>
          <p:nvPr/>
        </p:nvSpPr>
        <p:spPr>
          <a:xfrm>
            <a:off x="9089280" y="1280160"/>
            <a:ext cx="2669760" cy="416016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23"/>
          <p:cNvSpPr/>
          <p:nvPr/>
        </p:nvSpPr>
        <p:spPr>
          <a:xfrm>
            <a:off x="9921240" y="1554480"/>
            <a:ext cx="1005480" cy="100548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24"/>
          <p:cNvSpPr/>
          <p:nvPr/>
        </p:nvSpPr>
        <p:spPr>
          <a:xfrm>
            <a:off x="9921240" y="155448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Arial"/>
                <a:ea typeface="Arial"/>
              </a:rPr>
              <a:t>R</a:t>
            </a:r>
            <a:endParaRPr b="0" lang="en-GB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25"/>
          <p:cNvSpPr/>
          <p:nvPr/>
        </p:nvSpPr>
        <p:spPr>
          <a:xfrm>
            <a:off x="9226440" y="2697480"/>
            <a:ext cx="239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23c8d"/>
                </a:solidFill>
                <a:latin typeface="Arial"/>
                <a:ea typeface="Arial"/>
              </a:rPr>
              <a:t>RunwayML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26"/>
          <p:cNvSpPr/>
          <p:nvPr/>
        </p:nvSpPr>
        <p:spPr>
          <a:xfrm>
            <a:off x="9454680" y="3429000"/>
            <a:ext cx="1938600" cy="360"/>
          </a:xfrm>
          <a:prstGeom prst="line">
            <a:avLst/>
          </a:prstGeom>
          <a:ln w="12700">
            <a:solidFill>
              <a:srgbClr val="eae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7"/>
          <p:cNvSpPr/>
          <p:nvPr/>
        </p:nvSpPr>
        <p:spPr>
          <a:xfrm>
            <a:off x="9272160" y="3520440"/>
            <a:ext cx="230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c0392b"/>
                </a:solidFill>
                <a:latin typeface="Arial"/>
                <a:ea typeface="Arial"/>
              </a:rPr>
              <a:t>НЕДОСТАТКИ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28"/>
          <p:cNvSpPr/>
          <p:nvPr/>
        </p:nvSpPr>
        <p:spPr>
          <a:xfrm>
            <a:off x="9272160" y="3822120"/>
            <a:ext cx="2304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a6473"/>
                </a:solidFill>
                <a:latin typeface="Arial"/>
                <a:ea typeface="Arial"/>
              </a:rPr>
              <a:t>Высокая цена, узкий бесплатный тариф, нельзя интегрировать свои модели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9"/>
          <p:cNvSpPr/>
          <p:nvPr/>
        </p:nvSpPr>
        <p:spPr>
          <a:xfrm>
            <a:off x="640080" y="5623560"/>
            <a:ext cx="10908360" cy="712800"/>
          </a:xfrm>
          <a:prstGeom prst="roundRect">
            <a:avLst>
              <a:gd name="adj" fmla="val 7692"/>
            </a:avLst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30"/>
          <p:cNvSpPr/>
          <p:nvPr/>
        </p:nvSpPr>
        <p:spPr>
          <a:xfrm>
            <a:off x="914400" y="5623560"/>
            <a:ext cx="10332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0392b"/>
                </a:solidFill>
                <a:latin typeface="Arial"/>
                <a:ea typeface="Arial"/>
              </a:rPr>
              <a:t>Вывод:  </a:t>
            </a:r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ни одно решение не сочетает доступную цену, низкий порог входа, специализацию под прикладные ниши и расширяемость своими AI-воркфлоу.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31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32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23c8d"/>
                </a:solidFill>
                <a:latin typeface="Calibri"/>
                <a:ea typeface="Calibri"/>
              </a:rPr>
              <a:t>3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79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Технологический стек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"/>
          <p:cNvSpPr/>
          <p:nvPr/>
        </p:nvSpPr>
        <p:spPr>
          <a:xfrm>
            <a:off x="640080" y="1325880"/>
            <a:ext cx="3520080" cy="47088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640080" y="1325880"/>
            <a:ext cx="3520080" cy="658080"/>
          </a:xfrm>
          <a:prstGeom prst="roundRect">
            <a:avLst>
              <a:gd name="adj" fmla="val 9722"/>
            </a:avLst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640080" y="1654920"/>
            <a:ext cx="3520080" cy="328680"/>
          </a:xfrm>
          <a:prstGeom prst="rect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640080" y="1325880"/>
            <a:ext cx="3520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Frontend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Image 1" descr="logos/react.png"/>
          <p:cNvPicPr/>
          <p:nvPr/>
        </p:nvPicPr>
        <p:blipFill>
          <a:blip r:embed="rId2"/>
          <a:stretch/>
        </p:blipFill>
        <p:spPr>
          <a:xfrm>
            <a:off x="932760" y="22676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85" name="Text 5"/>
          <p:cNvSpPr/>
          <p:nvPr/>
        </p:nvSpPr>
        <p:spPr>
          <a:xfrm>
            <a:off x="1408320" y="219456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React 19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Image 2" descr="logos/typescript.png"/>
          <p:cNvPicPr/>
          <p:nvPr/>
        </p:nvPicPr>
        <p:blipFill>
          <a:blip r:embed="rId3"/>
          <a:stretch/>
        </p:blipFill>
        <p:spPr>
          <a:xfrm>
            <a:off x="932760" y="27979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87" name="Text 6"/>
          <p:cNvSpPr/>
          <p:nvPr/>
        </p:nvSpPr>
        <p:spPr>
          <a:xfrm>
            <a:off x="1408320" y="272484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TypeScript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Image 3" descr="logos/tailwindcss.png"/>
          <p:cNvPicPr/>
          <p:nvPr/>
        </p:nvPicPr>
        <p:blipFill>
          <a:blip r:embed="rId4"/>
          <a:stretch/>
        </p:blipFill>
        <p:spPr>
          <a:xfrm>
            <a:off x="932760" y="3328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89" name="Text 7"/>
          <p:cNvSpPr/>
          <p:nvPr/>
        </p:nvSpPr>
        <p:spPr>
          <a:xfrm>
            <a:off x="1408320" y="325512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Tailwind CSS + shadcn/ui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Image 4" descr="logos/vite.png"/>
          <p:cNvPicPr/>
          <p:nvPr/>
        </p:nvPicPr>
        <p:blipFill>
          <a:blip r:embed="rId5"/>
          <a:stretch/>
        </p:blipFill>
        <p:spPr>
          <a:xfrm>
            <a:off x="932760" y="38588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91" name="Text 8"/>
          <p:cNvSpPr/>
          <p:nvPr/>
        </p:nvSpPr>
        <p:spPr>
          <a:xfrm>
            <a:off x="1408320" y="378576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Vite — сборка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1408320" y="431604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Image 6" descr="logos/reactquery.png"/>
          <p:cNvPicPr/>
          <p:nvPr/>
        </p:nvPicPr>
        <p:blipFill>
          <a:blip r:embed="rId6"/>
          <a:stretch/>
        </p:blipFill>
        <p:spPr>
          <a:xfrm>
            <a:off x="949320" y="450000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94" name="Text 10"/>
          <p:cNvSpPr/>
          <p:nvPr/>
        </p:nvSpPr>
        <p:spPr>
          <a:xfrm>
            <a:off x="1440000" y="4500000"/>
            <a:ext cx="23400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React Query — polling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Image 7" descr="logos/framer.png"/>
          <p:cNvPicPr/>
          <p:nvPr/>
        </p:nvPicPr>
        <p:blipFill>
          <a:blip r:embed="rId7"/>
          <a:stretch/>
        </p:blipFill>
        <p:spPr>
          <a:xfrm>
            <a:off x="932760" y="52693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96" name="Text 11"/>
          <p:cNvSpPr/>
          <p:nvPr/>
        </p:nvSpPr>
        <p:spPr>
          <a:xfrm>
            <a:off x="1440000" y="5220000"/>
            <a:ext cx="25200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Framer Motion — анимации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2"/>
          <p:cNvSpPr/>
          <p:nvPr/>
        </p:nvSpPr>
        <p:spPr>
          <a:xfrm>
            <a:off x="4334400" y="1325880"/>
            <a:ext cx="3520080" cy="47088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3"/>
          <p:cNvSpPr/>
          <p:nvPr/>
        </p:nvSpPr>
        <p:spPr>
          <a:xfrm>
            <a:off x="4334400" y="1325880"/>
            <a:ext cx="3520080" cy="658080"/>
          </a:xfrm>
          <a:prstGeom prst="roundRect">
            <a:avLst>
              <a:gd name="adj" fmla="val 9722"/>
            </a:avLst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14"/>
          <p:cNvSpPr/>
          <p:nvPr/>
        </p:nvSpPr>
        <p:spPr>
          <a:xfrm>
            <a:off x="4334400" y="1654920"/>
            <a:ext cx="3520080" cy="328680"/>
          </a:xfrm>
          <a:prstGeom prst="rect">
            <a:avLst/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15"/>
          <p:cNvSpPr/>
          <p:nvPr/>
        </p:nvSpPr>
        <p:spPr>
          <a:xfrm>
            <a:off x="4334400" y="1325880"/>
            <a:ext cx="3520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Backend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Image 8" descr="logos/fastapi.png"/>
          <p:cNvPicPr/>
          <p:nvPr/>
        </p:nvPicPr>
        <p:blipFill>
          <a:blip r:embed="rId8"/>
          <a:stretch/>
        </p:blipFill>
        <p:spPr>
          <a:xfrm>
            <a:off x="4626720" y="22676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02" name="Text 16"/>
          <p:cNvSpPr/>
          <p:nvPr/>
        </p:nvSpPr>
        <p:spPr>
          <a:xfrm>
            <a:off x="5102280" y="219456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FastAPI (Python, ASGI)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Image 9" descr="logos/sqlalchemy.png"/>
          <p:cNvPicPr/>
          <p:nvPr/>
        </p:nvPicPr>
        <p:blipFill>
          <a:blip r:embed="rId9"/>
          <a:stretch/>
        </p:blipFill>
        <p:spPr>
          <a:xfrm>
            <a:off x="4626720" y="27979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04" name="Text 17"/>
          <p:cNvSpPr/>
          <p:nvPr/>
        </p:nvSpPr>
        <p:spPr>
          <a:xfrm>
            <a:off x="5102280" y="272484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SQLAlchemy + Alembic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Image 10" descr="logos/celery.png"/>
          <p:cNvPicPr/>
          <p:nvPr/>
        </p:nvPicPr>
        <p:blipFill>
          <a:blip r:embed="rId10"/>
          <a:stretch/>
        </p:blipFill>
        <p:spPr>
          <a:xfrm>
            <a:off x="4626720" y="3328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06" name="Text 18"/>
          <p:cNvSpPr/>
          <p:nvPr/>
        </p:nvSpPr>
        <p:spPr>
          <a:xfrm>
            <a:off x="5102280" y="325512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Celery — очередь задач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" name="Image 11" descr="logos/redis.png"/>
          <p:cNvPicPr/>
          <p:nvPr/>
        </p:nvPicPr>
        <p:blipFill>
          <a:blip r:embed="rId11"/>
          <a:stretch/>
        </p:blipFill>
        <p:spPr>
          <a:xfrm>
            <a:off x="4626720" y="38588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08" name="Text 19"/>
          <p:cNvSpPr/>
          <p:nvPr/>
        </p:nvSpPr>
        <p:spPr>
          <a:xfrm>
            <a:off x="5102280" y="378576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Redis — брокер и кэш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Image 12" descr="logos/pydantic.png"/>
          <p:cNvPicPr/>
          <p:nvPr/>
        </p:nvPicPr>
        <p:blipFill>
          <a:blip r:embed="rId12"/>
          <a:stretch/>
        </p:blipFill>
        <p:spPr>
          <a:xfrm>
            <a:off x="4626720" y="43891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10" name="Text 20"/>
          <p:cNvSpPr/>
          <p:nvPr/>
        </p:nvSpPr>
        <p:spPr>
          <a:xfrm>
            <a:off x="5102280" y="431604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Pydantic — валидация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Image 13" descr="logos/jsonwebtokens.png"/>
          <p:cNvPicPr/>
          <p:nvPr/>
        </p:nvPicPr>
        <p:blipFill>
          <a:blip r:embed="rId13"/>
          <a:stretch/>
        </p:blipFill>
        <p:spPr>
          <a:xfrm>
            <a:off x="4626720" y="491940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12" name="Text 21"/>
          <p:cNvSpPr/>
          <p:nvPr/>
        </p:nvSpPr>
        <p:spPr>
          <a:xfrm>
            <a:off x="5102280" y="484632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JWT + bcrypt — авторизация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22"/>
          <p:cNvSpPr/>
          <p:nvPr/>
        </p:nvSpPr>
        <p:spPr>
          <a:xfrm>
            <a:off x="8028360" y="1325880"/>
            <a:ext cx="3520080" cy="47088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23"/>
          <p:cNvSpPr/>
          <p:nvPr/>
        </p:nvSpPr>
        <p:spPr>
          <a:xfrm>
            <a:off x="8028360" y="1325880"/>
            <a:ext cx="3520080" cy="658080"/>
          </a:xfrm>
          <a:prstGeom prst="roundRect">
            <a:avLst>
              <a:gd name="adj" fmla="val 9722"/>
            </a:avLst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24"/>
          <p:cNvSpPr/>
          <p:nvPr/>
        </p:nvSpPr>
        <p:spPr>
          <a:xfrm>
            <a:off x="8028360" y="1654920"/>
            <a:ext cx="3520080" cy="32868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25"/>
          <p:cNvSpPr/>
          <p:nvPr/>
        </p:nvSpPr>
        <p:spPr>
          <a:xfrm>
            <a:off x="8028360" y="1325880"/>
            <a:ext cx="3520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AI / Данные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Image 14" descr="logos/comfyui.png"/>
          <p:cNvPicPr/>
          <p:nvPr/>
        </p:nvPicPr>
        <p:blipFill>
          <a:blip r:embed="rId14"/>
          <a:stretch/>
        </p:blipFill>
        <p:spPr>
          <a:xfrm>
            <a:off x="8321040" y="22676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18" name="Text 26"/>
          <p:cNvSpPr/>
          <p:nvPr/>
        </p:nvSpPr>
        <p:spPr>
          <a:xfrm>
            <a:off x="8796600" y="219456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ComfyUI — движок AI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Image 15" descr="logos/flux.png"/>
          <p:cNvPicPr/>
          <p:nvPr/>
        </p:nvPicPr>
        <p:blipFill>
          <a:blip r:embed="rId15"/>
          <a:stretch/>
        </p:blipFill>
        <p:spPr>
          <a:xfrm>
            <a:off x="8321040" y="27979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20" name="Text 27"/>
          <p:cNvSpPr/>
          <p:nvPr/>
        </p:nvSpPr>
        <p:spPr>
          <a:xfrm>
            <a:off x="8796600" y="272484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Flux Kontext Dev (fp8)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Image 16" descr="logos/postgresql.png"/>
          <p:cNvPicPr/>
          <p:nvPr/>
        </p:nvPicPr>
        <p:blipFill>
          <a:blip r:embed="rId16"/>
          <a:stretch/>
        </p:blipFill>
        <p:spPr>
          <a:xfrm>
            <a:off x="8321040" y="3328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22" name="Text 28"/>
          <p:cNvSpPr/>
          <p:nvPr/>
        </p:nvSpPr>
        <p:spPr>
          <a:xfrm>
            <a:off x="8796600" y="325512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PostgreSQL 16 (JSONB)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Image 17" descr="logos/minio.png"/>
          <p:cNvPicPr/>
          <p:nvPr/>
        </p:nvPicPr>
        <p:blipFill>
          <a:blip r:embed="rId17"/>
          <a:stretch/>
        </p:blipFill>
        <p:spPr>
          <a:xfrm>
            <a:off x="8321040" y="38588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24" name="Text 29"/>
          <p:cNvSpPr/>
          <p:nvPr/>
        </p:nvSpPr>
        <p:spPr>
          <a:xfrm>
            <a:off x="8796600" y="378576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MinIO — S3-хранилище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Image 18" descr="logos/docker.png"/>
          <p:cNvPicPr/>
          <p:nvPr/>
        </p:nvPicPr>
        <p:blipFill>
          <a:blip r:embed="rId18"/>
          <a:stretch/>
        </p:blipFill>
        <p:spPr>
          <a:xfrm>
            <a:off x="8321040" y="43891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26" name="Text 30"/>
          <p:cNvSpPr/>
          <p:nvPr/>
        </p:nvSpPr>
        <p:spPr>
          <a:xfrm>
            <a:off x="8796600" y="431604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Docker — контейнеризация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Image 19" descr="logos/nvidia.png"/>
          <p:cNvPicPr/>
          <p:nvPr/>
        </p:nvPicPr>
        <p:blipFill>
          <a:blip r:embed="rId19"/>
          <a:stretch/>
        </p:blipFill>
        <p:spPr>
          <a:xfrm>
            <a:off x="8321040" y="491940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28" name="Text 31"/>
          <p:cNvSpPr/>
          <p:nvPr/>
        </p:nvSpPr>
        <p:spPr>
          <a:xfrm>
            <a:off x="8796600" y="484632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NVIDIA CUDA 12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32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33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23c8d"/>
                </a:solidFill>
                <a:latin typeface="Calibri"/>
                <a:ea typeface="Calibri"/>
              </a:rPr>
              <a:t>4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32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Архитектура веб-сервиса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640080" y="1051560"/>
            <a:ext cx="1088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a6473"/>
                </a:solidFill>
                <a:latin typeface="Arial"/>
                <a:ea typeface="Arial"/>
              </a:rPr>
              <a:t>Трёхуровневая клиент-серверная архитектура с асинхронной обработкой задач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2"/>
          <p:cNvSpPr/>
          <p:nvPr/>
        </p:nvSpPr>
        <p:spPr>
          <a:xfrm>
            <a:off x="640080" y="1554480"/>
            <a:ext cx="10908360" cy="107856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3"/>
          <p:cNvSpPr/>
          <p:nvPr/>
        </p:nvSpPr>
        <p:spPr>
          <a:xfrm>
            <a:off x="640080" y="1554480"/>
            <a:ext cx="3108600" cy="1078560"/>
          </a:xfrm>
          <a:prstGeom prst="roundRect">
            <a:avLst>
              <a:gd name="adj" fmla="val 5085"/>
            </a:avLst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4"/>
          <p:cNvSpPr/>
          <p:nvPr/>
        </p:nvSpPr>
        <p:spPr>
          <a:xfrm>
            <a:off x="3383280" y="1554480"/>
            <a:ext cx="365400" cy="1078560"/>
          </a:xfrm>
          <a:prstGeom prst="rect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914400" y="17006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Уровень представления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6"/>
          <p:cNvSpPr/>
          <p:nvPr/>
        </p:nvSpPr>
        <p:spPr>
          <a:xfrm>
            <a:off x="914400" y="21578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ce6f6"/>
                </a:solidFill>
                <a:latin typeface="Arial"/>
                <a:ea typeface="Arial"/>
              </a:rPr>
              <a:t>Frontend · SPA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4023360" y="1554480"/>
            <a:ext cx="725076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e2430"/>
                </a:solidFill>
                <a:latin typeface="Arial"/>
                <a:ea typeface="Arial"/>
              </a:rPr>
              <a:t>React-приложение (SPA). Взаимодействие с сервером только через REST API. Состояние — Zustand и React Query.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8"/>
          <p:cNvSpPr/>
          <p:nvPr/>
        </p:nvSpPr>
        <p:spPr>
          <a:xfrm>
            <a:off x="6094440" y="2651760"/>
            <a:ext cx="360" cy="164520"/>
          </a:xfrm>
          <a:prstGeom prst="line">
            <a:avLst/>
          </a:prstGeom>
          <a:ln w="38100">
            <a:solidFill>
              <a:srgbClr val="5b7fc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9"/>
          <p:cNvSpPr/>
          <p:nvPr/>
        </p:nvSpPr>
        <p:spPr>
          <a:xfrm>
            <a:off x="640080" y="2834640"/>
            <a:ext cx="10908360" cy="107856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0"/>
          <p:cNvSpPr/>
          <p:nvPr/>
        </p:nvSpPr>
        <p:spPr>
          <a:xfrm>
            <a:off x="640080" y="2834640"/>
            <a:ext cx="3108600" cy="1078560"/>
          </a:xfrm>
          <a:prstGeom prst="roundRect">
            <a:avLst>
              <a:gd name="adj" fmla="val 5085"/>
            </a:avLst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11"/>
          <p:cNvSpPr/>
          <p:nvPr/>
        </p:nvSpPr>
        <p:spPr>
          <a:xfrm>
            <a:off x="3383280" y="2834640"/>
            <a:ext cx="365400" cy="1078560"/>
          </a:xfrm>
          <a:prstGeom prst="rect">
            <a:avLst/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914400" y="298080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Уровень бизнес-логики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3"/>
          <p:cNvSpPr/>
          <p:nvPr/>
        </p:nvSpPr>
        <p:spPr>
          <a:xfrm>
            <a:off x="914400" y="34380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ce6f6"/>
                </a:solidFill>
                <a:latin typeface="Arial"/>
                <a:ea typeface="Arial"/>
              </a:rPr>
              <a:t>Backend · FastAPI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4"/>
          <p:cNvSpPr/>
          <p:nvPr/>
        </p:nvSpPr>
        <p:spPr>
          <a:xfrm>
            <a:off x="4023360" y="2834640"/>
            <a:ext cx="725076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e2430"/>
                </a:solidFill>
                <a:latin typeface="Arial"/>
                <a:ea typeface="Arial"/>
              </a:rPr>
              <a:t>Аутентификация (JWT), управление задачами, хранение метаданных в PostgreSQL, постановка задач в очередь Celery.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15"/>
          <p:cNvSpPr/>
          <p:nvPr/>
        </p:nvSpPr>
        <p:spPr>
          <a:xfrm>
            <a:off x="6094440" y="3931920"/>
            <a:ext cx="360" cy="164520"/>
          </a:xfrm>
          <a:prstGeom prst="line">
            <a:avLst/>
          </a:prstGeom>
          <a:ln w="38100">
            <a:solidFill>
              <a:srgbClr val="5b7fc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6"/>
          <p:cNvSpPr/>
          <p:nvPr/>
        </p:nvSpPr>
        <p:spPr>
          <a:xfrm>
            <a:off x="640080" y="4114800"/>
            <a:ext cx="10908360" cy="107856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7"/>
          <p:cNvSpPr/>
          <p:nvPr/>
        </p:nvSpPr>
        <p:spPr>
          <a:xfrm>
            <a:off x="640080" y="4114800"/>
            <a:ext cx="3108600" cy="1078560"/>
          </a:xfrm>
          <a:prstGeom prst="roundRect">
            <a:avLst>
              <a:gd name="adj" fmla="val 5085"/>
            </a:avLst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18"/>
          <p:cNvSpPr/>
          <p:nvPr/>
        </p:nvSpPr>
        <p:spPr>
          <a:xfrm>
            <a:off x="3383280" y="4114800"/>
            <a:ext cx="365400" cy="10785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9"/>
          <p:cNvSpPr/>
          <p:nvPr/>
        </p:nvSpPr>
        <p:spPr>
          <a:xfrm>
            <a:off x="914400" y="42609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Уровень данных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0"/>
          <p:cNvSpPr/>
          <p:nvPr/>
        </p:nvSpPr>
        <p:spPr>
          <a:xfrm>
            <a:off x="914400" y="47181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ce6f6"/>
                </a:solidFill>
                <a:latin typeface="Arial"/>
                <a:ea typeface="Arial"/>
              </a:rPr>
              <a:t>Хранилища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21"/>
          <p:cNvSpPr/>
          <p:nvPr/>
        </p:nvSpPr>
        <p:spPr>
          <a:xfrm>
            <a:off x="4023360" y="4114800"/>
            <a:ext cx="725076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e2430"/>
                </a:solidFill>
                <a:latin typeface="Arial"/>
                <a:ea typeface="Arial"/>
              </a:rPr>
              <a:t>PostgreSQL — структурированные данные (пользователи, задачи, сервисы). MinIO — изображения. Масштабируются независимо.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22"/>
          <p:cNvSpPr/>
          <p:nvPr/>
        </p:nvSpPr>
        <p:spPr>
          <a:xfrm>
            <a:off x="640080" y="5760720"/>
            <a:ext cx="10908360" cy="566640"/>
          </a:xfrm>
          <a:prstGeom prst="roundRect">
            <a:avLst>
              <a:gd name="adj" fmla="val 8065"/>
            </a:avLst>
          </a:prstGeom>
          <a:solidFill>
            <a:srgbClr val="eae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3"/>
          <p:cNvSpPr/>
          <p:nvPr/>
        </p:nvSpPr>
        <p:spPr>
          <a:xfrm>
            <a:off x="914400" y="5760720"/>
            <a:ext cx="10332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323c8d"/>
                </a:solidFill>
                <a:latin typeface="Arial"/>
                <a:ea typeface="Arial"/>
              </a:rPr>
              <a:t>Асинхронность:  </a:t>
            </a: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ресурсоёмкая обработка (15–60 с) вынесена в Celery-worker через Redis — HTTP-запросы не блокируются.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24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25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23c8d"/>
                </a:solidFill>
                <a:latin typeface="Calibri"/>
                <a:ea typeface="Calibri"/>
              </a:rPr>
              <a:t>5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59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Проектирование базы данных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640080" y="1051560"/>
            <a:ext cx="1088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a6473"/>
                </a:solidFill>
                <a:latin typeface="Arial"/>
                <a:ea typeface="Arial"/>
              </a:rPr>
              <a:t>PostgreSQL 16 · 4 сущности · тип JSONB для воркфлоу ComfyUI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640080" y="1554480"/>
            <a:ext cx="60346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804600" y="1737360"/>
            <a:ext cx="1828440" cy="603000"/>
          </a:xfrm>
          <a:prstGeom prst="roundRect">
            <a:avLst>
              <a:gd name="adj" fmla="val 7576"/>
            </a:avLst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804600" y="1737360"/>
            <a:ext cx="18284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users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2788920" y="1554480"/>
            <a:ext cx="37029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Учётные записи: email, хеш пароля (bcrypt), баланс кредитов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6"/>
          <p:cNvSpPr/>
          <p:nvPr/>
        </p:nvSpPr>
        <p:spPr>
          <a:xfrm>
            <a:off x="640080" y="2688480"/>
            <a:ext cx="60346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7"/>
          <p:cNvSpPr/>
          <p:nvPr/>
        </p:nvSpPr>
        <p:spPr>
          <a:xfrm>
            <a:off x="804600" y="2871360"/>
            <a:ext cx="1828440" cy="603000"/>
          </a:xfrm>
          <a:prstGeom prst="roundRect">
            <a:avLst>
              <a:gd name="adj" fmla="val 7576"/>
            </a:avLst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804600" y="2871360"/>
            <a:ext cx="18284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services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2788920" y="2688480"/>
            <a:ext cx="37029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AI-инструменты: slug, JSONB-воркфлоу, стоимость обработки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0"/>
          <p:cNvSpPr/>
          <p:nvPr/>
        </p:nvSpPr>
        <p:spPr>
          <a:xfrm>
            <a:off x="640080" y="3822120"/>
            <a:ext cx="60346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1"/>
          <p:cNvSpPr/>
          <p:nvPr/>
        </p:nvSpPr>
        <p:spPr>
          <a:xfrm>
            <a:off x="804600" y="4005000"/>
            <a:ext cx="1828440" cy="603000"/>
          </a:xfrm>
          <a:prstGeom prst="roundRect">
            <a:avLst>
              <a:gd name="adj" fmla="val 7576"/>
            </a:avLst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804600" y="4005000"/>
            <a:ext cx="18284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tasks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2788920" y="3822120"/>
            <a:ext cx="37029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Задачи: статус, параметры (JSONB), ссылки на изображения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4"/>
          <p:cNvSpPr/>
          <p:nvPr/>
        </p:nvSpPr>
        <p:spPr>
          <a:xfrm>
            <a:off x="640080" y="4956120"/>
            <a:ext cx="60346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5"/>
          <p:cNvSpPr/>
          <p:nvPr/>
        </p:nvSpPr>
        <p:spPr>
          <a:xfrm>
            <a:off x="804600" y="5139000"/>
            <a:ext cx="1828440" cy="603000"/>
          </a:xfrm>
          <a:prstGeom prst="roundRect">
            <a:avLst>
              <a:gd name="adj" fmla="val 7576"/>
            </a:avLst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16"/>
          <p:cNvSpPr/>
          <p:nvPr/>
        </p:nvSpPr>
        <p:spPr>
          <a:xfrm>
            <a:off x="804600" y="5139000"/>
            <a:ext cx="18284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gallery_items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2788920" y="4956120"/>
            <a:ext cx="37029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Публичная галерея: лайки, видимость, связь 1:1 с задачей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18"/>
          <p:cNvSpPr/>
          <p:nvPr/>
        </p:nvSpPr>
        <p:spPr>
          <a:xfrm>
            <a:off x="6903720" y="1554480"/>
            <a:ext cx="4644720" cy="4571640"/>
          </a:xfrm>
          <a:prstGeom prst="roundRect">
            <a:avLst>
              <a:gd name="adj" fmla="val 1400"/>
            </a:avLst>
          </a:prstGeom>
          <a:solidFill>
            <a:srgbClr val="323c8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19"/>
          <p:cNvSpPr/>
          <p:nvPr/>
        </p:nvSpPr>
        <p:spPr>
          <a:xfrm>
            <a:off x="7178040" y="1737360"/>
            <a:ext cx="4096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Связи между сущностями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20"/>
          <p:cNvSpPr/>
          <p:nvPr/>
        </p:nvSpPr>
        <p:spPr>
          <a:xfrm>
            <a:off x="7178040" y="2286000"/>
            <a:ext cx="409608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7fb3ff"/>
                </a:solidFill>
                <a:latin typeface="Arial"/>
                <a:ea typeface="Arial"/>
              </a:rPr>
              <a:t>users → tasks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dce6f6"/>
                </a:solidFill>
                <a:latin typeface="Arial"/>
                <a:ea typeface="Arial"/>
              </a:rPr>
              <a:t>один ко многим (1:N)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7fb3ff"/>
                </a:solidFill>
                <a:latin typeface="Arial"/>
                <a:ea typeface="Arial"/>
              </a:rPr>
              <a:t>services → tasks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dce6f6"/>
                </a:solidFill>
                <a:latin typeface="Arial"/>
                <a:ea typeface="Arial"/>
              </a:rPr>
              <a:t>один ко многим (1:N)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7fb3ff"/>
                </a:solidFill>
                <a:latin typeface="Arial"/>
                <a:ea typeface="Arial"/>
              </a:rPr>
              <a:t>tasks → gallery_items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dce6f6"/>
                </a:solidFill>
                <a:latin typeface="Arial"/>
                <a:ea typeface="Arial"/>
              </a:rPr>
              <a:t>один к одному (1:1)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7fb3ff"/>
                </a:solidFill>
                <a:latin typeface="Arial"/>
                <a:ea typeface="Arial"/>
              </a:rPr>
              <a:t>users → gallery_items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dce6f6"/>
                </a:solidFill>
                <a:latin typeface="Arial"/>
                <a:ea typeface="Arial"/>
              </a:rPr>
              <a:t>один ко многим (1:N)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21"/>
          <p:cNvSpPr/>
          <p:nvPr/>
        </p:nvSpPr>
        <p:spPr>
          <a:xfrm>
            <a:off x="7178040" y="5212080"/>
            <a:ext cx="4096440" cy="360"/>
          </a:xfrm>
          <a:prstGeom prst="line">
            <a:avLst/>
          </a:prstGeom>
          <a:ln w="12700">
            <a:solidFill>
              <a:srgbClr val="5b7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22"/>
          <p:cNvSpPr/>
          <p:nvPr/>
        </p:nvSpPr>
        <p:spPr>
          <a:xfrm>
            <a:off x="7178040" y="5349240"/>
            <a:ext cx="4096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9d6ec"/>
                </a:solidFill>
                <a:latin typeface="Arial"/>
                <a:ea typeface="Arial"/>
              </a:rPr>
              <a:t>ON DELETE CASCADE, частичные индексы, уникальные ключи email / username / slug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3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4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23c8d"/>
                </a:solidFill>
                <a:latin typeface="Calibri"/>
                <a:ea typeface="Calibri"/>
              </a:rPr>
              <a:t>6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85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Алгоритм асинхронной обработки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"/>
          <p:cNvSpPr/>
          <p:nvPr/>
        </p:nvSpPr>
        <p:spPr>
          <a:xfrm>
            <a:off x="640080" y="1371600"/>
            <a:ext cx="53488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2"/>
          <p:cNvSpPr/>
          <p:nvPr/>
        </p:nvSpPr>
        <p:spPr>
          <a:xfrm>
            <a:off x="822960" y="1604880"/>
            <a:ext cx="502560" cy="502560"/>
          </a:xfrm>
          <a:prstGeom prst="ellipse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822960" y="1604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4"/>
          <p:cNvSpPr/>
          <p:nvPr/>
        </p:nvSpPr>
        <p:spPr>
          <a:xfrm>
            <a:off x="1508760" y="1371600"/>
            <a:ext cx="4297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Пользователь загружает изображение → файл сохраняется в MinIO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5"/>
          <p:cNvSpPr/>
          <p:nvPr/>
        </p:nvSpPr>
        <p:spPr>
          <a:xfrm>
            <a:off x="6199560" y="1371600"/>
            <a:ext cx="53488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6"/>
          <p:cNvSpPr/>
          <p:nvPr/>
        </p:nvSpPr>
        <p:spPr>
          <a:xfrm>
            <a:off x="6382440" y="1604880"/>
            <a:ext cx="502560" cy="502560"/>
          </a:xfrm>
          <a:prstGeom prst="ellipse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7"/>
          <p:cNvSpPr/>
          <p:nvPr/>
        </p:nvSpPr>
        <p:spPr>
          <a:xfrm>
            <a:off x="6382440" y="1604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8"/>
          <p:cNvSpPr/>
          <p:nvPr/>
        </p:nvSpPr>
        <p:spPr>
          <a:xfrm>
            <a:off x="7068240" y="1371600"/>
            <a:ext cx="4297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POST /tasks/create → FastAPI создаёт запись со статусом pending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9"/>
          <p:cNvSpPr/>
          <p:nvPr/>
        </p:nvSpPr>
        <p:spPr>
          <a:xfrm>
            <a:off x="640080" y="2505600"/>
            <a:ext cx="53488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10"/>
          <p:cNvSpPr/>
          <p:nvPr/>
        </p:nvSpPr>
        <p:spPr>
          <a:xfrm>
            <a:off x="822960" y="2738520"/>
            <a:ext cx="502560" cy="502560"/>
          </a:xfrm>
          <a:prstGeom prst="ellipse">
            <a:avLst/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11"/>
          <p:cNvSpPr/>
          <p:nvPr/>
        </p:nvSpPr>
        <p:spPr>
          <a:xfrm>
            <a:off x="822960" y="2738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2"/>
          <p:cNvSpPr/>
          <p:nvPr/>
        </p:nvSpPr>
        <p:spPr>
          <a:xfrm>
            <a:off x="1508760" y="2505600"/>
            <a:ext cx="4297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FastAPI ставит задачу в очередь Celery через Redis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3"/>
          <p:cNvSpPr/>
          <p:nvPr/>
        </p:nvSpPr>
        <p:spPr>
          <a:xfrm>
            <a:off x="6199560" y="2505600"/>
            <a:ext cx="53488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4"/>
          <p:cNvSpPr/>
          <p:nvPr/>
        </p:nvSpPr>
        <p:spPr>
          <a:xfrm>
            <a:off x="6382440" y="2738520"/>
            <a:ext cx="502560" cy="502560"/>
          </a:xfrm>
          <a:prstGeom prst="ellipse">
            <a:avLst/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15"/>
          <p:cNvSpPr/>
          <p:nvPr/>
        </p:nvSpPr>
        <p:spPr>
          <a:xfrm>
            <a:off x="6382440" y="2738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6"/>
          <p:cNvSpPr/>
          <p:nvPr/>
        </p:nvSpPr>
        <p:spPr>
          <a:xfrm>
            <a:off x="7068240" y="2505600"/>
            <a:ext cx="4297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Celery-worker загружает изображение в ComfyUI (/upload/image)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7"/>
          <p:cNvSpPr/>
          <p:nvPr/>
        </p:nvSpPr>
        <p:spPr>
          <a:xfrm>
            <a:off x="640080" y="3639240"/>
            <a:ext cx="53488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8"/>
          <p:cNvSpPr/>
          <p:nvPr/>
        </p:nvSpPr>
        <p:spPr>
          <a:xfrm>
            <a:off x="822960" y="3872520"/>
            <a:ext cx="502560" cy="502560"/>
          </a:xfrm>
          <a:prstGeom prst="ellipse">
            <a:avLst/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19"/>
          <p:cNvSpPr/>
          <p:nvPr/>
        </p:nvSpPr>
        <p:spPr>
          <a:xfrm>
            <a:off x="822960" y="3872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20"/>
          <p:cNvSpPr/>
          <p:nvPr/>
        </p:nvSpPr>
        <p:spPr>
          <a:xfrm>
            <a:off x="1508760" y="3639240"/>
            <a:ext cx="4297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Worker подставляет параметры в JSON-воркфлоу → /prompt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1"/>
          <p:cNvSpPr/>
          <p:nvPr/>
        </p:nvSpPr>
        <p:spPr>
          <a:xfrm>
            <a:off x="6199560" y="3639240"/>
            <a:ext cx="53488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22"/>
          <p:cNvSpPr/>
          <p:nvPr/>
        </p:nvSpPr>
        <p:spPr>
          <a:xfrm>
            <a:off x="6382440" y="3872520"/>
            <a:ext cx="502560" cy="502560"/>
          </a:xfrm>
          <a:prstGeom prst="ellipse">
            <a:avLst/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23"/>
          <p:cNvSpPr/>
          <p:nvPr/>
        </p:nvSpPr>
        <p:spPr>
          <a:xfrm>
            <a:off x="6382440" y="3872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24"/>
          <p:cNvSpPr/>
          <p:nvPr/>
        </p:nvSpPr>
        <p:spPr>
          <a:xfrm>
            <a:off x="7068240" y="3639240"/>
            <a:ext cx="4297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Worker опрашивает ComfyUI каждые 2 с (/history/{id})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5"/>
          <p:cNvSpPr/>
          <p:nvPr/>
        </p:nvSpPr>
        <p:spPr>
          <a:xfrm>
            <a:off x="640080" y="4773240"/>
            <a:ext cx="53488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26"/>
          <p:cNvSpPr/>
          <p:nvPr/>
        </p:nvSpPr>
        <p:spPr>
          <a:xfrm>
            <a:off x="822960" y="5006520"/>
            <a:ext cx="502560" cy="502560"/>
          </a:xfrm>
          <a:prstGeom prst="ellipse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27"/>
          <p:cNvSpPr/>
          <p:nvPr/>
        </p:nvSpPr>
        <p:spPr>
          <a:xfrm>
            <a:off x="822960" y="5006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7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28"/>
          <p:cNvSpPr/>
          <p:nvPr/>
        </p:nvSpPr>
        <p:spPr>
          <a:xfrm>
            <a:off x="1508760" y="4773240"/>
            <a:ext cx="4297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Результат скачивается в MinIO, статус → completed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29"/>
          <p:cNvSpPr/>
          <p:nvPr/>
        </p:nvSpPr>
        <p:spPr>
          <a:xfrm>
            <a:off x="6199560" y="4773240"/>
            <a:ext cx="53488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30"/>
          <p:cNvSpPr/>
          <p:nvPr/>
        </p:nvSpPr>
        <p:spPr>
          <a:xfrm>
            <a:off x="6382440" y="5006520"/>
            <a:ext cx="502560" cy="502560"/>
          </a:xfrm>
          <a:prstGeom prst="ellipse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31"/>
          <p:cNvSpPr/>
          <p:nvPr/>
        </p:nvSpPr>
        <p:spPr>
          <a:xfrm>
            <a:off x="6382440" y="5006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8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32"/>
          <p:cNvSpPr/>
          <p:nvPr/>
        </p:nvSpPr>
        <p:spPr>
          <a:xfrm>
            <a:off x="7068240" y="4773240"/>
            <a:ext cx="4297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Frontend опрашивает /tasks/{id} и показывает результат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33"/>
          <p:cNvSpPr/>
          <p:nvPr/>
        </p:nvSpPr>
        <p:spPr>
          <a:xfrm>
            <a:off x="640080" y="589788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50" spc="-1" strike="noStrike">
                <a:solidFill>
                  <a:srgbClr val="323c8d"/>
                </a:solidFill>
                <a:latin typeface="Arial"/>
                <a:ea typeface="Arial"/>
              </a:rPr>
              <a:t>Преимущество: немедленный ответ сервера и параллельная обработка задач за счёт масштабирования числа Celery-worker'ов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34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35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23c8d"/>
                </a:solidFill>
                <a:latin typeface="Calibri"/>
                <a:ea typeface="Calibri"/>
              </a:rPr>
              <a:t>7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222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Блок-схема работы системы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Image 1" descr="architecture_diagram.png"/>
          <p:cNvPicPr/>
          <p:nvPr/>
        </p:nvPicPr>
        <p:blipFill>
          <a:blip r:embed="rId2"/>
          <a:stretch/>
        </p:blipFill>
        <p:spPr>
          <a:xfrm>
            <a:off x="2160000" y="1080000"/>
            <a:ext cx="8337600" cy="5210640"/>
          </a:xfrm>
          <a:prstGeom prst="rect">
            <a:avLst/>
          </a:prstGeom>
          <a:ln w="0">
            <a:noFill/>
          </a:ln>
        </p:spPr>
      </p:pic>
      <p:sp>
        <p:nvSpPr>
          <p:cNvPr id="224" name="Text 1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23c8d"/>
                </a:solidFill>
                <a:latin typeface="Calibri"/>
                <a:ea typeface="Calibri"/>
              </a:rPr>
              <a:t>8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227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Интерфейс и цветовые решения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1"/>
          <p:cNvSpPr/>
          <p:nvPr/>
        </p:nvSpPr>
        <p:spPr>
          <a:xfrm>
            <a:off x="640080" y="1325880"/>
            <a:ext cx="5486040" cy="457164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2"/>
          <p:cNvSpPr/>
          <p:nvPr/>
        </p:nvSpPr>
        <p:spPr>
          <a:xfrm>
            <a:off x="914400" y="155448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323c8d"/>
                </a:solidFill>
                <a:latin typeface="Arial"/>
                <a:ea typeface="Arial"/>
              </a:rPr>
              <a:t>Тёмная тема + фиолетово-синий градиент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3"/>
          <p:cNvSpPr/>
          <p:nvPr/>
        </p:nvSpPr>
        <p:spPr>
          <a:xfrm>
            <a:off x="914400" y="2148840"/>
            <a:ext cx="49374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1e2430"/>
                </a:solidFill>
                <a:latin typeface="Arial"/>
                <a:ea typeface="Arial"/>
              </a:rPr>
              <a:t>Тёмный фон </a:t>
            </a:r>
            <a:r>
              <a:rPr b="0" lang="en-US" sz="1300" spc="-1" strike="noStrike">
                <a:solidFill>
                  <a:srgbClr val="1e2430"/>
                </a:solidFill>
                <a:latin typeface="Arial"/>
                <a:ea typeface="Arial"/>
              </a:rPr>
              <a:t>не искажает восприятие цветов обрабатываемой фотографии и снижает зрительное утомление — стандарт профессиональных редакторов (Photoshop, Lightroom).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1e2430"/>
                </a:solidFill>
                <a:latin typeface="Arial"/>
                <a:ea typeface="Arial"/>
              </a:rPr>
              <a:t>Фиолетово-синий градиент </a:t>
            </a:r>
            <a:r>
              <a:rPr b="0" lang="en-US" sz="1300" spc="-1" strike="noStrike">
                <a:solidFill>
                  <a:srgbClr val="1e2430"/>
                </a:solidFill>
                <a:latin typeface="Arial"/>
                <a:ea typeface="Arial"/>
              </a:rPr>
              <a:t>(#7C3AED → #3B82F6) ассоциируется с технологичностью и AI, задаёт фирменный стиль.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1e2430"/>
                </a:solidFill>
                <a:latin typeface="Arial"/>
                <a:ea typeface="Arial"/>
              </a:rPr>
              <a:t>Контраст </a:t>
            </a:r>
            <a:r>
              <a:rPr b="0" lang="en-US" sz="1300" spc="-1" strike="noStrike">
                <a:solidFill>
                  <a:srgbClr val="1e2430"/>
                </a:solidFill>
                <a:latin typeface="Arial"/>
                <a:ea typeface="Arial"/>
              </a:rPr>
              <a:t>текста и фона по WCAG 2.1 AA (≥ 4,5:1).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430"/>
                </a:solidFill>
                <a:latin typeface="Arial"/>
                <a:ea typeface="Arial"/>
              </a:rPr>
              <a:t>Шрифты: </a:t>
            </a:r>
            <a:r>
              <a:rPr b="0" lang="en-US" sz="1300" spc="-1" strike="noStrike">
                <a:solidFill>
                  <a:srgbClr val="1e2430"/>
                </a:solidFill>
                <a:latin typeface="Arial"/>
                <a:ea typeface="Arial"/>
              </a:rPr>
              <a:t>Syne (заголовки) + DM Sans (текст). Реализация — CSS-переменные + Tailwind CSS.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4"/>
          <p:cNvSpPr/>
          <p:nvPr/>
        </p:nvSpPr>
        <p:spPr>
          <a:xfrm>
            <a:off x="6446520" y="1325880"/>
            <a:ext cx="5101920" cy="529920"/>
          </a:xfrm>
          <a:prstGeom prst="roundRect">
            <a:avLst>
              <a:gd name="adj" fmla="val 6897"/>
            </a:avLst>
          </a:prstGeom>
          <a:solidFill>
            <a:srgbClr val="0d0d12"/>
          </a:solidFill>
          <a:ln w="9525">
            <a:solidFill>
              <a:srgbClr val="d5d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5"/>
          <p:cNvSpPr/>
          <p:nvPr/>
        </p:nvSpPr>
        <p:spPr>
          <a:xfrm>
            <a:off x="6675120" y="132588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ourier New"/>
                <a:ea typeface="Courier New"/>
              </a:rPr>
              <a:t>#0D0D12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6"/>
          <p:cNvSpPr/>
          <p:nvPr/>
        </p:nvSpPr>
        <p:spPr>
          <a:xfrm>
            <a:off x="8229600" y="1325880"/>
            <a:ext cx="3090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Arial"/>
              </a:rPr>
              <a:t>Фон приложения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7"/>
          <p:cNvSpPr/>
          <p:nvPr/>
        </p:nvSpPr>
        <p:spPr>
          <a:xfrm>
            <a:off x="6446520" y="1892880"/>
            <a:ext cx="5101920" cy="529920"/>
          </a:xfrm>
          <a:prstGeom prst="roundRect">
            <a:avLst>
              <a:gd name="adj" fmla="val 6897"/>
            </a:avLst>
          </a:prstGeom>
          <a:solidFill>
            <a:srgbClr val="16161f"/>
          </a:solidFill>
          <a:ln w="9525">
            <a:solidFill>
              <a:srgbClr val="d5d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8"/>
          <p:cNvSpPr/>
          <p:nvPr/>
        </p:nvSpPr>
        <p:spPr>
          <a:xfrm>
            <a:off x="6675120" y="189288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ourier New"/>
                <a:ea typeface="Courier New"/>
              </a:rPr>
              <a:t>#16161F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9"/>
          <p:cNvSpPr/>
          <p:nvPr/>
        </p:nvSpPr>
        <p:spPr>
          <a:xfrm>
            <a:off x="8229600" y="1892880"/>
            <a:ext cx="3090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Arial"/>
              </a:rPr>
              <a:t>Поверхности / карточки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0"/>
          <p:cNvSpPr/>
          <p:nvPr/>
        </p:nvSpPr>
        <p:spPr>
          <a:xfrm>
            <a:off x="6446520" y="2459880"/>
            <a:ext cx="5101920" cy="529920"/>
          </a:xfrm>
          <a:prstGeom prst="roundRect">
            <a:avLst>
              <a:gd name="adj" fmla="val 6897"/>
            </a:avLst>
          </a:prstGeom>
          <a:solidFill>
            <a:srgbClr val="1e1e2e"/>
          </a:solidFill>
          <a:ln w="9525">
            <a:solidFill>
              <a:srgbClr val="d5d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11"/>
          <p:cNvSpPr/>
          <p:nvPr/>
        </p:nvSpPr>
        <p:spPr>
          <a:xfrm>
            <a:off x="6675120" y="245988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ourier New"/>
                <a:ea typeface="Courier New"/>
              </a:rPr>
              <a:t>#1E1E2E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12"/>
          <p:cNvSpPr/>
          <p:nvPr/>
        </p:nvSpPr>
        <p:spPr>
          <a:xfrm>
            <a:off x="8229600" y="2459880"/>
            <a:ext cx="3090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Arial"/>
              </a:rPr>
              <a:t>Границы и разделители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13"/>
          <p:cNvSpPr/>
          <p:nvPr/>
        </p:nvSpPr>
        <p:spPr>
          <a:xfrm>
            <a:off x="6446520" y="3026520"/>
            <a:ext cx="5101920" cy="529920"/>
          </a:xfrm>
          <a:prstGeom prst="roundRect">
            <a:avLst>
              <a:gd name="adj" fmla="val 6897"/>
            </a:avLst>
          </a:prstGeom>
          <a:solidFill>
            <a:srgbClr val="7c3aed"/>
          </a:solidFill>
          <a:ln w="9525">
            <a:solidFill>
              <a:srgbClr val="d5d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14"/>
          <p:cNvSpPr/>
          <p:nvPr/>
        </p:nvSpPr>
        <p:spPr>
          <a:xfrm>
            <a:off x="6675120" y="302652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ourier New"/>
                <a:ea typeface="Courier New"/>
              </a:rPr>
              <a:t>#7C3AED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15"/>
          <p:cNvSpPr/>
          <p:nvPr/>
        </p:nvSpPr>
        <p:spPr>
          <a:xfrm>
            <a:off x="8229600" y="3026520"/>
            <a:ext cx="3090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Arial"/>
              </a:rPr>
              <a:t>Акцент — фиолетовый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16"/>
          <p:cNvSpPr/>
          <p:nvPr/>
        </p:nvSpPr>
        <p:spPr>
          <a:xfrm>
            <a:off x="6446520" y="3593520"/>
            <a:ext cx="5101920" cy="529920"/>
          </a:xfrm>
          <a:prstGeom prst="roundRect">
            <a:avLst>
              <a:gd name="adj" fmla="val 6897"/>
            </a:avLst>
          </a:prstGeom>
          <a:solidFill>
            <a:srgbClr val="3b82f6"/>
          </a:solidFill>
          <a:ln w="9525">
            <a:solidFill>
              <a:srgbClr val="d5d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17"/>
          <p:cNvSpPr/>
          <p:nvPr/>
        </p:nvSpPr>
        <p:spPr>
          <a:xfrm>
            <a:off x="6675120" y="359352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ourier New"/>
                <a:ea typeface="Courier New"/>
              </a:rPr>
              <a:t>#3B82F6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18"/>
          <p:cNvSpPr/>
          <p:nvPr/>
        </p:nvSpPr>
        <p:spPr>
          <a:xfrm>
            <a:off x="8229600" y="3593520"/>
            <a:ext cx="3090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Arial"/>
              </a:rPr>
              <a:t>Акцент — синий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19"/>
          <p:cNvSpPr/>
          <p:nvPr/>
        </p:nvSpPr>
        <p:spPr>
          <a:xfrm>
            <a:off x="6446520" y="4160520"/>
            <a:ext cx="5101920" cy="529920"/>
          </a:xfrm>
          <a:prstGeom prst="roundRect">
            <a:avLst>
              <a:gd name="adj" fmla="val 6897"/>
            </a:avLst>
          </a:prstGeom>
          <a:solidFill>
            <a:srgbClr val="f5f5f7"/>
          </a:solidFill>
          <a:ln w="9525">
            <a:solidFill>
              <a:srgbClr val="d5d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20"/>
          <p:cNvSpPr/>
          <p:nvPr/>
        </p:nvSpPr>
        <p:spPr>
          <a:xfrm>
            <a:off x="6675120" y="416052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2430"/>
                </a:solidFill>
                <a:latin typeface="Courier New"/>
                <a:ea typeface="Courier New"/>
              </a:rPr>
              <a:t>#F5F5F7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21"/>
          <p:cNvSpPr/>
          <p:nvPr/>
        </p:nvSpPr>
        <p:spPr>
          <a:xfrm>
            <a:off x="8229600" y="4160520"/>
            <a:ext cx="3090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Основной текст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2"/>
          <p:cNvSpPr/>
          <p:nvPr/>
        </p:nvSpPr>
        <p:spPr>
          <a:xfrm>
            <a:off x="6446520" y="4727520"/>
            <a:ext cx="5101920" cy="529920"/>
          </a:xfrm>
          <a:prstGeom prst="roundRect">
            <a:avLst>
              <a:gd name="adj" fmla="val 6897"/>
            </a:avLst>
          </a:prstGeom>
          <a:solidFill>
            <a:srgbClr val="8c8ca1"/>
          </a:solidFill>
          <a:ln w="9525">
            <a:solidFill>
              <a:srgbClr val="d5d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23"/>
          <p:cNvSpPr/>
          <p:nvPr/>
        </p:nvSpPr>
        <p:spPr>
          <a:xfrm>
            <a:off x="6675120" y="472752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ourier New"/>
                <a:ea typeface="Courier New"/>
              </a:rPr>
              <a:t>#8C8CA1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24"/>
          <p:cNvSpPr/>
          <p:nvPr/>
        </p:nvSpPr>
        <p:spPr>
          <a:xfrm>
            <a:off x="8229600" y="4727520"/>
            <a:ext cx="3090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Arial"/>
              </a:rPr>
              <a:t>Второстепенный текст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25"/>
          <p:cNvSpPr/>
          <p:nvPr/>
        </p:nvSpPr>
        <p:spPr>
          <a:xfrm>
            <a:off x="6446520" y="5294520"/>
            <a:ext cx="5101920" cy="529920"/>
          </a:xfrm>
          <a:prstGeom prst="roundRect">
            <a:avLst>
              <a:gd name="adj" fmla="val 6897"/>
            </a:avLst>
          </a:prstGeom>
          <a:solidFill>
            <a:srgbClr val="dc2626"/>
          </a:solidFill>
          <a:ln w="9525">
            <a:solidFill>
              <a:srgbClr val="d5d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26"/>
          <p:cNvSpPr/>
          <p:nvPr/>
        </p:nvSpPr>
        <p:spPr>
          <a:xfrm>
            <a:off x="6675120" y="529452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ourier New"/>
                <a:ea typeface="Courier New"/>
              </a:rPr>
              <a:t>#DC2626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27"/>
          <p:cNvSpPr/>
          <p:nvPr/>
        </p:nvSpPr>
        <p:spPr>
          <a:xfrm>
            <a:off x="8229600" y="5294520"/>
            <a:ext cx="3090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Arial"/>
              </a:rPr>
              <a:t>Ошибка / предупреждение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28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29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23c8d"/>
                </a:solidFill>
                <a:latin typeface="Calibri"/>
                <a:ea typeface="Calibri"/>
              </a:rPr>
              <a:t>9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258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Результаты тестирования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1"/>
          <p:cNvSpPr/>
          <p:nvPr/>
        </p:nvSpPr>
        <p:spPr>
          <a:xfrm>
            <a:off x="640080" y="1280160"/>
            <a:ext cx="2669760" cy="12340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2"/>
          <p:cNvSpPr/>
          <p:nvPr/>
        </p:nvSpPr>
        <p:spPr>
          <a:xfrm>
            <a:off x="640080" y="1444680"/>
            <a:ext cx="2669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e8b57"/>
                </a:solidFill>
                <a:latin typeface="Arial"/>
                <a:ea typeface="Arial"/>
              </a:rPr>
              <a:t>20/20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3"/>
          <p:cNvSpPr/>
          <p:nvPr/>
        </p:nvSpPr>
        <p:spPr>
          <a:xfrm>
            <a:off x="777240" y="2057400"/>
            <a:ext cx="2395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a6473"/>
                </a:solidFill>
                <a:latin typeface="Arial"/>
                <a:ea typeface="Arial"/>
              </a:rPr>
              <a:t>тест-кейсов пройдено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4"/>
          <p:cNvSpPr/>
          <p:nvPr/>
        </p:nvSpPr>
        <p:spPr>
          <a:xfrm>
            <a:off x="3456360" y="1280160"/>
            <a:ext cx="2669760" cy="12340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5"/>
          <p:cNvSpPr/>
          <p:nvPr/>
        </p:nvSpPr>
        <p:spPr>
          <a:xfrm>
            <a:off x="3456360" y="1444680"/>
            <a:ext cx="2669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e5aac"/>
                </a:solidFill>
                <a:latin typeface="Arial"/>
                <a:ea typeface="Arial"/>
              </a:rPr>
              <a:t>22–27 с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6"/>
          <p:cNvSpPr/>
          <p:nvPr/>
        </p:nvSpPr>
        <p:spPr>
          <a:xfrm>
            <a:off x="3593520" y="2057400"/>
            <a:ext cx="2395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a6473"/>
                </a:solidFill>
                <a:latin typeface="Arial"/>
                <a:ea typeface="Arial"/>
              </a:rPr>
              <a:t>среднее время обработки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7"/>
          <p:cNvSpPr/>
          <p:nvPr/>
        </p:nvSpPr>
        <p:spPr>
          <a:xfrm>
            <a:off x="6272640" y="1280160"/>
            <a:ext cx="2669760" cy="12340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8"/>
          <p:cNvSpPr/>
          <p:nvPr/>
        </p:nvSpPr>
        <p:spPr>
          <a:xfrm>
            <a:off x="6272640" y="1444680"/>
            <a:ext cx="2669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323c8d"/>
                </a:solidFill>
                <a:latin typeface="Arial"/>
                <a:ea typeface="Arial"/>
              </a:rPr>
              <a:t>7/7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9"/>
          <p:cNvSpPr/>
          <p:nvPr/>
        </p:nvSpPr>
        <p:spPr>
          <a:xfrm>
            <a:off x="6409800" y="2057400"/>
            <a:ext cx="2395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a6473"/>
                </a:solidFill>
                <a:latin typeface="Arial"/>
                <a:ea typeface="Arial"/>
              </a:rPr>
              <a:t>требований FR выполнено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10"/>
          <p:cNvSpPr/>
          <p:nvPr/>
        </p:nvSpPr>
        <p:spPr>
          <a:xfrm>
            <a:off x="9089280" y="1280160"/>
            <a:ext cx="2669760" cy="12340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11"/>
          <p:cNvSpPr/>
          <p:nvPr/>
        </p:nvSpPr>
        <p:spPr>
          <a:xfrm>
            <a:off x="9089280" y="1444680"/>
            <a:ext cx="2669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c0392b"/>
                </a:solidFill>
                <a:latin typeface="Arial"/>
                <a:ea typeface="Arial"/>
              </a:rPr>
              <a:t>≤ </a:t>
            </a:r>
            <a:r>
              <a:rPr b="1" lang="en-US" sz="3000" spc="-1" strike="noStrike">
                <a:solidFill>
                  <a:srgbClr val="c0392b"/>
                </a:solidFill>
                <a:latin typeface="Arial"/>
                <a:ea typeface="Arial"/>
              </a:rPr>
              <a:t>60 с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12"/>
          <p:cNvSpPr/>
          <p:nvPr/>
        </p:nvSpPr>
        <p:spPr>
          <a:xfrm>
            <a:off x="9226440" y="2057400"/>
            <a:ext cx="2395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a6473"/>
                </a:solidFill>
                <a:latin typeface="Arial"/>
                <a:ea typeface="Arial"/>
              </a:rPr>
              <a:t>целевой показатель достигнут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13"/>
          <p:cNvSpPr/>
          <p:nvPr/>
        </p:nvSpPr>
        <p:spPr>
          <a:xfrm>
            <a:off x="640080" y="27889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c8d"/>
                </a:solidFill>
                <a:latin typeface="Arial"/>
                <a:ea typeface="Arial"/>
              </a:rPr>
              <a:t>Нагрузочное тестирование (RTX 4090)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72" name="Table 0"/>
          <p:cNvGraphicFramePr/>
          <p:nvPr/>
        </p:nvGraphicFramePr>
        <p:xfrm>
          <a:off x="640080" y="3200400"/>
          <a:ext cx="5348880" cy="2102760"/>
        </p:xfrm>
        <a:graphic>
          <a:graphicData uri="http://schemas.openxmlformats.org/drawingml/2006/table">
            <a:tbl>
              <a:tblPr/>
              <a:tblGrid>
                <a:gridCol w="1188720"/>
                <a:gridCol w="1417320"/>
                <a:gridCol w="1371600"/>
                <a:gridCol w="137160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Задач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323c8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Среднее, с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323c8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Макс., с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323c8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Задач/мин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323c8d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22.4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24.1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2.7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26.8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29.3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4.5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4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44.7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48.6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5.4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8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85.2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91.4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5.6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3" name="Text 14"/>
          <p:cNvSpPr/>
          <p:nvPr/>
        </p:nvSpPr>
        <p:spPr>
          <a:xfrm>
            <a:off x="6263640" y="27889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c8d"/>
                </a:solidFill>
                <a:latin typeface="Arial"/>
                <a:ea typeface="Arial"/>
              </a:rPr>
              <a:t>Производительность по сервисам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74" name="Table 1"/>
          <p:cNvGraphicFramePr/>
          <p:nvPr/>
        </p:nvGraphicFramePr>
        <p:xfrm>
          <a:off x="6263640" y="3200400"/>
          <a:ext cx="5284800" cy="210276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17036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Сервис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323c8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Время, с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323c8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Шагов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323c8d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Перекраска авто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24.1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25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Удаление фона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9.7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—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Стилизация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27.3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30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Улучшение качества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15.4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20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5" name="Text 15"/>
          <p:cNvSpPr/>
          <p:nvPr/>
        </p:nvSpPr>
        <p:spPr>
          <a:xfrm>
            <a:off x="640080" y="557784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300" spc="-1" strike="noStrike">
                <a:solidFill>
                  <a:srgbClr val="2e8b57"/>
                </a:solidFill>
                <a:latin typeface="Arial"/>
                <a:ea typeface="Arial"/>
              </a:rPr>
              <a:t>Все функциональные и нагрузочные тесты пройдены — сервис готов к эксплуатации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16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17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23c8d"/>
                </a:solidFill>
                <a:latin typeface="Calibri"/>
                <a:ea typeface="Calibri"/>
              </a:rPr>
              <a:t>10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/>
          <p:nvPr/>
        </p:nvSpPr>
        <p:spPr>
          <a:xfrm>
            <a:off x="1828800" y="265176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323c8d"/>
                </a:solidFill>
                <a:latin typeface="Century Gothic"/>
                <a:ea typeface="Century Gothic"/>
              </a:rPr>
              <a:t>Спасибо за внимание!</a:t>
            </a:r>
            <a:endParaRPr b="0" lang="en-GB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1"/>
          <p:cNvSpPr/>
          <p:nvPr/>
        </p:nvSpPr>
        <p:spPr>
          <a:xfrm>
            <a:off x="1828800" y="38404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2026-06-15T16:22:23Z</dcterms:created>
  <dc:creator>Поляков С.А.</dc:creator>
  <dc:description/>
  <dc:language>en-GB</dc:language>
  <cp:lastModifiedBy/>
  <dcterms:modified xsi:type="dcterms:W3CDTF">2026-06-15T18:31:15Z</dcterms:modified>
  <cp:revision>2</cp:revision>
  <dc:subject>PptxGenJS Presentation</dc:subject>
  <dc:title>ВКР — AI Image Editor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