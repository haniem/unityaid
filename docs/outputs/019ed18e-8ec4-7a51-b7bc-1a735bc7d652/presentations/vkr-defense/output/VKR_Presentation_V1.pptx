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C23A000-300F-4321-BD49-D472AD37DB6F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0EE18-6841-44B7-98B3-4321BA39AFC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D9FE1E-E85B-4195-B4E8-C1D1D84C93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14A625-951D-4C96-B60A-EC535790688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33ED59-8629-46C3-AD35-DC262830315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B1084A-B51C-433C-8518-40D78FA7A56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52CAB3-D243-4BCB-A5DF-63320D3763D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ECD19D-A3A5-4E2F-B5EF-6B1A4C916B3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E02FCF-D13D-4F83-B132-897658FD0EF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48CF32-AC94-409A-9DDC-E0C3F9D0C5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3DD7CC-A80C-4608-A608-35178B5FA5C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40CFD-615F-4F8B-8E4F-8DFA527060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GB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947600" y="320040"/>
            <a:ext cx="996660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Министерство науки и высшего образования Российской Федерации
ФГБОУ ВО «Магнитогорский государственный технический университет им. Г.И. Носова»
Институт энергетики и автоматизированных систем · Кафедра ВТиП</a:t>
            </a:r>
            <a:endParaRPr lang="en-GB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792080" y="2468880"/>
            <a:ext cx="100580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sz="2500" b="1">
                <a:solidFill>
                  <a:srgbClr val="323C8D"/>
                </a:solidFill>
                <a:latin typeface="Arial"/>
              </a:rPr>
              <a:t>ПРОЕКТИРОВАНИЕ И РАЗРАБОТКА ИНФОРМАЦИОННОЙ СИСТЕМЫ УПРАВЛЕНИЯ ВОЛОНТЕРАМИ С ЭЛЕМЕНТАМИ ГЕЙМИФИКАЦИИ И АНАЛИТИКИ</a:t>
            </a:r>
            <a:endParaRPr lang="en-GB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218760" y="5650920"/>
            <a:ext cx="859500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r"/>
            <a:r>
              <a:rPr sz="1400" b="0" dirty="0" err="1">
                <a:solidFill>
                  <a:srgbClr val="1F2637"/>
                </a:solidFill>
                <a:latin typeface="Arial"/>
              </a:rPr>
              <a:t>Выполнил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обучающийся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Зозин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П.А.
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Направление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09.03.01 —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Информатика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вычислительная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техника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
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Руководитель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доцент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кафедры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ВТиП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к.п.н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. </a:t>
            </a:r>
            <a:r>
              <a:rPr sz="1400" b="0" dirty="0" err="1">
                <a:solidFill>
                  <a:srgbClr val="1F2637"/>
                </a:solidFill>
                <a:latin typeface="Arial"/>
              </a:rPr>
              <a:t>Гладышева</a:t>
            </a:r>
            <a:r>
              <a:rPr sz="1400" b="0" dirty="0">
                <a:solidFill>
                  <a:srgbClr val="1F2637"/>
                </a:solidFill>
                <a:latin typeface="Arial"/>
              </a:rPr>
              <a:t> М.М.</a:t>
            </a:r>
            <a:endParaRPr lang="en-GB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10058400" y="651060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Магнитогорск, 2026</a:t>
            </a:r>
            <a:endParaRPr lang="en-GB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Цель, объект, предмет и задачи работы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9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0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2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0080" y="1143000"/>
            <a:ext cx="10881360" cy="114300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1553000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Arial"/>
              </a:rPr>
              <a:t>ЦЕЛЬ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1257407"/>
            <a:ext cx="914400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Arial"/>
              </a:rPr>
              <a:t>Повысить эффективность </a:t>
            </a:r>
            <a:r>
              <a:rPr lang="ru-RU" dirty="0" smtClean="0">
                <a:solidFill>
                  <a:srgbClr val="FFFFFF"/>
                </a:solidFill>
                <a:latin typeface="Arial"/>
              </a:rPr>
              <a:t>управления волонтерской деятельностью за счет разработки 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web-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ориентированной информационной системы 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«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Пульс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» </a:t>
            </a:r>
            <a:r>
              <a:rPr sz="1800" b="0" dirty="0">
                <a:solidFill>
                  <a:srgbClr val="FFFFFF"/>
                </a:solidFill>
                <a:latin typeface="Arial"/>
              </a:rPr>
              <a:t>с 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учетом заявок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</a:t>
            </a:r>
            <a:r>
              <a:rPr lang="ru-RU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dirty="0" smtClean="0">
                <a:solidFill>
                  <a:srgbClr val="FFFFFF"/>
                </a:solidFill>
                <a:latin typeface="Arial"/>
              </a:rPr>
              <a:t>задач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 часов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 сертификатов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, </a:t>
            </a:r>
            <a:r>
              <a:rPr lang="ru-RU" sz="1800" b="0" dirty="0" err="1" smtClean="0">
                <a:solidFill>
                  <a:srgbClr val="FFFFFF"/>
                </a:solidFill>
                <a:latin typeface="Arial"/>
              </a:rPr>
              <a:t>геймификации</a:t>
            </a:r>
            <a:r>
              <a:rPr lang="ru-RU" sz="1800" b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и</a:t>
            </a:r>
            <a:r>
              <a:rPr lang="ru-RU" dirty="0">
                <a:solidFill>
                  <a:srgbClr val="FFFFFF"/>
                </a:solidFill>
                <a:latin typeface="Arial"/>
              </a:rPr>
              <a:t> </a:t>
            </a:r>
            <a:r>
              <a:rPr lang="ru-RU" dirty="0" smtClean="0">
                <a:solidFill>
                  <a:srgbClr val="FFFFFF"/>
                </a:solidFill>
                <a:latin typeface="Arial"/>
              </a:rPr>
              <a:t>аналитики</a:t>
            </a:r>
            <a:r>
              <a:rPr sz="1800" b="0" dirty="0" smtClean="0">
                <a:solidFill>
                  <a:srgbClr val="FFFFFF"/>
                </a:solidFill>
                <a:latin typeface="Arial"/>
              </a:rPr>
              <a:t>.</a:t>
            </a:r>
            <a:endParaRPr sz="18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40080" y="2514600"/>
            <a:ext cx="5257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2820924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E5AAC"/>
                </a:solidFill>
                <a:latin typeface="Arial"/>
              </a:rPr>
              <a:t>ОБЪЕКТ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2671941"/>
            <a:ext cx="37033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500" dirty="0" smtClean="0">
                <a:solidFill>
                  <a:srgbClr val="1F2637"/>
                </a:solidFill>
                <a:latin typeface="Arial"/>
              </a:rPr>
              <a:t>Процесс управления</a:t>
            </a:r>
            <a:r>
              <a:rPr sz="150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lang="ru-RU" sz="1500" b="0" dirty="0" smtClean="0">
                <a:solidFill>
                  <a:srgbClr val="1F2637"/>
                </a:solidFill>
                <a:latin typeface="Arial"/>
              </a:rPr>
              <a:t>волонтерской деятельностью</a:t>
            </a:r>
            <a:r>
              <a:rPr sz="150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в </a:t>
            </a:r>
            <a:r>
              <a:rPr lang="ru-RU" sz="1500" b="0" dirty="0" smtClean="0">
                <a:solidFill>
                  <a:srgbClr val="1F2637"/>
                </a:solidFill>
                <a:latin typeface="Arial"/>
              </a:rPr>
              <a:t>организации</a:t>
            </a:r>
            <a:endParaRPr sz="15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172200" y="251460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2788920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E5AAC"/>
                </a:solidFill>
                <a:latin typeface="Arial"/>
              </a:rPr>
              <a:t>ПРЕДМЕТ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61791"/>
            <a:ext cx="361188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400" dirty="0" smtClean="0">
                <a:solidFill>
                  <a:srgbClr val="1F2637"/>
                </a:solidFill>
                <a:latin typeface="Arial"/>
              </a:rPr>
              <a:t>Информационная система «Пульс» и связанные пользовательские сценарии</a:t>
            </a:r>
            <a:endParaRPr sz="14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40080" y="3657600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777240" y="3758184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3730752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Проанализировать предметную область и аналоги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657600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309360" y="3758184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3730752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Спроектировать архитектуру, БД и REST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" y="4370832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7240" y="4471416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4440" y="4443984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Реализовать backend, frontend и роли доступа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200" y="4370832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309360" y="4471416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4443984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Связать заявки, часы, достижения и сертификаты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5084064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77240" y="5184648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5157216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Проверить сборку и ключевые сценарии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72200" y="5084064"/>
            <a:ext cx="5257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6309360" y="5184648"/>
            <a:ext cx="347472" cy="310896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5157216"/>
            <a:ext cx="4434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80" b="0">
                <a:solidFill>
                  <a:srgbClr val="1F2637"/>
                </a:solidFill>
                <a:latin typeface="Arial"/>
              </a:rPr>
              <a:t>Оценить практический эффект и план пилота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4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Анализ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 smtClean="0">
                <a:solidFill>
                  <a:srgbClr val="FFFFFF"/>
                </a:solidFill>
                <a:latin typeface="Arial"/>
              </a:rPr>
              <a:t>аналогов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3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3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640080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353312" y="1508760"/>
            <a:ext cx="1024128" cy="65836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59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Добро.рф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112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>
                <a:solidFill>
                  <a:srgbClr val="5B6476"/>
                </a:solidFill>
                <a:latin typeface="Arial"/>
              </a:rPr>
              <a:t>М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асштабная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публичная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экосистема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не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локальное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пространство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организации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3447287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160520" y="1508760"/>
            <a:ext cx="1024128" cy="65836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dirty="0">
                <a:solidFill>
                  <a:srgbClr val="FFFFFF"/>
                </a:solidFill>
                <a:latin typeface="Arial"/>
              </a:rPr>
              <a:t>I/V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0168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Idealist / VolunteerMatch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03320" y="2913900"/>
            <a:ext cx="1965960" cy="62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 err="1">
                <a:solidFill>
                  <a:srgbClr val="5B6476"/>
                </a:solidFill>
                <a:latin typeface="Arial"/>
              </a:rPr>
              <a:t>С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ильный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поиск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возможностей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слабый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учет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внутреннего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вклада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6254496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6967728" y="1508760"/>
            <a:ext cx="1024128" cy="65836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37376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Timecounts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10528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 err="1">
                <a:solidFill>
                  <a:srgbClr val="5B6476"/>
                </a:solidFill>
                <a:latin typeface="Arial"/>
              </a:rPr>
              <a:t>О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перационная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работа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событий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но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нужна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адаптация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под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аналитику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и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сертификаты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9061703" y="1234440"/>
            <a:ext cx="24688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9774935" y="1508760"/>
            <a:ext cx="1024128" cy="658368"/>
          </a:xfrm>
          <a:prstGeom prst="roundRect">
            <a:avLst/>
          </a:prstGeom>
          <a:solidFill>
            <a:srgbClr val="1F2637"/>
          </a:solidFill>
          <a:ln>
            <a:solidFill>
              <a:srgbClr val="1F2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44583" y="2331720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50" b="1">
                <a:solidFill>
                  <a:srgbClr val="1F2637"/>
                </a:solidFill>
                <a:latin typeface="Arial"/>
              </a:rPr>
              <a:t>Golden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17735" y="2816352"/>
            <a:ext cx="1965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sz="1160" dirty="0" err="1">
                <a:solidFill>
                  <a:srgbClr val="5B6476"/>
                </a:solidFill>
                <a:latin typeface="Arial"/>
              </a:rPr>
              <a:t>К</a:t>
            </a:r>
            <a:r>
              <a:rPr sz="1160" b="0" dirty="0" err="1" smtClean="0">
                <a:solidFill>
                  <a:srgbClr val="5B6476"/>
                </a:solidFill>
                <a:latin typeface="Arial"/>
              </a:rPr>
              <a:t>оммерческая</a:t>
            </a:r>
            <a:r>
              <a:rPr sz="116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SaaS-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платформа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меньше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контроля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над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моделью</a:t>
            </a:r>
            <a:r>
              <a:rPr sz="116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60" b="0" dirty="0" err="1">
                <a:solidFill>
                  <a:srgbClr val="5B6476"/>
                </a:solidFill>
                <a:latin typeface="Arial"/>
              </a:rPr>
              <a:t>данных</a:t>
            </a:r>
            <a:endParaRPr sz="116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0080" y="4233672"/>
            <a:ext cx="10881360" cy="96012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68679" y="4268347"/>
            <a:ext cx="10415015" cy="854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FFFF"/>
                </a:solidFill>
                <a:latin typeface="Arial"/>
              </a:rPr>
              <a:t>Вывод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: </a:t>
            </a:r>
            <a:r>
              <a:rPr lang="ru-RU" sz="1650" b="1" dirty="0" err="1">
                <a:solidFill>
                  <a:srgbClr val="FFFFFF"/>
                </a:solidFill>
                <a:latin typeface="Arial"/>
              </a:rPr>
              <a:t>С</a:t>
            </a:r>
            <a:r>
              <a:rPr sz="1650" b="1" dirty="0" err="1" smtClean="0">
                <a:solidFill>
                  <a:srgbClr val="FFFFFF"/>
                </a:solidFill>
                <a:latin typeface="Arial"/>
              </a:rPr>
              <a:t>уществующие</a:t>
            </a:r>
            <a:r>
              <a:rPr sz="165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решения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закрывают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отдельные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части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процесса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но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связывают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локальные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роли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заявки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подтвержденные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часы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достижения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сертификаты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аналитику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в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одном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контуре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1520" y="5413248"/>
            <a:ext cx="2286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B6476"/>
                </a:solidFill>
                <a:latin typeface="Arial"/>
              </a:rPr>
              <a:t>Покрытие полного цикла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17520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каталог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730752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3730752" y="5449824"/>
            <a:ext cx="274320" cy="118872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590288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5AAC"/>
                </a:solidFill>
                <a:latin typeface="Arial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83479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event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696712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5696712" y="5449824"/>
            <a:ext cx="411480" cy="118872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556247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5AAC"/>
                </a:solidFill>
                <a:latin typeface="Arial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949440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SaaS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662671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ounded Rectangle 106"/>
          <p:cNvSpPr/>
          <p:nvPr/>
        </p:nvSpPr>
        <p:spPr>
          <a:xfrm>
            <a:off x="7662671" y="5449824"/>
            <a:ext cx="548640" cy="118872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522208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E5AAC"/>
                </a:solidFill>
                <a:latin typeface="Arial"/>
              </a:rP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15400" y="5376672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B6476"/>
                </a:solidFill>
                <a:latin typeface="Arial"/>
              </a:rPr>
              <a:t>Пульс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9628632" y="5449824"/>
            <a:ext cx="822960" cy="118872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9628632" y="5449824"/>
            <a:ext cx="822960" cy="118872"/>
          </a:xfrm>
          <a:prstGeom prst="roundRect">
            <a:avLst/>
          </a:prstGeom>
          <a:solidFill>
            <a:srgbClr val="1F9D72"/>
          </a:solidFill>
          <a:ln w="12700"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488168" y="5358384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9D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7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3200" b="1">
                <a:solidFill>
                  <a:srgbClr val="FFFFFF"/>
                </a:solidFill>
                <a:latin typeface="Arial"/>
              </a:rPr>
              <a:t>Технологический стек</a:t>
            </a:r>
            <a:endParaRPr lang="en-GB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2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3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4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30"/>
          <p:cNvSpPr/>
          <p:nvPr/>
        </p:nvSpPr>
        <p:spPr>
          <a:xfrm>
            <a:off x="640080" y="1298448"/>
            <a:ext cx="3246120" cy="27417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640080" y="1298448"/>
            <a:ext cx="3246120" cy="621792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40080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32688" y="2176272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353312" y="2135011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 smtClean="0">
                <a:solidFill>
                  <a:srgbClr val="1F2637"/>
                </a:solidFill>
                <a:latin typeface="Arial"/>
              </a:rPr>
              <a:t>Vue.js </a:t>
            </a:r>
            <a:r>
              <a:rPr sz="1600" b="1" dirty="0">
                <a:solidFill>
                  <a:srgbClr val="1F2637"/>
                </a:solidFill>
                <a:latin typeface="Arial"/>
              </a:rPr>
              <a:t>3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32688" y="2798064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353312" y="2756803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TypeScript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32688" y="3419856"/>
            <a:ext cx="256032" cy="256032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353312" y="3378595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Vite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325112" y="1298448"/>
            <a:ext cx="3246120" cy="3442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4325112" y="1298448"/>
            <a:ext cx="3246120" cy="621792"/>
          </a:xfrm>
          <a:prstGeom prst="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325112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617720" y="2176272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5038344" y="2130791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Go + Gin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617720" y="2798064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038344" y="2752583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REST API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617720" y="3419856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038344" y="3251265"/>
            <a:ext cx="21031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JWT / refresh-сессии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17720" y="4040241"/>
            <a:ext cx="256032" cy="256032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038344" y="3994760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1" dirty="0">
                <a:solidFill>
                  <a:srgbClr val="1F2637"/>
                </a:solidFill>
                <a:latin typeface="Arial"/>
              </a:rPr>
              <a:t>A</a:t>
            </a:r>
            <a:r>
              <a:rPr sz="1600" b="1" dirty="0" smtClean="0">
                <a:solidFill>
                  <a:srgbClr val="1F2637"/>
                </a:solidFill>
                <a:latin typeface="Arial"/>
              </a:rPr>
              <a:t>udit </a:t>
            </a:r>
            <a:r>
              <a:rPr sz="1600" b="1" dirty="0">
                <a:solidFill>
                  <a:srgbClr val="1F2637"/>
                </a:solidFill>
                <a:latin typeface="Arial"/>
              </a:rPr>
              <a:t>log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10144" y="1298448"/>
            <a:ext cx="3246120" cy="27417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010144" y="1298448"/>
            <a:ext cx="324612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010144" y="1389888"/>
            <a:ext cx="3246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Данные / DevOps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302752" y="2176272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723376" y="2130791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2637"/>
                </a:solidFill>
                <a:latin typeface="Arial"/>
              </a:rPr>
              <a:t>PostgreSQL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302752" y="2798064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723376" y="2752583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600" b="1" dirty="0">
                <a:solidFill>
                  <a:srgbClr val="1F2637"/>
                </a:solidFill>
                <a:latin typeface="Arial"/>
              </a:rPr>
              <a:t>М</a:t>
            </a:r>
            <a:r>
              <a:rPr sz="1600" b="1" dirty="0" err="1" smtClean="0">
                <a:solidFill>
                  <a:srgbClr val="1F2637"/>
                </a:solidFill>
                <a:latin typeface="Arial"/>
              </a:rPr>
              <a:t>играции</a:t>
            </a:r>
            <a:endParaRPr sz="1600" b="1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164" name="Rounded Rectangle 163"/>
          <p:cNvSpPr/>
          <p:nvPr/>
        </p:nvSpPr>
        <p:spPr>
          <a:xfrm>
            <a:off x="8302752" y="3419856"/>
            <a:ext cx="256032" cy="256032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723376" y="3374375"/>
            <a:ext cx="2103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1F2637"/>
                </a:solidFill>
                <a:latin typeface="Arial"/>
              </a:rPr>
              <a:t>Docker Compose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1520" y="5715000"/>
            <a:ext cx="10241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dirty="0" err="1">
                <a:solidFill>
                  <a:srgbClr val="5B6476"/>
                </a:solidFill>
                <a:latin typeface="Arial"/>
              </a:rPr>
              <a:t>Стек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выбран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под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web-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приложение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с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разграничением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ролей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воспроизводимым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развертыванием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и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реляционной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целостностью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5B6476"/>
                </a:solidFill>
                <a:latin typeface="Arial"/>
              </a:rPr>
              <a:t>данных</a:t>
            </a:r>
            <a:r>
              <a:rPr sz="1400" b="0" dirty="0">
                <a:solidFill>
                  <a:srgbClr val="5B647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3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Архитектура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«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Пульс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»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связывает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роли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, API и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данные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2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5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157"/>
          <p:cNvSpPr/>
          <p:nvPr/>
        </p:nvSpPr>
        <p:spPr>
          <a:xfrm>
            <a:off x="640080" y="123444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640080" y="1234440"/>
            <a:ext cx="3063240" cy="960120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14400" y="1444815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FFFF"/>
                </a:solidFill>
                <a:latin typeface="Arial"/>
              </a:rPr>
              <a:t>Уровень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представления</a:t>
            </a:r>
            <a:endParaRPr sz="16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14400" y="1810575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Vue.js SPA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977639" y="1364349"/>
            <a:ext cx="69037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500" dirty="0">
                <a:solidFill>
                  <a:srgbClr val="1F2637"/>
                </a:solidFill>
                <a:latin typeface="Arial"/>
              </a:rPr>
              <a:t>Л</a:t>
            </a:r>
            <a:r>
              <a:rPr sz="1500" b="0" dirty="0" err="1" smtClean="0">
                <a:solidFill>
                  <a:srgbClr val="1F2637"/>
                </a:solidFill>
                <a:latin typeface="Arial"/>
              </a:rPr>
              <a:t>ичный</a:t>
            </a:r>
            <a:r>
              <a:rPr sz="150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кабинет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волонтера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панели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координатора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администратора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организации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 и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суперадминистратора</a:t>
            </a:r>
            <a:endParaRPr sz="15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163" name="Rounded Rectangle 162"/>
          <p:cNvSpPr/>
          <p:nvPr/>
        </p:nvSpPr>
        <p:spPr>
          <a:xfrm>
            <a:off x="5715000" y="2249550"/>
            <a:ext cx="566928" cy="329184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40080" y="2648796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640080" y="2648796"/>
            <a:ext cx="3063240" cy="960120"/>
          </a:xfrm>
          <a:prstGeom prst="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14400" y="2862072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Arial"/>
              </a:rPr>
              <a:t>Уровень бизнес-логики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14400" y="3227832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Arial"/>
              </a:rPr>
              <a:t>Go / Gin REST API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977639" y="2778705"/>
            <a:ext cx="69037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500" dirty="0">
                <a:solidFill>
                  <a:srgbClr val="1F2637"/>
                </a:solidFill>
                <a:latin typeface="Arial"/>
              </a:rPr>
              <a:t>А</a:t>
            </a:r>
            <a:r>
              <a:rPr sz="1500" b="0" dirty="0" err="1" smtClean="0">
                <a:solidFill>
                  <a:srgbClr val="1F2637"/>
                </a:solidFill>
                <a:latin typeface="Arial"/>
              </a:rPr>
              <a:t>вторизация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организации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мероприятия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заявки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задачи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часы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достижения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сертификаты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аналитика</a:t>
            </a:r>
            <a:endParaRPr sz="15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169" name="Rounded Rectangle 168"/>
          <p:cNvSpPr/>
          <p:nvPr/>
        </p:nvSpPr>
        <p:spPr>
          <a:xfrm>
            <a:off x="5715000" y="3669934"/>
            <a:ext cx="566928" cy="329184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↓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640080" y="4059936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40080" y="4059936"/>
            <a:ext cx="30632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14400" y="4215384"/>
            <a:ext cx="2331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50" b="1" dirty="0" err="1">
                <a:solidFill>
                  <a:srgbClr val="FFFFFF"/>
                </a:solidFill>
                <a:latin typeface="Arial"/>
              </a:rPr>
              <a:t>Уровень</a:t>
            </a:r>
            <a:r>
              <a:rPr sz="16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50" b="1" dirty="0" err="1">
                <a:solidFill>
                  <a:srgbClr val="FFFFFF"/>
                </a:solidFill>
                <a:latin typeface="Arial"/>
              </a:rPr>
              <a:t>данных</a:t>
            </a:r>
            <a:endParaRPr sz="16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914400" y="4581144"/>
            <a:ext cx="2331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977639" y="4189845"/>
            <a:ext cx="69037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500" dirty="0" err="1">
                <a:solidFill>
                  <a:srgbClr val="1F2637"/>
                </a:solidFill>
                <a:latin typeface="Arial"/>
              </a:rPr>
              <a:t>П</a:t>
            </a:r>
            <a:r>
              <a:rPr sz="1500" b="0" dirty="0" err="1" smtClean="0">
                <a:solidFill>
                  <a:srgbClr val="1F2637"/>
                </a:solidFill>
                <a:latin typeface="Arial"/>
              </a:rPr>
              <a:t>ользователи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роли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организации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события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, time entries, audit log и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агрегаты</a:t>
            </a:r>
            <a:r>
              <a:rPr sz="150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637"/>
                </a:solidFill>
                <a:latin typeface="Arial"/>
              </a:rPr>
              <a:t>отчетности</a:t>
            </a:r>
            <a:endParaRPr sz="150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640080" y="5257800"/>
            <a:ext cx="10881360" cy="566928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868680" y="5276532"/>
            <a:ext cx="996696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FFFFFF"/>
                </a:solidFill>
                <a:latin typeface="Arial"/>
              </a:rPr>
              <a:t>Ключевой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принцип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заявка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посещаемость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подтвержденные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часы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достижение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сертификат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и KPI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разрознены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, а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проходят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через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единую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145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59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400" b="1" dirty="0" err="1">
                <a:solidFill>
                  <a:srgbClr val="FFFFFF"/>
                </a:solidFill>
                <a:latin typeface="Arial"/>
              </a:rPr>
              <a:t>Модель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покрывает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обязательный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контур</a:t>
            </a:r>
            <a:r>
              <a:rPr sz="24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Arial"/>
              </a:rPr>
              <a:t>управления</a:t>
            </a:r>
            <a:endParaRPr lang="en-GB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3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4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6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183"/>
          <p:cNvSpPr/>
          <p:nvPr/>
        </p:nvSpPr>
        <p:spPr>
          <a:xfrm>
            <a:off x="640080" y="11704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68680" y="1246152"/>
            <a:ext cx="20574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Пользователи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роли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2880360" y="135086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 dirty="0">
                <a:solidFill>
                  <a:srgbClr val="5B6476"/>
                </a:solidFill>
                <a:latin typeface="Arial"/>
              </a:rPr>
              <a:t>users, </a:t>
            </a:r>
            <a:r>
              <a:rPr sz="1180" b="0" dirty="0" err="1">
                <a:solidFill>
                  <a:srgbClr val="5B6476"/>
                </a:solidFill>
                <a:latin typeface="Arial"/>
              </a:rPr>
              <a:t>system_roles</a:t>
            </a:r>
            <a:r>
              <a:rPr sz="1180" b="0" dirty="0">
                <a:solidFill>
                  <a:srgbClr val="5B6476"/>
                </a:solidFill>
                <a:latin typeface="Arial"/>
              </a:rPr>
              <a:t>, memberships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40080" y="20848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868680" y="2164233"/>
            <a:ext cx="20574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Организации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события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2880360" y="2268945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organizations, events, applications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40080" y="29992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868680" y="3138677"/>
            <a:ext cx="2057400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Работа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вклад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2880360" y="3131820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 dirty="0">
                <a:solidFill>
                  <a:srgbClr val="5B6476"/>
                </a:solidFill>
                <a:latin typeface="Arial"/>
              </a:rPr>
              <a:t>tasks, attendance, </a:t>
            </a:r>
            <a:r>
              <a:rPr sz="1180" b="0" dirty="0" err="1">
                <a:solidFill>
                  <a:srgbClr val="5B6476"/>
                </a:solidFill>
                <a:latin typeface="Arial"/>
              </a:rPr>
              <a:t>time_entries</a:t>
            </a:r>
            <a:endParaRPr sz="118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193" name="Rounded Rectangle 192"/>
          <p:cNvSpPr/>
          <p:nvPr/>
        </p:nvSpPr>
        <p:spPr>
          <a:xfrm>
            <a:off x="640080" y="3913632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868680" y="3942951"/>
            <a:ext cx="205740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 dirty="0" err="1">
                <a:solidFill>
                  <a:srgbClr val="2E5AAC"/>
                </a:solidFill>
                <a:latin typeface="Arial"/>
              </a:rPr>
              <a:t>Мотивация</a:t>
            </a:r>
            <a:r>
              <a:rPr sz="1450" b="1" dirty="0">
                <a:solidFill>
                  <a:srgbClr val="2E5AAC"/>
                </a:solidFill>
                <a:latin typeface="Arial"/>
              </a:rPr>
              <a:t> и </a:t>
            </a:r>
            <a:r>
              <a:rPr sz="1450" b="1" dirty="0" err="1">
                <a:solidFill>
                  <a:srgbClr val="2E5AAC"/>
                </a:solidFill>
                <a:latin typeface="Arial"/>
              </a:rPr>
              <a:t>отчетность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880360" y="4047663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5B6476"/>
                </a:solidFill>
                <a:latin typeface="Arial"/>
              </a:rPr>
              <a:t>achievements, certificates, analytics, audit_log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77240" y="4775285"/>
            <a:ext cx="507492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dirty="0" err="1">
                <a:solidFill>
                  <a:srgbClr val="1F2637"/>
                </a:solidFill>
                <a:latin typeface="Arial"/>
              </a:rPr>
              <a:t>Физическая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модель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: </a:t>
            </a:r>
            <a:r>
              <a:rPr lang="ru-RU" sz="1350" b="1" dirty="0" smtClean="0">
                <a:solidFill>
                  <a:srgbClr val="1F2637"/>
                </a:solidFill>
                <a:latin typeface="Arial"/>
              </a:rPr>
              <a:t>46</a:t>
            </a:r>
            <a:r>
              <a:rPr sz="1350" b="1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предметных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таблиц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,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внешние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ключи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,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статусы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и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журнал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1F2637"/>
                </a:solidFill>
                <a:latin typeface="Arial"/>
              </a:rPr>
              <a:t>аудита</a:t>
            </a:r>
            <a:r>
              <a:rPr sz="1350" b="1" dirty="0">
                <a:solidFill>
                  <a:srgbClr val="1F2637"/>
                </a:solidFill>
                <a:latin typeface="Arial"/>
              </a:rPr>
              <a:t>.</a:t>
            </a:r>
          </a:p>
        </p:txBody>
      </p:sp>
      <p:pic>
        <p:nvPicPr>
          <p:cNvPr id="197" name="Picture 196" descr="imag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73501"/>
            <a:ext cx="4617720" cy="2825197"/>
          </a:xfrm>
          <a:prstGeom prst="rect">
            <a:avLst/>
          </a:prstGeom>
        </p:spPr>
      </p:pic>
      <p:sp>
        <p:nvSpPr>
          <p:cNvPr id="198" name="Rounded Rectangle 197"/>
          <p:cNvSpPr/>
          <p:nvPr/>
        </p:nvSpPr>
        <p:spPr>
          <a:xfrm>
            <a:off x="6446520" y="5166360"/>
            <a:ext cx="4617720" cy="661684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6629400" y="5169420"/>
            <a:ext cx="4251960" cy="6555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 dirty="0">
                <a:solidFill>
                  <a:srgbClr val="FFFFFF"/>
                </a:solidFill>
                <a:latin typeface="Arial"/>
              </a:rPr>
              <a:t>ER-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диаграмма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ядра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данные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волонтера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связаны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с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организацией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заявками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задачами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подтвержденным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20" b="1" dirty="0" err="1">
                <a:solidFill>
                  <a:srgbClr val="FFFFFF"/>
                </a:solidFill>
                <a:latin typeface="Arial"/>
              </a:rPr>
              <a:t>вкладом</a:t>
            </a:r>
            <a:r>
              <a:rPr sz="122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185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Ключевой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сценарий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проходит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заявки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до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управленческого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отчета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4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5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7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ounded Rectangle 220"/>
          <p:cNvSpPr/>
          <p:nvPr/>
        </p:nvSpPr>
        <p:spPr>
          <a:xfrm>
            <a:off x="685800" y="1234440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ounded Rectangle 221"/>
          <p:cNvSpPr/>
          <p:nvPr/>
        </p:nvSpPr>
        <p:spPr>
          <a:xfrm>
            <a:off x="886968" y="1463040"/>
            <a:ext cx="475488" cy="47548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554480" y="1433850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dirty="0" err="1">
                <a:solidFill>
                  <a:srgbClr val="2E5AAC"/>
                </a:solidFill>
                <a:latin typeface="Arial"/>
              </a:rPr>
              <a:t>Волонтер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1554480" y="1686145"/>
            <a:ext cx="37947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350" dirty="0" err="1">
                <a:solidFill>
                  <a:srgbClr val="1F2637"/>
                </a:solidFill>
                <a:latin typeface="Arial"/>
              </a:rPr>
              <a:t>П</a:t>
            </a:r>
            <a:r>
              <a:rPr sz="1350" b="0" dirty="0" err="1" smtClean="0">
                <a:solidFill>
                  <a:srgbClr val="1F2637"/>
                </a:solidFill>
                <a:latin typeface="Arial"/>
              </a:rPr>
              <a:t>одает</a:t>
            </a:r>
            <a:r>
              <a:rPr sz="135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заявку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на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мероприятие</a:t>
            </a:r>
            <a:endParaRPr sz="135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225" name="Rounded Rectangle 224"/>
          <p:cNvSpPr/>
          <p:nvPr/>
        </p:nvSpPr>
        <p:spPr>
          <a:xfrm>
            <a:off x="6172200" y="1234440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ounded Rectangle 225"/>
          <p:cNvSpPr/>
          <p:nvPr/>
        </p:nvSpPr>
        <p:spPr>
          <a:xfrm>
            <a:off x="6373368" y="1463040"/>
            <a:ext cx="475488" cy="47548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040880" y="1463727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dirty="0" err="1">
                <a:solidFill>
                  <a:srgbClr val="2E5AAC"/>
                </a:solidFill>
                <a:latin typeface="Arial"/>
              </a:rPr>
              <a:t>Координатор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7040880" y="1716022"/>
            <a:ext cx="37947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350" dirty="0">
                <a:solidFill>
                  <a:srgbClr val="1F2637"/>
                </a:solidFill>
                <a:latin typeface="Arial"/>
              </a:rPr>
              <a:t>Р</a:t>
            </a:r>
            <a:r>
              <a:rPr sz="1350" b="0" dirty="0" err="1" smtClean="0">
                <a:solidFill>
                  <a:srgbClr val="1F2637"/>
                </a:solidFill>
                <a:latin typeface="Arial"/>
              </a:rPr>
              <a:t>ассматривает</a:t>
            </a:r>
            <a:r>
              <a:rPr sz="135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заявку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и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фиксирует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участие</a:t>
            </a:r>
            <a:endParaRPr sz="135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85800" y="2532888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Rounded Rectangle 229"/>
          <p:cNvSpPr/>
          <p:nvPr/>
        </p:nvSpPr>
        <p:spPr>
          <a:xfrm>
            <a:off x="886968" y="2761488"/>
            <a:ext cx="475488" cy="475488"/>
          </a:xfrm>
          <a:prstGeom prst="round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554480" y="2644595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Система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554480" y="2875842"/>
            <a:ext cx="379476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350" b="0" dirty="0" smtClean="0">
                <a:solidFill>
                  <a:srgbClr val="1F2637"/>
                </a:solidFill>
                <a:latin typeface="Arial"/>
              </a:rPr>
              <a:t>С</a:t>
            </a:r>
            <a:r>
              <a:rPr sz="1350" b="0" dirty="0" err="1" smtClean="0">
                <a:solidFill>
                  <a:srgbClr val="1F2637"/>
                </a:solidFill>
                <a:latin typeface="Arial"/>
              </a:rPr>
              <a:t>вязывает</a:t>
            </a:r>
            <a:r>
              <a:rPr sz="135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мероприятие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,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задачу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и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запись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времени</a:t>
            </a:r>
            <a:endParaRPr sz="135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233" name="Rounded Rectangle 232"/>
          <p:cNvSpPr/>
          <p:nvPr/>
        </p:nvSpPr>
        <p:spPr>
          <a:xfrm>
            <a:off x="6172200" y="2532888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ounded Rectangle 233"/>
          <p:cNvSpPr/>
          <p:nvPr/>
        </p:nvSpPr>
        <p:spPr>
          <a:xfrm>
            <a:off x="6373368" y="2761488"/>
            <a:ext cx="475488" cy="475488"/>
          </a:xfrm>
          <a:prstGeom prst="roundRect">
            <a:avLst/>
          </a:prstGeom>
          <a:solidFill>
            <a:srgbClr val="2E5AAC"/>
          </a:solidFill>
          <a:ln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040880" y="2762175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dirty="0" err="1">
                <a:solidFill>
                  <a:srgbClr val="2E5AAC"/>
                </a:solidFill>
                <a:latin typeface="Arial"/>
              </a:rPr>
              <a:t>Координатор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040880" y="3014470"/>
            <a:ext cx="37947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350" dirty="0">
                <a:solidFill>
                  <a:srgbClr val="1F2637"/>
                </a:solidFill>
                <a:latin typeface="Arial"/>
              </a:rPr>
              <a:t>П</a:t>
            </a:r>
            <a:r>
              <a:rPr sz="1350" b="0" dirty="0" err="1" smtClean="0">
                <a:solidFill>
                  <a:srgbClr val="1F2637"/>
                </a:solidFill>
                <a:latin typeface="Arial"/>
              </a:rPr>
              <a:t>одтверждает</a:t>
            </a:r>
            <a:r>
              <a:rPr sz="135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часы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по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основанию</a:t>
            </a:r>
            <a:endParaRPr sz="135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237" name="Rounded Rectangle 236"/>
          <p:cNvSpPr/>
          <p:nvPr/>
        </p:nvSpPr>
        <p:spPr>
          <a:xfrm>
            <a:off x="685800" y="3831335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ounded Rectangle 237"/>
          <p:cNvSpPr/>
          <p:nvPr/>
        </p:nvSpPr>
        <p:spPr>
          <a:xfrm>
            <a:off x="886968" y="4059935"/>
            <a:ext cx="475488" cy="475488"/>
          </a:xfrm>
          <a:prstGeom prst="roundRect">
            <a:avLst/>
          </a:prstGeom>
          <a:solidFill>
            <a:srgbClr val="1F9D72"/>
          </a:solidFill>
          <a:ln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554480" y="3900201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dirty="0" err="1">
                <a:solidFill>
                  <a:srgbClr val="2E5AAC"/>
                </a:solidFill>
                <a:latin typeface="Arial"/>
              </a:rPr>
              <a:t>Пульс</a:t>
            </a:r>
            <a:endParaRPr sz="1450" b="1" dirty="0">
              <a:solidFill>
                <a:srgbClr val="2E5AAC"/>
              </a:solidFill>
              <a:latin typeface="Arial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554480" y="4172467"/>
            <a:ext cx="379476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350" dirty="0" err="1">
                <a:solidFill>
                  <a:srgbClr val="1F2637"/>
                </a:solidFill>
                <a:latin typeface="Arial"/>
              </a:rPr>
              <a:t>Н</a:t>
            </a:r>
            <a:r>
              <a:rPr sz="1350" b="0" dirty="0" err="1" smtClean="0">
                <a:solidFill>
                  <a:srgbClr val="1F2637"/>
                </a:solidFill>
                <a:latin typeface="Arial"/>
              </a:rPr>
              <a:t>ачисляет</a:t>
            </a:r>
            <a:r>
              <a:rPr sz="135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достижения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и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формирует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сертификат</a:t>
            </a:r>
            <a:endParaRPr sz="135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241" name="Rounded Rectangle 240"/>
          <p:cNvSpPr/>
          <p:nvPr/>
        </p:nvSpPr>
        <p:spPr>
          <a:xfrm>
            <a:off x="6172200" y="3831335"/>
            <a:ext cx="5120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ounded Rectangle 241"/>
          <p:cNvSpPr/>
          <p:nvPr/>
        </p:nvSpPr>
        <p:spPr>
          <a:xfrm>
            <a:off x="6373368" y="4059935"/>
            <a:ext cx="475488" cy="475488"/>
          </a:xfrm>
          <a:prstGeom prst="roundRect">
            <a:avLst/>
          </a:prstGeom>
          <a:solidFill>
            <a:srgbClr val="323C8D"/>
          </a:solidFill>
          <a:ln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040880" y="4060622"/>
            <a:ext cx="1508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2E5AAC"/>
                </a:solidFill>
                <a:latin typeface="Arial"/>
              </a:rPr>
              <a:t>Руководитель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040880" y="4289222"/>
            <a:ext cx="379476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350" dirty="0">
                <a:solidFill>
                  <a:srgbClr val="1F2637"/>
                </a:solidFill>
                <a:latin typeface="Arial"/>
              </a:rPr>
              <a:t>В</a:t>
            </a:r>
            <a:r>
              <a:rPr sz="1350" b="0" dirty="0" err="1" smtClean="0">
                <a:solidFill>
                  <a:srgbClr val="1F2637"/>
                </a:solidFill>
                <a:latin typeface="Arial"/>
              </a:rPr>
              <a:t>идит</a:t>
            </a:r>
            <a:r>
              <a:rPr sz="1350" b="0" dirty="0" smtClean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KPI и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выгружает</a:t>
            </a:r>
            <a:r>
              <a:rPr sz="1350" b="0" dirty="0">
                <a:solidFill>
                  <a:srgbClr val="1F2637"/>
                </a:solidFill>
                <a:latin typeface="Arial"/>
              </a:rPr>
              <a:t> </a:t>
            </a:r>
            <a:r>
              <a:rPr sz="1350" b="0" dirty="0" err="1">
                <a:solidFill>
                  <a:srgbClr val="1F2637"/>
                </a:solidFill>
                <a:latin typeface="Arial"/>
              </a:rPr>
              <a:t>отчет</a:t>
            </a:r>
            <a:endParaRPr sz="1350" b="0" dirty="0">
              <a:solidFill>
                <a:srgbClr val="1F2637"/>
              </a:solidFill>
              <a:latin typeface="Arial"/>
            </a:endParaRPr>
          </a:p>
        </p:txBody>
      </p:sp>
      <p:sp>
        <p:nvSpPr>
          <p:cNvPr id="245" name="Rounded Rectangle 244"/>
          <p:cNvSpPr/>
          <p:nvPr/>
        </p:nvSpPr>
        <p:spPr>
          <a:xfrm>
            <a:off x="685800" y="5422391"/>
            <a:ext cx="10561320" cy="665381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914400" y="5466704"/>
            <a:ext cx="10012680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dirty="0" err="1">
                <a:solidFill>
                  <a:srgbClr val="FFFFFF"/>
                </a:solidFill>
                <a:latin typeface="Arial"/>
              </a:rPr>
              <a:t>Главный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результат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сценария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управленческие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показатели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строятся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подтвержденных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операционных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данных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, а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ручном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сведении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</a:rPr>
              <a:t>таблиц</a:t>
            </a:r>
            <a:r>
              <a:rPr sz="135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2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Реализованный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интерфейс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закрывает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основные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роли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8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ounded Rectangle 225"/>
          <p:cNvSpPr/>
          <p:nvPr/>
        </p:nvSpPr>
        <p:spPr>
          <a:xfrm>
            <a:off x="68580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7" name="Picture 226" descr="image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234440"/>
            <a:ext cx="3118104" cy="1481328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850392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вход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438912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0" name="Picture 229" descr="image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1234440"/>
            <a:ext cx="3118104" cy="1481328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4553712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панель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8092440" y="112471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3" name="Picture 232" descr="image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7" y="1234440"/>
            <a:ext cx="3118104" cy="1481328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8257031" y="275234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мероприятия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8580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6" name="Picture 235" descr="image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474720"/>
            <a:ext cx="3118104" cy="1481328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850392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задачи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438912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9" name="Picture 238" descr="image1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848" y="3474720"/>
            <a:ext cx="3118104" cy="1481328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4553712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часы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8092440" y="3364992"/>
            <a:ext cx="333756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2" name="Picture 241" descr="image1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167" y="3474720"/>
            <a:ext cx="3118104" cy="1481328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8257031" y="4992624"/>
            <a:ext cx="2971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2E5AAC"/>
                </a:solidFill>
                <a:latin typeface="Arial"/>
              </a:rPr>
              <a:t>сертификаты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77240" y="5687568"/>
            <a:ext cx="10424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dirty="0" err="1">
                <a:solidFill>
                  <a:srgbClr val="5B6476"/>
                </a:solidFill>
                <a:latin typeface="Arial"/>
              </a:rPr>
              <a:t>Экранные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формы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показывают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что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результат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работы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не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ограничен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схемами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: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реализованы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рабочие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разделы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для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заявок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задач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часов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,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сертификатов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 и </a:t>
            </a:r>
            <a:r>
              <a:rPr sz="1250" b="0" dirty="0" err="1">
                <a:solidFill>
                  <a:srgbClr val="5B6476"/>
                </a:solidFill>
                <a:latin typeface="Arial"/>
              </a:rPr>
              <a:t>администрирования</a:t>
            </a:r>
            <a:r>
              <a:rPr sz="1250" b="0" dirty="0">
                <a:solidFill>
                  <a:srgbClr val="5B647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27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800" b="1" dirty="0" err="1">
                <a:solidFill>
                  <a:srgbClr val="FFFFFF"/>
                </a:solidFill>
                <a:latin typeface="Arial"/>
              </a:rPr>
              <a:t>Проверка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работоспособности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что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подтверждено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8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9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ounded Rectangle 256"/>
          <p:cNvSpPr/>
          <p:nvPr/>
        </p:nvSpPr>
        <p:spPr>
          <a:xfrm>
            <a:off x="685800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/>
          <p:cNvSpPr txBox="1"/>
          <p:nvPr/>
        </p:nvSpPr>
        <p:spPr>
          <a:xfrm>
            <a:off x="822960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npm build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22960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успешно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22960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1782 модуля Vite</a:t>
            </a:r>
          </a:p>
        </p:txBody>
      </p:sp>
      <p:sp>
        <p:nvSpPr>
          <p:cNvPr id="261" name="Rounded Rectangle 260"/>
          <p:cNvSpPr/>
          <p:nvPr/>
        </p:nvSpPr>
        <p:spPr>
          <a:xfrm>
            <a:off x="3447288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/>
          <p:cNvSpPr txBox="1"/>
          <p:nvPr/>
        </p:nvSpPr>
        <p:spPr>
          <a:xfrm>
            <a:off x="3584448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go test ./...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3584448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E5AAC"/>
                </a:solidFill>
                <a:latin typeface="Arial"/>
              </a:rPr>
              <a:t>сборка OK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584448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автотестов нет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208776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6345936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Профиль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345936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проверен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345936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миграция 020 + API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970264" y="1234440"/>
            <a:ext cx="24231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9107424" y="1353312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5B6476"/>
                </a:solidFill>
                <a:latin typeface="Arial"/>
              </a:rPr>
              <a:t>Аватар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9107424" y="1609344"/>
            <a:ext cx="2148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9D72"/>
                </a:solidFill>
                <a:latin typeface="Arial"/>
              </a:rPr>
              <a:t>проверен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107424" y="1947672"/>
            <a:ext cx="21488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0">
                <a:solidFill>
                  <a:srgbClr val="5B6476"/>
                </a:solidFill>
                <a:latin typeface="Arial"/>
              </a:rPr>
              <a:t>upload PNG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685800" y="2697480"/>
            <a:ext cx="52578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/>
          <p:cNvSpPr txBox="1"/>
          <p:nvPr/>
        </p:nvSpPr>
        <p:spPr>
          <a:xfrm>
            <a:off x="914400" y="2852928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Матрица сценариев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960120" y="333756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подтверждено запуском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3108960" y="337413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Rounded Rectangle 276"/>
          <p:cNvSpPr/>
          <p:nvPr/>
        </p:nvSpPr>
        <p:spPr>
          <a:xfrm>
            <a:off x="3108960" y="3374136"/>
            <a:ext cx="2011680" cy="146304"/>
          </a:xfrm>
          <a:prstGeom prst="roundRect">
            <a:avLst/>
          </a:prstGeom>
          <a:solidFill>
            <a:srgbClr val="1F9D72"/>
          </a:solidFill>
          <a:ln w="12700">
            <a:solidFill>
              <a:srgbClr val="1F9D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5120640" y="33101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1F9D72"/>
                </a:solidFill>
                <a:latin typeface="Arial"/>
              </a:rPr>
              <a:t>4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60120" y="384048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подтверждено реализацией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3108960" y="387705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Rounded Rectangle 280"/>
          <p:cNvSpPr/>
          <p:nvPr/>
        </p:nvSpPr>
        <p:spPr>
          <a:xfrm>
            <a:off x="3108960" y="3877056"/>
            <a:ext cx="1005840" cy="146304"/>
          </a:xfrm>
          <a:prstGeom prst="round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512064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2E5AAC"/>
                </a:solidFill>
                <a:latin typeface="Arial"/>
              </a:rPr>
              <a:t>2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960120" y="4343400"/>
            <a:ext cx="2103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1F2637"/>
                </a:solidFill>
                <a:latin typeface="Arial"/>
              </a:rPr>
              <a:t>требует опытной проверки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3108960" y="4379976"/>
            <a:ext cx="2011680" cy="146304"/>
          </a:xfrm>
          <a:prstGeom prst="roundRect">
            <a:avLst/>
          </a:prstGeom>
          <a:solidFill>
            <a:srgbClr val="EAECF6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ounded Rectangle 284"/>
          <p:cNvSpPr/>
          <p:nvPr/>
        </p:nvSpPr>
        <p:spPr>
          <a:xfrm>
            <a:off x="3108960" y="4379976"/>
            <a:ext cx="1005840" cy="146304"/>
          </a:xfrm>
          <a:prstGeom prst="round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5120640" y="43159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C0392B"/>
                </a:solidFill>
                <a:latin typeface="Arial"/>
              </a:rPr>
              <a:t>2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14400" y="4983480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5B6476"/>
                </a:solidFill>
                <a:latin typeface="Arial"/>
              </a:rPr>
              <a:t>Формулировка результата остается корректной: подтверждены сборка, часть API и реализованный контур; полный приемочный вывод переносится в пилот.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6263640" y="2697480"/>
            <a:ext cx="49834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6492240" y="2852928"/>
            <a:ext cx="4480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Ограничения закрываются планом пилота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492240" y="3273552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чистая PostgreSQL и миграции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сценарий заявка -&gt; часы -&gt; аналитика -&gt; сертификат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unit/integration tests прав доступа</a:t>
            </a:r>
          </a:p>
          <a:p>
            <a:pPr>
              <a:spcAft>
                <a:spcPts val="300"/>
              </a:spcAft>
              <a:defRPr sz="1250">
                <a:solidFill>
                  <a:srgbClr val="1F2637"/>
                </a:solidFill>
                <a:latin typeface="Arial"/>
              </a:defRPr>
            </a:pPr>
            <a:r>
              <a:t>измерение времени на контрольных сценариях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 0" descr="header_bar.png"/>
          <p:cNvPicPr/>
          <p:nvPr/>
        </p:nvPicPr>
        <p:blipFill>
          <a:blip r:embed="rId3"/>
          <a:stretch/>
        </p:blipFill>
        <p:spPr>
          <a:xfrm>
            <a:off x="0" y="0"/>
            <a:ext cx="12188520" cy="946080"/>
          </a:xfrm>
          <a:prstGeom prst="rect">
            <a:avLst/>
          </a:prstGeom>
          <a:ln w="0">
            <a:noFill/>
          </a:ln>
        </p:spPr>
      </p:pic>
      <p:sp>
        <p:nvSpPr>
          <p:cNvPr id="258" name="Text 0"/>
          <p:cNvSpPr/>
          <p:nvPr/>
        </p:nvSpPr>
        <p:spPr>
          <a:xfrm>
            <a:off x="1325880" y="0"/>
            <a:ext cx="9811080" cy="946080"/>
          </a:xfrm>
          <a:prstGeom prst="rect">
            <a:avLst/>
          </a:prstGeom>
          <a:noFill/>
          <a:ln w="0">
            <a:noFill/>
          </a:ln>
          <a:effectLst>
            <a:outerShdw blurRad="38160" dist="12600" dir="5400000" algn="bl" rotWithShape="0">
              <a:srgbClr val="1A205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2000" b="1" dirty="0" err="1">
                <a:solidFill>
                  <a:srgbClr val="FFFFFF"/>
                </a:solidFill>
                <a:latin typeface="Arial"/>
              </a:rPr>
              <a:t>Практический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эффект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: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меньше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ручного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сведения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быстрее</a:t>
            </a:r>
            <a:r>
              <a:rPr sz="20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/>
              </a:rPr>
              <a:t>сценарии</a:t>
            </a:r>
            <a:endParaRPr lang="en-GB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6"/>
          <p:cNvSpPr/>
          <p:nvPr/>
        </p:nvSpPr>
        <p:spPr>
          <a:xfrm>
            <a:off x="640080" y="649224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5A6473"/>
                </a:solidFill>
                <a:latin typeface="Calibri"/>
                <a:ea typeface="Calibri"/>
              </a:rPr>
              <a:t>ФГБОУ ВО «МГТУ им. Г.И. Носова» · Институт энергетики и автоматизированных систем</a:t>
            </a:r>
            <a:endParaRPr lang="en-GB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7"/>
          <p:cNvSpPr/>
          <p:nvPr/>
        </p:nvSpPr>
        <p:spPr>
          <a:xfrm>
            <a:off x="112744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400" b="0">
                <a:solidFill>
                  <a:srgbClr val="5B6476"/>
                </a:solidFill>
                <a:latin typeface="Arial"/>
              </a:rPr>
              <a:t>10</a:t>
            </a:r>
            <a:endParaRPr lang="en-GB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277"/>
          <p:cNvSpPr txBox="1"/>
          <p:nvPr/>
        </p:nvSpPr>
        <p:spPr>
          <a:xfrm>
            <a:off x="731520" y="1252728"/>
            <a:ext cx="5120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B6476"/>
                </a:solidFill>
                <a:latin typeface="Arial"/>
              </a:rPr>
              <a:t>Расчетная оценка времени основных сценариев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896112" y="2372868"/>
            <a:ext cx="1377695" cy="1376172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896112" y="2061972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35 с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5039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заявка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2602992" y="1979676"/>
            <a:ext cx="1377695" cy="1769364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2602992" y="1668780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45 с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55727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часы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309872" y="1783080"/>
            <a:ext cx="1377695" cy="1965960"/>
          </a:xfrm>
          <a:prstGeom prst="rect">
            <a:avLst/>
          </a:prstGeom>
          <a:solidFill>
            <a:srgbClr val="2E5AAC"/>
          </a:solidFill>
          <a:ln w="12700">
            <a:solidFill>
              <a:srgbClr val="2E5A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4309872" y="1472184"/>
            <a:ext cx="137769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E5AAC"/>
                </a:solidFill>
                <a:latin typeface="Arial"/>
              </a:rPr>
              <a:t>50 с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264152" y="3794760"/>
            <a:ext cx="146913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5B6476"/>
                </a:solidFill>
                <a:latin typeface="Arial"/>
              </a:rPr>
              <a:t>KPI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731520" y="3749040"/>
            <a:ext cx="5120640" cy="9144"/>
          </a:xfrm>
          <a:prstGeom prst="rect">
            <a:avLst/>
          </a:prstGeom>
          <a:solidFill>
            <a:srgbClr val="EAECF6"/>
          </a:solidFill>
          <a:ln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Rounded Rectangle 288"/>
          <p:cNvSpPr/>
          <p:nvPr/>
        </p:nvSpPr>
        <p:spPr>
          <a:xfrm>
            <a:off x="6263640" y="1234440"/>
            <a:ext cx="489204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6492240" y="1417320"/>
            <a:ext cx="4434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E5AAC"/>
                </a:solidFill>
                <a:latin typeface="Arial"/>
              </a:rPr>
              <a:t>Что заменяет система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492240" y="1874519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Сбор заявок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001000" y="1854167"/>
            <a:ext cx="27889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150" dirty="0">
                <a:solidFill>
                  <a:srgbClr val="5B6476"/>
                </a:solidFill>
                <a:latin typeface="Arial"/>
              </a:rPr>
              <a:t>С</a:t>
            </a:r>
            <a:r>
              <a:rPr sz="1150" b="0" dirty="0" err="1" smtClean="0">
                <a:solidFill>
                  <a:srgbClr val="5B6476"/>
                </a:solidFill>
                <a:latin typeface="Arial"/>
              </a:rPr>
              <a:t>татусная</a:t>
            </a:r>
            <a:r>
              <a:rPr sz="115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заявка</a:t>
            </a:r>
            <a:r>
              <a:rPr sz="1150" b="0" dirty="0">
                <a:solidFill>
                  <a:srgbClr val="5B6476"/>
                </a:solidFill>
                <a:latin typeface="Arial"/>
              </a:rPr>
              <a:t> в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системе</a:t>
            </a:r>
            <a:endParaRPr sz="115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6492240" y="231343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Учет часов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001000" y="2293080"/>
            <a:ext cx="278892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150" dirty="0">
                <a:solidFill>
                  <a:srgbClr val="5B6476"/>
                </a:solidFill>
                <a:latin typeface="Arial"/>
              </a:rPr>
              <a:t>З</a:t>
            </a:r>
            <a:r>
              <a:rPr sz="1150" b="0" dirty="0" err="1" smtClean="0">
                <a:solidFill>
                  <a:srgbClr val="5B6476"/>
                </a:solidFill>
                <a:latin typeface="Arial"/>
              </a:rPr>
              <a:t>апись</a:t>
            </a:r>
            <a:r>
              <a:rPr sz="115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связана</a:t>
            </a:r>
            <a:r>
              <a:rPr sz="1150" b="0" dirty="0">
                <a:solidFill>
                  <a:srgbClr val="5B6476"/>
                </a:solidFill>
                <a:latin typeface="Arial"/>
              </a:rPr>
              <a:t> с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задачей</a:t>
            </a:r>
            <a:r>
              <a:rPr sz="1150" b="0" dirty="0">
                <a:solidFill>
                  <a:srgbClr val="5B6476"/>
                </a:solidFill>
                <a:latin typeface="Arial"/>
              </a:rPr>
              <a:t>/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событием</a:t>
            </a:r>
            <a:endParaRPr sz="115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6492240" y="2752344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Сертификат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8001000" y="2643506"/>
            <a:ext cx="278892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150" dirty="0">
                <a:solidFill>
                  <a:srgbClr val="5B6476"/>
                </a:solidFill>
                <a:latin typeface="Arial"/>
              </a:rPr>
              <a:t>Ф</a:t>
            </a:r>
            <a:r>
              <a:rPr sz="1150" b="0" dirty="0" err="1" smtClean="0">
                <a:solidFill>
                  <a:srgbClr val="5B6476"/>
                </a:solidFill>
                <a:latin typeface="Arial"/>
              </a:rPr>
              <a:t>ормируется</a:t>
            </a:r>
            <a:r>
              <a:rPr sz="1150" b="0" dirty="0" smtClean="0">
                <a:solidFill>
                  <a:srgbClr val="5B6476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по</a:t>
            </a:r>
            <a:r>
              <a:rPr sz="11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подтвержденным</a:t>
            </a:r>
            <a:r>
              <a:rPr sz="1150" b="0" dirty="0">
                <a:solidFill>
                  <a:srgbClr val="5B6476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5B6476"/>
                </a:solidFill>
                <a:latin typeface="Arial"/>
              </a:rPr>
              <a:t>данным</a:t>
            </a:r>
            <a:endParaRPr sz="1150" b="0" dirty="0">
              <a:solidFill>
                <a:srgbClr val="5B6476"/>
              </a:solidFill>
              <a:latin typeface="Arial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6492240" y="3191256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F2637"/>
                </a:solidFill>
                <a:latin typeface="Arial"/>
              </a:rPr>
              <a:t>Отчетность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001000" y="319125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B6476"/>
                </a:solidFill>
                <a:latin typeface="Arial"/>
              </a:rPr>
              <a:t>KPI строятся из операционной БД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731520" y="4434840"/>
            <a:ext cx="10424160" cy="1051560"/>
          </a:xfrm>
          <a:prstGeom prst="roundRect">
            <a:avLst/>
          </a:prstGeom>
          <a:solidFill>
            <a:srgbClr val="323C8D"/>
          </a:solidFill>
          <a:ln w="12700">
            <a:solidFill>
              <a:srgbClr val="323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1005840" y="4522039"/>
            <a:ext cx="9875520" cy="8771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 err="1">
                <a:solidFill>
                  <a:srgbClr val="FFFFFF"/>
                </a:solidFill>
                <a:latin typeface="Arial"/>
              </a:rPr>
              <a:t>Практическая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значимость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: «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Пульс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»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можно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использовать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как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основу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автоматизации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малых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средних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волонтерских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организаций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,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студенческих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объединений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и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социальных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проектов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1828800" y="265176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4200" b="1">
                <a:solidFill>
                  <a:srgbClr val="323C8D"/>
                </a:solidFill>
                <a:latin typeface="Arial"/>
              </a:rPr>
              <a:t>Спасибо за внимание!</a:t>
            </a:r>
            <a:endParaRPr lang="en-GB" sz="4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1828800" y="384048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sz="1800" b="0">
                <a:solidFill>
                  <a:srgbClr val="5B6476"/>
                </a:solidFill>
                <a:latin typeface="Arial"/>
              </a:rPr>
              <a:t>Информационная система «Пульс»: заявки, задачи, часы, достижения, сертификаты и аналитика в едином контуре</a:t>
            </a:r>
            <a:endParaRPr lang="en-GB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892</Words>
  <Application>Microsoft Office PowerPoint</Application>
  <PresentationFormat>Широкоэкранный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DejaVu Sans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ВКР — AI Image Editor</dc:title>
  <dc:subject>PptxGenJS Presentation</dc:subject>
  <dc:creator>Поляков С.А.</dc:creator>
  <dc:description/>
  <cp:lastModifiedBy>Павел</cp:lastModifiedBy>
  <cp:revision>5</cp:revision>
  <dcterms:created xsi:type="dcterms:W3CDTF">2026-06-15T16:22:23Z</dcterms:created>
  <dcterms:modified xsi:type="dcterms:W3CDTF">2026-06-17T03:25:01Z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