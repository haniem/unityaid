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8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580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986D-4B21-4B91-B1D2-5CFC0D3D8AEF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3714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C:\Users\Андрей\Desktop\1\Безымянный-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83153" cy="6864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ямоугольник 12"/>
          <p:cNvSpPr>
            <a:spLocks noChangeArrowheads="1"/>
          </p:cNvSpPr>
          <p:nvPr/>
        </p:nvSpPr>
        <p:spPr bwMode="auto">
          <a:xfrm>
            <a:off x="1951630" y="209528"/>
            <a:ext cx="10099343" cy="1701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600" dirty="0">
                <a:solidFill>
                  <a:srgbClr val="323C8D"/>
                </a:solidFill>
                <a:latin typeface="Century Gothic" panose="020B0502020202020204" pitchFamily="34" charset="0"/>
              </a:rPr>
              <a:t>«</a:t>
            </a: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Министерство образования и науки Российской Федерации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Федеральное государственное бюджетное образовательное учреждение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высшего образования «Магнитогорский государственный технический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Университет им. Г.И. Носова»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220871" y="5615001"/>
            <a:ext cx="84616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Выполнил: студент группы </a:t>
            </a:r>
            <a:r>
              <a:rPr lang="ru-RU" altLang="ru-RU" dirty="0" smtClean="0">
                <a:solidFill>
                  <a:srgbClr val="323C8D"/>
                </a:solidFill>
                <a:latin typeface="Century Gothic" panose="020B0502020202020204" pitchFamily="34" charset="0"/>
              </a:rPr>
              <a:t>АВб-22-2                                 	        </a:t>
            </a:r>
            <a:r>
              <a:rPr lang="ru-RU" altLang="ru-RU" dirty="0" err="1" smtClean="0">
                <a:solidFill>
                  <a:srgbClr val="323C8D"/>
                </a:solidFill>
                <a:latin typeface="Century Gothic" panose="020B0502020202020204" pitchFamily="34" charset="0"/>
              </a:rPr>
              <a:t>З</a:t>
            </a:r>
            <a:r>
              <a:rPr lang="ru-RU" altLang="ru-RU" dirty="0" err="1" smtClean="0">
                <a:solidFill>
                  <a:srgbClr val="323C8D"/>
                </a:solidFill>
                <a:latin typeface="Century Gothic" panose="020B0502020202020204" pitchFamily="34" charset="0"/>
              </a:rPr>
              <a:t>озин</a:t>
            </a:r>
            <a:r>
              <a:rPr lang="ru-RU" altLang="ru-RU" dirty="0" smtClean="0">
                <a:solidFill>
                  <a:srgbClr val="323C8D"/>
                </a:solidFill>
                <a:latin typeface="Century Gothic" panose="020B0502020202020204" pitchFamily="34" charset="0"/>
              </a:rPr>
              <a:t> П.А.</a:t>
            </a:r>
            <a:endParaRPr lang="ru-RU" altLang="ru-RU" dirty="0">
              <a:solidFill>
                <a:srgbClr val="323C8D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Руководитель: </a:t>
            </a:r>
            <a:r>
              <a:rPr lang="ru-RU" altLang="ru-RU" dirty="0" smtClean="0">
                <a:solidFill>
                  <a:srgbClr val="323C8D"/>
                </a:solidFill>
                <a:latin typeface="Century Gothic" panose="020B0502020202020204" pitchFamily="34" charset="0"/>
              </a:rPr>
              <a:t>доцент, </a:t>
            </a:r>
            <a:r>
              <a:rPr lang="ru-RU" altLang="ru-RU" dirty="0" err="1">
                <a:solidFill>
                  <a:srgbClr val="323C8D"/>
                </a:solidFill>
                <a:latin typeface="Century Gothic" panose="020B0502020202020204" pitchFamily="34" charset="0"/>
              </a:rPr>
              <a:t>к.п.н</a:t>
            </a:r>
            <a:r>
              <a:rPr lang="ru-RU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. </a:t>
            </a:r>
            <a:r>
              <a:rPr lang="ru-RU" altLang="ru-RU" dirty="0" smtClean="0">
                <a:solidFill>
                  <a:srgbClr val="323C8D"/>
                </a:solidFill>
                <a:latin typeface="Century Gothic" panose="020B0502020202020204" pitchFamily="34" charset="0"/>
              </a:rPr>
              <a:t>			          Гладышева </a:t>
            </a:r>
            <a:r>
              <a:rPr lang="ru-RU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М. М</a:t>
            </a:r>
            <a:r>
              <a:rPr lang="ru-RU" altLang="ru-RU" dirty="0" smtClean="0">
                <a:solidFill>
                  <a:srgbClr val="323C8D"/>
                </a:solidFill>
                <a:latin typeface="Century Gothic" panose="020B0502020202020204" pitchFamily="34" charset="0"/>
              </a:rPr>
              <a:t>.</a:t>
            </a:r>
            <a:endParaRPr lang="ru-RU" altLang="ru-RU" dirty="0">
              <a:solidFill>
                <a:srgbClr val="323C8D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Содержимое 9"/>
          <p:cNvSpPr txBox="1">
            <a:spLocks/>
          </p:cNvSpPr>
          <p:nvPr/>
        </p:nvSpPr>
        <p:spPr>
          <a:xfrm>
            <a:off x="1793189" y="2327762"/>
            <a:ext cx="10257784" cy="2540533"/>
          </a:xfrm>
          <a:prstGeom prst="rect">
            <a:avLst/>
          </a:prstGeom>
        </p:spPr>
        <p:txBody>
          <a:bodyPr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  <a:defRPr/>
            </a:pPr>
            <a:r>
              <a:rPr lang="ru-RU" sz="3600" b="1" cap="all" dirty="0">
                <a:solidFill>
                  <a:srgbClr val="323C8D"/>
                </a:solidFill>
                <a:latin typeface="Century Gothic" panose="020B0502020202020204" pitchFamily="34" charset="0"/>
              </a:rPr>
              <a:t>Проектирование и разработка </a:t>
            </a:r>
            <a:br>
              <a:rPr lang="ru-RU" sz="3600" b="1" cap="all" dirty="0">
                <a:solidFill>
                  <a:srgbClr val="323C8D"/>
                </a:solidFill>
                <a:latin typeface="Century Gothic" panose="020B0502020202020204" pitchFamily="34" charset="0"/>
              </a:rPr>
            </a:br>
            <a:r>
              <a:rPr lang="ru-RU" sz="3600" b="1" cap="all" dirty="0">
                <a:solidFill>
                  <a:srgbClr val="323C8D"/>
                </a:solidFill>
                <a:latin typeface="Century Gothic" panose="020B0502020202020204" pitchFamily="34" charset="0"/>
              </a:rPr>
              <a:t>информационной системы управления </a:t>
            </a:r>
            <a:r>
              <a:rPr lang="ru-RU" sz="3600" b="1" cap="all" dirty="0" smtClean="0">
                <a:solidFill>
                  <a:srgbClr val="323C8D"/>
                </a:solidFill>
                <a:latin typeface="Century Gothic" panose="020B0502020202020204" pitchFamily="34" charset="0"/>
              </a:rPr>
              <a:t>волонтерами</a:t>
            </a:r>
          </a:p>
          <a:p>
            <a:pPr marL="0" indent="0" algn="ctr">
              <a:lnSpc>
                <a:spcPct val="110000"/>
              </a:lnSpc>
              <a:buNone/>
              <a:defRPr/>
            </a:pPr>
            <a:r>
              <a:rPr lang="ru-RU" sz="3600" b="1" cap="all" dirty="0" smtClean="0">
                <a:solidFill>
                  <a:srgbClr val="323C8D"/>
                </a:solidFill>
                <a:latin typeface="Century Gothic" panose="020B0502020202020204" pitchFamily="34" charset="0"/>
              </a:rPr>
              <a:t>с элементами </a:t>
            </a:r>
            <a:r>
              <a:rPr lang="ru-RU" sz="3600" b="1" cap="all" dirty="0" err="1" smtClean="0">
                <a:solidFill>
                  <a:srgbClr val="323C8D"/>
                </a:solidFill>
                <a:latin typeface="Century Gothic" panose="020B0502020202020204" pitchFamily="34" charset="0"/>
              </a:rPr>
              <a:t>геймификации</a:t>
            </a:r>
            <a:r>
              <a:rPr lang="ru-RU" sz="3600" b="1" cap="all" dirty="0" smtClean="0">
                <a:solidFill>
                  <a:srgbClr val="323C8D"/>
                </a:solidFill>
                <a:latin typeface="Century Gothic" panose="020B0502020202020204" pitchFamily="34" charset="0"/>
              </a:rPr>
              <a:t> и аналитики</a:t>
            </a:r>
            <a:endParaRPr lang="ru-RU" sz="3600" b="1" cap="all" dirty="0">
              <a:solidFill>
                <a:srgbClr val="323C8D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7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333C8C"/>
          </a:solidFill>
          <a:ln w="12700">
            <a:solidFill>
              <a:srgbClr val="333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73152"/>
            <a:ext cx="11704320" cy="566928"/>
          </a:xfrm>
          <a:prstGeom prst="rect">
            <a:avLst/>
          </a:prstGeom>
          <a:noFill/>
          <a:ln/>
          <a:effectLst>
            <a:outerShdw blurRad="127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Цель, объект и предмет исследования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0698480" cy="868680"/>
          </a:xfrm>
          <a:prstGeom prst="rect">
            <a:avLst/>
          </a:prstGeom>
          <a:solidFill>
            <a:srgbClr val="F5F6FA"/>
          </a:solidFill>
          <a:ln w="10160">
            <a:solidFill>
              <a:srgbClr val="C8C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435608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23544" y="1764792"/>
            <a:ext cx="1040587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управления волонтерской деятельностью в организации.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450592"/>
            <a:ext cx="1069848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C8C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2560320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23544" y="2889504"/>
            <a:ext cx="104058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web-ориентированная информационная система «Пульс», обеспечивающая учет волонтеров, организаций, мероприятий, задач, времени, достижений, сертификатов и аналитических показателей.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3803904"/>
            <a:ext cx="10698480" cy="987552"/>
          </a:xfrm>
          <a:prstGeom prst="rect">
            <a:avLst/>
          </a:prstGeom>
          <a:solidFill>
            <a:srgbClr val="F5F6FA"/>
          </a:solidFill>
          <a:ln w="10160">
            <a:solidFill>
              <a:srgbClr val="C8C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3913632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23544" y="4242816"/>
            <a:ext cx="104058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повышение</a:t>
            </a:r>
            <a:r>
              <a:rPr lang="en-US" sz="145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эффективности</a:t>
            </a:r>
            <a:r>
              <a:rPr lang="en-US" sz="145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управления</a:t>
            </a:r>
            <a:r>
              <a:rPr lang="en-US" sz="145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волонтерской</a:t>
            </a:r>
            <a:r>
              <a:rPr lang="en-US" sz="145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деятельностью</a:t>
            </a:r>
            <a:r>
              <a:rPr lang="en-US" sz="145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145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</a:t>
            </a:r>
            <a:r>
              <a:rPr lang="en-US" sz="145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проектирования</a:t>
            </a:r>
            <a:r>
              <a:rPr lang="en-US" sz="145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45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разработки</a:t>
            </a:r>
            <a:r>
              <a:rPr lang="en-US" sz="145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информационной</a:t>
            </a:r>
            <a:r>
              <a:rPr lang="en-US" sz="145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</a:t>
            </a:r>
            <a:r>
              <a:rPr lang="en-US" sz="145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145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элементами</a:t>
            </a:r>
            <a:r>
              <a:rPr lang="en-US" sz="145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геймификации</a:t>
            </a:r>
            <a:r>
              <a:rPr lang="en-US" sz="145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450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аналитики</a:t>
            </a:r>
            <a:r>
              <a:rPr lang="en-US" sz="145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60120" y="5486400"/>
            <a:ext cx="10241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 разработки: связать заявки, участие, подтвержденные часы, достижения, сертификаты и отчеты в едином контуре данных.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333C8C"/>
          </a:solidFill>
          <a:ln w="12700">
            <a:solidFill>
              <a:srgbClr val="333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73152"/>
            <a:ext cx="11704320" cy="566928"/>
          </a:xfrm>
          <a:prstGeom prst="rect">
            <a:avLst/>
          </a:prstGeom>
          <a:noFill/>
          <a:ln/>
          <a:effectLst>
            <a:outerShdw blurRad="127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Задачи исследования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достижения поставленной цели необходимо выполнить следующие задачи: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874520"/>
            <a:ext cx="105156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ru-RU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</a:t>
            </a:r>
            <a:r>
              <a:rPr lang="ru-RU" sz="20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теоретико</a:t>
            </a:r>
            <a:r>
              <a:rPr lang="ru-RU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–информационный анализ управления волонтерской деятельностью, существующих решений и сформировать дерево целей и требования к Пульс</a:t>
            </a:r>
            <a:r>
              <a:rPr lang="en-US" sz="200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ru-RU" sz="2000" dirty="0" smtClean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ru-RU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спроектировать и реализовать информационную систему Пульс, включая архитектуру, модели данных, алгоритмы, интерфейс и визуализацию итогов</a:t>
            </a:r>
            <a:r>
              <a:rPr lang="en-US" sz="200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ru-RU" sz="2000" dirty="0" smtClean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ru-RU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проверку работоспособности и оценить результаты эксплуатации Пульс на ключевых пользовательских сценариях</a:t>
            </a:r>
            <a:r>
              <a:rPr lang="en-US" sz="2000" dirty="0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333C8C"/>
          </a:solidFill>
          <a:ln w="12700">
            <a:solidFill>
              <a:srgbClr val="333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73152"/>
            <a:ext cx="11704320" cy="566928"/>
          </a:xfrm>
          <a:prstGeom prst="rect">
            <a:avLst/>
          </a:prstGeom>
          <a:noFill/>
          <a:ln/>
          <a:effectLst>
            <a:outerShdw blurRad="127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Результаты аналитического исследования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46634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Проблемы текущего процесса: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516636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 волонтерах, мероприятиях и часах распределены между таблицами, формами и переписками;</a:t>
            </a:r>
            <a:endParaRPr lang="en-US" dirty="0"/>
          </a:p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координатор вручную сверяет заявки, посещаемость и записи времени;</a:t>
            </a:r>
            <a:endParaRPr lang="en-US" dirty="0"/>
          </a:p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не получает оперативную картину по подтвержденному вкладу;</a:t>
            </a:r>
            <a:endParaRPr lang="en-US" dirty="0"/>
          </a:p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сертификаты и отчеты сложно формировать на проверяемой основе.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0" y="1143000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существующих решений: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46520" y="1600200"/>
            <a:ext cx="49834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и конструкторы сайтов не содержат бизнес-логики заявок, часов и ролей;</a:t>
            </a:r>
            <a:endParaRPr lang="en-US" dirty="0"/>
          </a:p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ERP/ECM-системы избыточны для малых и средних волонтерских организаций;</a:t>
            </a:r>
            <a:endParaRPr lang="en-US" dirty="0"/>
          </a:p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проектные сервисы не закрывают специфику сертификатов, достижений и учета вклада;</a:t>
            </a:r>
            <a:endParaRPr lang="en-US" dirty="0"/>
          </a:p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поиска волонтеров слабее поддерживают внутренний контур управления организации.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необходима специализированная система, которая ведет полный цикл от заявки до подтвержденного результата.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333C8C"/>
          </a:solidFill>
          <a:ln w="12700">
            <a:solidFill>
              <a:srgbClr val="333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73152"/>
            <a:ext cx="11704320" cy="566928"/>
          </a:xfrm>
          <a:prstGeom prst="rect">
            <a:avLst/>
          </a:prstGeom>
          <a:noFill/>
          <a:ln/>
          <a:effectLst>
            <a:outerShdw blurRad="127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Логика бизнес-процесса</a:t>
            </a:r>
            <a:endParaRPr lang="en-US" sz="3400" dirty="0"/>
          </a:p>
        </p:txBody>
      </p:sp>
      <p:pic>
        <p:nvPicPr>
          <p:cNvPr id="4" name="Image 0" descr="E:\diploma\docs\diploma_document\zozin_final_diploma_files\_codex_service\generated\V5_generated\images\proce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453896"/>
            <a:ext cx="6583680" cy="40359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143000"/>
            <a:ext cx="3840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последовательность: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571232" y="1627632"/>
            <a:ext cx="388620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волонтер подает заявку на мероприятие;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координатор принимает решение и фиксирует участие;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времени проходит подтверждение;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подтвержденные данные попадают в профиль, достижения, сертификат и аналитику.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571232" y="4434840"/>
            <a:ext cx="3703320" cy="1005840"/>
          </a:xfrm>
          <a:prstGeom prst="rect">
            <a:avLst/>
          </a:prstGeom>
          <a:solidFill>
            <a:srgbClr val="F5F6FA"/>
          </a:solidFill>
          <a:ln w="10160">
            <a:solidFill>
              <a:srgbClr val="C8CE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17536" y="4544568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Важный принцип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17536" y="4873752"/>
            <a:ext cx="341071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не равна участию, а созданная запись времени не равна подтвержденному вкладу.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333C8C"/>
          </a:solidFill>
          <a:ln w="12700">
            <a:solidFill>
              <a:srgbClr val="333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73152"/>
            <a:ext cx="11704320" cy="566928"/>
          </a:xfrm>
          <a:prstGeom prst="rect">
            <a:avLst/>
          </a:prstGeom>
          <a:noFill/>
          <a:ln/>
          <a:effectLst>
            <a:outerShdw blurRad="127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Проектируемая система «Пульс»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3657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пользователей: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25146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8C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70992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Волонтер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23544" y="2039112"/>
            <a:ext cx="22219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заявки, задачи, часы, достижения, сертификаты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474720" y="1600200"/>
            <a:ext cx="2606040" cy="841248"/>
          </a:xfrm>
          <a:prstGeom prst="rect">
            <a:avLst/>
          </a:prstGeom>
          <a:solidFill>
            <a:srgbClr val="F5F6FA"/>
          </a:solidFill>
          <a:ln w="10160">
            <a:solidFill>
              <a:srgbClr val="C8C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1024" y="1709928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Координатор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21024" y="2039112"/>
            <a:ext cx="23134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мероприятия, заявки, посещаемость, подтверждение часов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25146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8C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170992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9944" y="2039112"/>
            <a:ext cx="22219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участники, роли, настройки организации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961120" y="1600200"/>
            <a:ext cx="2514600" cy="841248"/>
          </a:xfrm>
          <a:prstGeom prst="rect">
            <a:avLst/>
          </a:prstGeom>
          <a:solidFill>
            <a:srgbClr val="F5F6FA"/>
          </a:solidFill>
          <a:ln w="10160">
            <a:solidFill>
              <a:srgbClr val="C8C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07424" y="170992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07424" y="2039112"/>
            <a:ext cx="22219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аналитика, отчеты, управленческие показатели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77240" y="2880360"/>
            <a:ext cx="3840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Функциональные модули: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3401568"/>
            <a:ext cx="2240280" cy="347472"/>
          </a:xfrm>
          <a:prstGeom prst="rect">
            <a:avLst/>
          </a:prstGeom>
          <a:solidFill>
            <a:srgbClr val="333C8C"/>
          </a:solidFill>
          <a:ln w="7620">
            <a:solidFill>
              <a:srgbClr val="C8C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503295"/>
            <a:ext cx="214884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3703320" y="4512564"/>
            <a:ext cx="2240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C8C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966210"/>
            <a:ext cx="2240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C8C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3401568"/>
            <a:ext cx="2240280" cy="347472"/>
          </a:xfrm>
          <a:prstGeom prst="rect">
            <a:avLst/>
          </a:prstGeom>
          <a:solidFill>
            <a:srgbClr val="333C8C"/>
          </a:solidFill>
          <a:ln w="7620">
            <a:solidFill>
              <a:srgbClr val="C8C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0576" y="3516249"/>
            <a:ext cx="214884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914400" y="3968496"/>
            <a:ext cx="2240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C8C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079367"/>
            <a:ext cx="214884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Учет часов</a:t>
            </a:r>
            <a:endParaRPr lang="en-US" sz="1080" b="1" dirty="0"/>
          </a:p>
        </p:txBody>
      </p:sp>
      <p:sp>
        <p:nvSpPr>
          <p:cNvPr id="28" name="Shape 26"/>
          <p:cNvSpPr/>
          <p:nvPr/>
        </p:nvSpPr>
        <p:spPr>
          <a:xfrm>
            <a:off x="3657600" y="3968496"/>
            <a:ext cx="2240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C8C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7130" y="4087368"/>
            <a:ext cx="214884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 err="1" smtClean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</a:t>
            </a:r>
            <a:endParaRPr lang="en-US" sz="1080" b="1" dirty="0"/>
          </a:p>
        </p:txBody>
      </p:sp>
      <p:sp>
        <p:nvSpPr>
          <p:cNvPr id="30" name="Shape 28"/>
          <p:cNvSpPr/>
          <p:nvPr/>
        </p:nvSpPr>
        <p:spPr>
          <a:xfrm>
            <a:off x="6423660" y="3381756"/>
            <a:ext cx="2240280" cy="347472"/>
          </a:xfrm>
          <a:prstGeom prst="rect">
            <a:avLst/>
          </a:prstGeom>
          <a:solidFill>
            <a:srgbClr val="333C8C"/>
          </a:solidFill>
          <a:ln w="7620">
            <a:solidFill>
              <a:srgbClr val="C8C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082415"/>
            <a:ext cx="214884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</a:t>
            </a:r>
            <a:endParaRPr lang="en-US" sz="1080" b="1" dirty="0"/>
          </a:p>
        </p:txBody>
      </p:sp>
      <p:sp>
        <p:nvSpPr>
          <p:cNvPr id="32" name="Shape 30"/>
          <p:cNvSpPr/>
          <p:nvPr/>
        </p:nvSpPr>
        <p:spPr>
          <a:xfrm>
            <a:off x="9144000" y="3968496"/>
            <a:ext cx="2240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C8C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9720" y="4087368"/>
            <a:ext cx="214884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Геймификация</a:t>
            </a:r>
            <a:endParaRPr lang="en-US" sz="1080" b="1" dirty="0"/>
          </a:p>
        </p:txBody>
      </p:sp>
      <p:sp>
        <p:nvSpPr>
          <p:cNvPr id="34" name="Shape 32"/>
          <p:cNvSpPr/>
          <p:nvPr/>
        </p:nvSpPr>
        <p:spPr>
          <a:xfrm>
            <a:off x="914400" y="4535424"/>
            <a:ext cx="2240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C8C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4617720"/>
            <a:ext cx="214884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080" b="1" dirty="0"/>
          </a:p>
        </p:txBody>
      </p:sp>
      <p:sp>
        <p:nvSpPr>
          <p:cNvPr id="36" name="Shape 34"/>
          <p:cNvSpPr/>
          <p:nvPr/>
        </p:nvSpPr>
        <p:spPr>
          <a:xfrm>
            <a:off x="3703320" y="3374136"/>
            <a:ext cx="2240280" cy="347472"/>
          </a:xfrm>
          <a:prstGeom prst="rect">
            <a:avLst/>
          </a:prstGeom>
          <a:solidFill>
            <a:srgbClr val="333C8C"/>
          </a:solidFill>
          <a:ln w="7620">
            <a:solidFill>
              <a:srgbClr val="C8C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03320" y="4617720"/>
            <a:ext cx="214884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Сертификаты</a:t>
            </a:r>
            <a:endParaRPr lang="en-US" sz="1080" b="1" dirty="0"/>
          </a:p>
        </p:txBody>
      </p:sp>
      <p:sp>
        <p:nvSpPr>
          <p:cNvPr id="38" name="Shape 36"/>
          <p:cNvSpPr/>
          <p:nvPr/>
        </p:nvSpPr>
        <p:spPr>
          <a:xfrm>
            <a:off x="6400800" y="4535424"/>
            <a:ext cx="2240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C8CE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4645914"/>
            <a:ext cx="214884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1080" b="1" dirty="0"/>
          </a:p>
        </p:txBody>
      </p:sp>
      <p:sp>
        <p:nvSpPr>
          <p:cNvPr id="40" name="Shape 38"/>
          <p:cNvSpPr/>
          <p:nvPr/>
        </p:nvSpPr>
        <p:spPr>
          <a:xfrm>
            <a:off x="9144000" y="4535424"/>
            <a:ext cx="22402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C8C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89720" y="4645914"/>
            <a:ext cx="214884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Админ-панель</a:t>
            </a:r>
            <a:endParaRPr lang="en-US" sz="1080" b="1" dirty="0"/>
          </a:p>
        </p:txBody>
      </p:sp>
      <p:sp>
        <p:nvSpPr>
          <p:cNvPr id="42" name="Text 40"/>
          <p:cNvSpPr/>
          <p:nvPr/>
        </p:nvSpPr>
        <p:spPr>
          <a:xfrm>
            <a:off x="914400" y="5623560"/>
            <a:ext cx="10241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построена как многоорганизационное web-приложение: данные и права доступа разделяются по организациям.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745611" y="3493008"/>
            <a:ext cx="214884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Организации</a:t>
            </a:r>
            <a:endParaRPr lang="en-US" sz="1080" b="1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46520" y="3494913"/>
            <a:ext cx="214884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Мероприятия</a:t>
            </a:r>
            <a:endParaRPr lang="en-US" sz="108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333C8C"/>
          </a:solidFill>
          <a:ln w="12700">
            <a:solidFill>
              <a:srgbClr val="333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73152"/>
            <a:ext cx="11704320" cy="566928"/>
          </a:xfrm>
          <a:prstGeom prst="rect">
            <a:avLst/>
          </a:prstGeom>
          <a:noFill/>
          <a:ln/>
          <a:effectLst>
            <a:outerShdw blurRad="127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Проверка работоспособности системы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3840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Проверены сценарии: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627632"/>
            <a:ext cx="571500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регистрация, вход, обновление сессии и выход;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организаций, мероприятий, задач, новостей и базы знаний;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заявки на мероприятие и изменение статуса координатором;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создание, подтверждение и отклонение записей времени;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начисление достижений и отображение рейтинга;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и публичная проверка сертификата;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отчеты аналитики, журнал аудита и сборка frontend.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086600" y="1828800"/>
            <a:ext cx="4069080" cy="1965960"/>
          </a:xfrm>
          <a:prstGeom prst="rect">
            <a:avLst/>
          </a:prstGeom>
          <a:solidFill>
            <a:srgbClr val="F5F6FA"/>
          </a:solidFill>
          <a:ln w="10160">
            <a:solidFill>
              <a:srgbClr val="C8C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2904" y="1938528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проверки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32904" y="2267712"/>
            <a:ext cx="377647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пользовательский цикл выполняется; данные проходят через статусы и проверки прав; итоги доступны в аналитике и сертификатах.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086600" y="4206240"/>
            <a:ext cx="40690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32904" y="4315968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73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2904" y="4645152"/>
            <a:ext cx="37764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пригодна для опытной эксплуатации в малых и средних волонтерских организациях.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333C8C"/>
          </a:solidFill>
          <a:ln w="12700">
            <a:solidFill>
              <a:srgbClr val="333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73152"/>
            <a:ext cx="11704320" cy="566928"/>
          </a:xfrm>
          <a:prstGeom prst="rect">
            <a:avLst/>
          </a:prstGeom>
          <a:noFill/>
          <a:ln/>
          <a:effectLst>
            <a:outerShdw blurRad="127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Полученные результаты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7899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 разработанной информационной системы позволяет: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1028700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исключить разрозненный ручной учет волонтеров, заявок, задач и часов;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оперативно отслеживать мероприятия, участие, подтвержденные часы и вклад волонтеров;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снизить риск ошибок за счет статусов, проверок прав и журналирования действий;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поддерживать мотивацию участников через достижения, баллы, уровни и персональную статистику;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формировать сертификаты и аналитические отчеты на основании проверенных данных;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использовать систему как основу для автоматизации студенческих объединений и социальных проектов.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333C8C"/>
          </a:solidFill>
          <a:ln w="12700">
            <a:solidFill>
              <a:srgbClr val="333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49727" y="2474595"/>
            <a:ext cx="64922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4800" dirty="0">
                <a:solidFill>
                  <a:srgbClr val="27316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Спасибо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dirty="0">
                <a:solidFill>
                  <a:srgbClr val="27316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за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dirty="0">
                <a:solidFill>
                  <a:srgbClr val="27316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внимание!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05" y="6108192"/>
            <a:ext cx="12191695" cy="749808"/>
          </a:xfrm>
          <a:prstGeom prst="rect">
            <a:avLst/>
          </a:prstGeom>
          <a:solidFill>
            <a:srgbClr val="333C8C"/>
          </a:solidFill>
          <a:ln w="12700">
            <a:solidFill>
              <a:srgbClr val="333C8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614</Words>
  <Application>Microsoft Office PowerPoint</Application>
  <PresentationFormat>Широкоэкранный</PresentationFormat>
  <Paragraphs>106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Century Gothic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система управления волонтерами «Пульс»</dc:title>
  <dc:subject>Защита ВКР</dc:subject>
  <dc:creator>Зозин Павел Алексеевич</dc:creator>
  <cp:lastModifiedBy>Павел</cp:lastModifiedBy>
  <cp:revision>5</cp:revision>
  <dcterms:created xsi:type="dcterms:W3CDTF">2026-06-14T17:52:46Z</dcterms:created>
  <dcterms:modified xsi:type="dcterms:W3CDTF">2026-06-14T18:38:18Z</dcterms:modified>
</cp:coreProperties>
</file>