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5880" y="320040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науки и высшего образования Российской Федерации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43000" y="566928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ФГБОУ ВО «Магнитогорский государственный технический университет им. Г.И. Носова»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10378440" cy="0"/>
          </a:xfrm>
          <a:prstGeom prst="line">
            <a:avLst/>
          </a:prstGeom>
          <a:noFill/>
          <a:ln w="15240">
            <a:solidFill>
              <a:srgbClr val="234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Проектирование и разработка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2395728"/>
            <a:ext cx="102870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информационной системы управления волонтерами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 элементами геймификации и аналитики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623560" y="434340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Выполнил: студент Зозин Павел Алексеевич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Руководитель: доцент кафедры ВТиП, к.п.н. Гладышева М. М.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3440" y="61722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Магнитогорск,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Объект, предмет и цель работы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49808" y="1234440"/>
            <a:ext cx="3429000" cy="1143000"/>
          </a:xfrm>
          <a:prstGeom prst="rect">
            <a:avLst>
              <a:gd name="adj" fmla="val 1600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4416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645920"/>
            <a:ext cx="31546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процесс управления волонтерской деятельностью в организации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70832" y="1234440"/>
            <a:ext cx="3657600" cy="1143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3441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7992" y="1645920"/>
            <a:ext cx="33832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web-ориентированная информационная система «Пульс» для учета волонтеров, мероприятий, задач, времени, достижений, сертификатов и аналитики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11312" y="1234440"/>
            <a:ext cx="3246120" cy="1143000"/>
          </a:xfrm>
          <a:prstGeom prst="rect">
            <a:avLst>
              <a:gd name="adj" fmla="val 1600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3441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48472" y="1645920"/>
            <a:ext cx="29718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повышение эффективности управления волонтерской деятельностью за счет проектирования и разработки системы с геймификацией и аналитикой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6384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Ключевая идея работы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310128"/>
            <a:ext cx="1042416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перевести разрозненный учет из таблиц, форм и переписок в единый контур данных;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разделить заявленную активность и подтвержденный вклад волонтера;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дать координатору инструменты управления, а руководителю — проверяемую аналитику.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5422392"/>
            <a:ext cx="10241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Результат: web-приложение «Пульс», связывающее заявки, задачи, часы, достижения, сертификаты и отчеты.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 выпускной квалификационной работы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566928" cy="566928"/>
          </a:xfrm>
          <a:prstGeom prst="ellipse">
            <a:avLst/>
          </a:prstGeom>
          <a:solidFill>
            <a:srgbClr val="234F8E"/>
          </a:solidFill>
          <a:ln w="12700">
            <a:solidFill>
              <a:srgbClr val="234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5331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225296"/>
            <a:ext cx="9601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анализ предметной области, существующих решений и информационных потоков управления добровольческой деятельностью.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350008"/>
            <a:ext cx="566928" cy="566928"/>
          </a:xfrm>
          <a:prstGeom prst="ellipse">
            <a:avLst/>
          </a:prstGeom>
          <a:solidFill>
            <a:srgbClr val="234F8E"/>
          </a:solidFill>
          <a:ln w="12700">
            <a:solidFill>
              <a:srgbClr val="234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340864"/>
            <a:ext cx="9601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Сформировать требования и спроектировать архитектуру, базу данных, роли пользователей и ключевые алгоритмы системы.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465576"/>
            <a:ext cx="566928" cy="566928"/>
          </a:xfrm>
          <a:prstGeom prst="ellipse">
            <a:avLst/>
          </a:prstGeom>
          <a:solidFill>
            <a:srgbClr val="234F8E"/>
          </a:solidFill>
          <a:ln w="12700">
            <a:solidFill>
              <a:srgbClr val="234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844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456432"/>
            <a:ext cx="9601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Реализовать backend, frontend и модули: мероприятия, задачи, учет часов, геймификация, аналитика, сертификаты, администрирование.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581144"/>
            <a:ext cx="566928" cy="566928"/>
          </a:xfrm>
          <a:prstGeom prst="ellipse">
            <a:avLst/>
          </a:prstGeom>
          <a:solidFill>
            <a:srgbClr val="234F8E"/>
          </a:solidFill>
          <a:ln w="12700">
            <a:solidFill>
              <a:srgbClr val="234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000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572000"/>
            <a:ext cx="9601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Проверить работоспособность системы на демонстрационном сценарии и оценить практическую значимость результата.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Аналитическое исследование: что не закрывает ручная модель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Проблемы текущей организации работы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525780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данные о волонтерах, мероприятиях и часах распределены между таблицами, формами и переписками;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координатор вручную сверяет заявки, посещаемость и записи времени;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 не видит оперативную картину по фактическому подтвержденному вкладу;</a:t>
            </a:r>
            <a:endParaRPr lang="en-US" sz="1550" dirty="0"/>
          </a:p>
          <a:p>
            <a:pPr marL="165100" indent="-165100">
              <a:buSzPct val="100000"/>
              <a:buChar char="•"/>
            </a:pPr>
            <a:r>
              <a:rPr lang="en-US" sz="15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сертификаты и отчетность готовятся по данным, которые сложно проверить.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37960" y="1143000"/>
            <a:ext cx="4480560" cy="4160520"/>
          </a:xfrm>
          <a:prstGeom prst="rect">
            <a:avLst/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1389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Ориентиры актуальности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199339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5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1995–2025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56448" y="1938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правовое регулирование добровольческой деятельности действует более 30 лет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812280" y="28620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85C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56448" y="28072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5% россиян становились добровольцами по данным ВЦИОМ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812280" y="37307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56448" y="36758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цифровой контур Dobro.ru указывает более 9 млн пользователей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10378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Вывод: нужна система, где каждое управленческое действие оставляет проверяемый цифровой след.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Анализ существующих решений показал функциональный разрыв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194560" cy="694944"/>
          </a:xfrm>
          <a:prstGeom prst="rect">
            <a:avLst/>
          </a:prstGeom>
          <a:solidFill>
            <a:srgbClr val="234F8E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44168"/>
            <a:ext cx="20482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Группа решений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880360" y="1234440"/>
            <a:ext cx="3154680" cy="694944"/>
          </a:xfrm>
          <a:prstGeom prst="rect">
            <a:avLst/>
          </a:prstGeom>
          <a:solidFill>
            <a:srgbClr val="234F8E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344168"/>
            <a:ext cx="30083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закрывают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5166360" cy="694944"/>
          </a:xfrm>
          <a:prstGeom prst="rect">
            <a:avLst/>
          </a:prstGeom>
          <a:solidFill>
            <a:srgbClr val="234F8E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344168"/>
            <a:ext cx="50200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не закрывают для «Пульс»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1929384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039112"/>
            <a:ext cx="20482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CMS и конструкторы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880360" y="1929384"/>
            <a:ext cx="3154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2039112"/>
            <a:ext cx="30083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публикация сайта, новости, формы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929384"/>
            <a:ext cx="5166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2039112"/>
            <a:ext cx="50200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 логики заявок, часов, ролей, достижений и аналитики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2624328"/>
            <a:ext cx="219456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734056"/>
            <a:ext cx="20482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ERP/ECM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80360" y="2624328"/>
            <a:ext cx="315468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3512" y="2734056"/>
            <a:ext cx="30083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документооборот и процессы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2624328"/>
            <a:ext cx="516636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2734056"/>
            <a:ext cx="50200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избыточность и сложность внедрения для малых организаций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3319272"/>
            <a:ext cx="2194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429000"/>
            <a:ext cx="20482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Проектные сервисы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880360" y="3319272"/>
            <a:ext cx="315468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3429000"/>
            <a:ext cx="30083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задачи, исполнители, сроки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35040" y="3319272"/>
            <a:ext cx="5166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3429000"/>
            <a:ext cx="50200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учитывают мероприятия, часы, сертификаты и мотивацию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85800" y="4014216"/>
            <a:ext cx="219456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4123944"/>
            <a:ext cx="20482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Платформы поиска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880360" y="4014216"/>
            <a:ext cx="315468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53512" y="4123944"/>
            <a:ext cx="300837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привлечение волонтеров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035040" y="4014216"/>
            <a:ext cx="5166360" cy="694944"/>
          </a:xfrm>
          <a:prstGeom prst="rect">
            <a:avLst/>
          </a:prstGeom>
          <a:solidFill>
            <a:srgbClr val="F7F9FC"/>
          </a:solidFill>
          <a:ln w="6350">
            <a:solidFill>
              <a:srgbClr val="9AA9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4123944"/>
            <a:ext cx="502005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слабее поддерживают локальный учет и внутреннее управление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2960" y="5257800"/>
            <a:ext cx="10287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Требование к собственному решению: не просто публиковать информацию, а вести полный цикл от заявки до подтвержденного результата.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Разработанная система объединяет ключевые роли и модули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143000"/>
            <a:ext cx="2514600" cy="960120"/>
          </a:xfrm>
          <a:prstGeom prst="rect">
            <a:avLst>
              <a:gd name="adj" fmla="val 1905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Волонтер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2240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заявки, задачи, часы, достижения, сертификаты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474720" y="1143000"/>
            <a:ext cx="2514600" cy="960120"/>
          </a:xfrm>
          <a:prstGeom prst="rect">
            <a:avLst>
              <a:gd name="adj" fmla="val 1905"/>
            </a:avLst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2527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Координатор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1554480"/>
            <a:ext cx="2240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мероприятия, заявки, посещаемость, подтверждение часов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2514600" cy="960120"/>
          </a:xfrm>
          <a:prstGeom prst="rect">
            <a:avLst>
              <a:gd name="adj" fmla="val 1905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2527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Администратор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240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организация, участники, роли, настройки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052560" y="1143000"/>
            <a:ext cx="2514600" cy="960120"/>
          </a:xfrm>
          <a:prstGeom prst="rect">
            <a:avLst>
              <a:gd name="adj" fmla="val 1905"/>
            </a:avLst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2527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Руководитель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9720" y="1554480"/>
            <a:ext cx="22402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аналитика, отчеты, управленческие показатели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4400" y="2788920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234F8E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8803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Авторизация и роли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657600" y="2788920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28803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Организации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400800" y="2788920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28803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Мероприятия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144000" y="2788920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234F8E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288036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3410712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35021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Учет времени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3657600" y="3410712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1608" y="35021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Уведомления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400800" y="3410712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234F8E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35021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База знаний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144000" y="3410712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08008" y="35021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Геймификация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14400" y="4032504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41239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Аналитика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3657600" y="4032504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234F8E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41239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Сертификаты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00800" y="4032504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41239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Настраиваемый профиль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9144000" y="4032504"/>
            <a:ext cx="2331720" cy="384048"/>
          </a:xfrm>
          <a:prstGeom prst="roundRect">
            <a:avLst>
              <a:gd name="adj" fmla="val 9524"/>
            </a:avLst>
          </a:prstGeom>
          <a:solidFill>
            <a:srgbClr val="F7F9FC"/>
          </a:solidFill>
          <a:ln w="5715">
            <a:solidFill>
              <a:srgbClr val="9AA9B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08008" y="41239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Админ-панель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804672" y="5349240"/>
            <a:ext cx="104698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построена как многоорганизационное web-приложение: данные и права доступа разделяются по организациям, но ключевые сценарии остаются едиными.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решения: клиент, API и реляционное хранилище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800" dirty="0"/>
          </a:p>
        </p:txBody>
      </p:sp>
      <p:pic>
        <p:nvPicPr>
          <p:cNvPr id="7" name="Image 0" descr="E:\diploma\docs\diploma_document\zozin_final_diploma_files\_codex_service\generated\V5_generated\images\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078992"/>
            <a:ext cx="644652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" y="1078992"/>
            <a:ext cx="6446520" cy="4069080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Технологический стек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71232" y="1627632"/>
            <a:ext cx="379476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Go, Gin, REST API;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хранилище: PostgreSQL, миграции, связи и ограничения;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Vue.js 3, TypeScript, Vite;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развертывание: Docker-конфигурации;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безопасность: роли, права, сессии, аудит операций.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7635240" y="4892040"/>
            <a:ext cx="352044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отделяет пользовательский интерфейс от бизнес-логики и обеспечивает воспроизводимость развертывания.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данных поддерживает проверяемый учет вклада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800" dirty="0"/>
          </a:p>
        </p:txBody>
      </p:sp>
      <p:pic>
        <p:nvPicPr>
          <p:cNvPr id="7" name="Image 0" descr="E:\diploma\docs\diploma_document\zozin_final_diploma_files\er diagrams\er-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051560"/>
            <a:ext cx="530352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051560"/>
            <a:ext cx="5303520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051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Основные сущности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19088" y="1527048"/>
            <a:ext cx="4892040" cy="3246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пользователи, профили, организации и членство с ролями;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мероприятия, заявки, посещаемость и задачи;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записи времени со статусами подтверждения;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достижения, транзакции баллов и уровни;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сертификаты с проверочным кодом и публичной проверкой;</a:t>
            </a:r>
            <a:endParaRPr lang="en-US" sz="1540" dirty="0"/>
          </a:p>
          <a:p>
            <a:pPr marL="165100" indent="-165100">
              <a:buSzPct val="100000"/>
              <a:buChar char="•"/>
            </a:pPr>
            <a:r>
              <a:rPr lang="en-US" sz="154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аналитические агрегаты и журнал аудита.</a:t>
            </a:r>
            <a:endParaRPr lang="en-US" sz="1540" dirty="0"/>
          </a:p>
        </p:txBody>
      </p:sp>
      <p:sp>
        <p:nvSpPr>
          <p:cNvPr id="11" name="Text 8"/>
          <p:cNvSpPr/>
          <p:nvPr/>
        </p:nvSpPr>
        <p:spPr>
          <a:xfrm>
            <a:off x="6446520" y="5102352"/>
            <a:ext cx="46177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Принцип проектирования: документ и аналитический показатель формируются только из подтвержденных данных.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Основной сценарий: от заявки до аналитического результата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1993392" cy="713232"/>
          </a:xfrm>
          <a:prstGeom prst="chevron">
            <a:avLst/>
          </a:prstGeom>
          <a:solidFill>
            <a:srgbClr val="234F8E"/>
          </a:solidFill>
          <a:ln w="6350">
            <a:solidFill>
              <a:srgbClr val="234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53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Заявка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волонтер выбирает событие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1993392" cy="713232"/>
          </a:xfrm>
          <a:prstGeom prst="chevron">
            <a:avLst/>
          </a:prstGeom>
          <a:solidFill>
            <a:srgbClr val="B85C00"/>
          </a:solidFill>
          <a:ln w="6350">
            <a:solidFill>
              <a:srgbClr val="B8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353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60904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координатор меняет статус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489704" y="1234440"/>
            <a:ext cx="1993392" cy="713232"/>
          </a:xfrm>
          <a:prstGeom prst="chevron">
            <a:avLst/>
          </a:prstGeom>
          <a:solidFill>
            <a:srgbClr val="234F8E"/>
          </a:solidFill>
          <a:ln w="6350">
            <a:solidFill>
              <a:srgbClr val="234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353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Участие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08576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посещаемость и задачи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437376" y="1234440"/>
            <a:ext cx="1993392" cy="713232"/>
          </a:xfrm>
          <a:prstGeom prst="chevron">
            <a:avLst/>
          </a:prstGeom>
          <a:solidFill>
            <a:srgbClr val="B85C00"/>
          </a:solidFill>
          <a:ln w="6350">
            <a:solidFill>
              <a:srgbClr val="B85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353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Часы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56248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подтвержденный вклад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385048" y="1234440"/>
            <a:ext cx="1993392" cy="713232"/>
          </a:xfrm>
          <a:prstGeom prst="chevron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13533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03920" y="1581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достижения, сертификат, отчет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554480" y="2212848"/>
            <a:ext cx="7818120" cy="0"/>
          </a:xfrm>
          <a:prstGeom prst="line">
            <a:avLst/>
          </a:prstGeom>
          <a:noFill/>
          <a:ln w="12700">
            <a:solidFill>
              <a:srgbClr val="9AA9B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" y="2788920"/>
            <a:ext cx="4983480" cy="1572768"/>
          </a:xfrm>
          <a:prstGeom prst="rect">
            <a:avLst>
              <a:gd name="adj" fmla="val 1163"/>
            </a:avLst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8986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Смысл алгоритмов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200400"/>
            <a:ext cx="47091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заявка еще не означает участие; созданная запись времени еще не означает подтвержденный вклад; сертификат формируется только после проверки прав и данных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355080" y="2788920"/>
            <a:ext cx="4983480" cy="1572768"/>
          </a:xfrm>
          <a:prstGeom prst="rect">
            <a:avLst>
              <a:gd name="adj" fmla="val 1163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89864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получает организация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200400"/>
            <a:ext cx="470916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актуальные списки участников, проверенные часы, историю действий, достижения, сертификаты и отчеты по фактической активности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14400" y="5257800"/>
            <a:ext cx="10241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Такой сценарий будет показан на демонстрации проекта: вход, мероприятие, заявка/учет, часы, аналитика и сертификат.</a:t>
            </a:r>
            <a:endParaRPr lang="en-US" sz="1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Демонстрация проекта: основные экраны 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E:\diploma\docs\diploma_document\zozin_final_diploma_files\_codex_service\generated\V5_generated\screenshots\02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060704"/>
            <a:ext cx="3310128" cy="19019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060704"/>
            <a:ext cx="3310128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00837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Главная панель</a:t>
            </a:r>
            <a:endParaRPr lang="en-US" sz="1150" dirty="0"/>
          </a:p>
        </p:txBody>
      </p:sp>
      <p:pic>
        <p:nvPicPr>
          <p:cNvPr id="10" name="Image 1" descr="E:\diploma\docs\diploma_document\zozin_final_diploma_files\_codex_service\generated\V5_generated\screenshots\03_eve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1060704"/>
            <a:ext cx="3310128" cy="19019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9120" y="1060704"/>
            <a:ext cx="3310128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89120" y="300837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Мероприятия</a:t>
            </a:r>
            <a:endParaRPr lang="en-US" sz="1150" dirty="0"/>
          </a:p>
        </p:txBody>
      </p:sp>
      <p:pic>
        <p:nvPicPr>
          <p:cNvPr id="13" name="Image 2" descr="E:\diploma\docs\diploma_document\zozin_final_diploma_files\_codex_service\generated\V5_generated\screenshots\05_time_entri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83880" y="1060704"/>
            <a:ext cx="3310128" cy="190195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83880" y="1060704"/>
            <a:ext cx="3310128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83880" y="300837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Учет часов</a:t>
            </a:r>
            <a:endParaRPr lang="en-US" sz="1150" dirty="0"/>
          </a:p>
        </p:txBody>
      </p:sp>
      <p:pic>
        <p:nvPicPr>
          <p:cNvPr id="16" name="Image 3" descr="E:\diploma\docs\diploma_document\zozin_final_diploma_files\_codex_service\generated\V5_generated\screenshots\06_analytic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4360" y="3392424"/>
            <a:ext cx="3310128" cy="190195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94360" y="3392424"/>
            <a:ext cx="3310128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534009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Аналитика</a:t>
            </a:r>
            <a:endParaRPr lang="en-US" sz="1150" dirty="0"/>
          </a:p>
        </p:txBody>
      </p:sp>
      <p:pic>
        <p:nvPicPr>
          <p:cNvPr id="19" name="Image 4" descr="E:\diploma\docs\diploma_document\zozin_final_diploma_files\_codex_service\generated\V5_generated\screenshots\07_certificate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0" y="3392424"/>
            <a:ext cx="3310128" cy="190195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89120" y="3392424"/>
            <a:ext cx="3310128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389120" y="534009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Сертификаты</a:t>
            </a:r>
            <a:endParaRPr lang="en-US" sz="1150" dirty="0"/>
          </a:p>
        </p:txBody>
      </p:sp>
      <p:pic>
        <p:nvPicPr>
          <p:cNvPr id="22" name="Image 5" descr="E:\diploma\docs\diploma_document\zozin_final_diploma_files\_codex_service\generated\V5_generated\screenshots\08_admi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83880" y="3392424"/>
            <a:ext cx="3310128" cy="190195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83880" y="3392424"/>
            <a:ext cx="3310128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183880" y="534009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Администрирование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 работоспособности выполнена по ключевым сценариям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170432"/>
            <a:ext cx="55778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миграции базы данных и запуск backend;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регистрация, вход, обновление сессии, выход;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CRUD организаций, мероприятий, задач, новостей и базы знаний;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подача заявки и изменение статуса координатором;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создание, подтверждение и отклонение записей времени;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начисление достижений и отображение рейтинга;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генерация, скачивание и публичная проверка сертификата;</a:t>
            </a:r>
            <a:endParaRPr lang="en-US" sz="1470" dirty="0"/>
          </a:p>
          <a:p>
            <a:pPr marL="165100" indent="-165100">
              <a:buSzPct val="100000"/>
              <a:buChar char="•"/>
            </a:pPr>
            <a:r>
              <a:rPr lang="en-US" sz="147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отчеты аналитики, журнал аудита и сборка frontend.</a:t>
            </a:r>
            <a:endParaRPr lang="en-US" sz="1470" dirty="0"/>
          </a:p>
        </p:txBody>
      </p:sp>
      <p:sp>
        <p:nvSpPr>
          <p:cNvPr id="8" name="Shape 6"/>
          <p:cNvSpPr/>
          <p:nvPr/>
        </p:nvSpPr>
        <p:spPr>
          <a:xfrm>
            <a:off x="6903720" y="1188720"/>
            <a:ext cx="4160520" cy="3611880"/>
          </a:xfrm>
          <a:prstGeom prst="rect">
            <a:avLst/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проверки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42048" y="2084832"/>
            <a:ext cx="352044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основной пользовательский цикл выполняется в интерфейсе;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данные проходят через статусы и проверки прав;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итоги доступны в аналитике и сертификатах;</a:t>
            </a:r>
            <a:endParaRPr lang="en-US" sz="1520" dirty="0"/>
          </a:p>
          <a:p>
            <a:pPr marL="165100" indent="-165100">
              <a:buSzPct val="100000"/>
              <a:buChar char="•"/>
            </a:pPr>
            <a:r>
              <a:rPr lang="en-US" sz="152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пригодна для опытной эксплуатации.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Полученные результаты и практическая значимость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30352" y="832104"/>
            <a:ext cx="11109960" cy="0"/>
          </a:xfrm>
          <a:prstGeom prst="line">
            <a:avLst/>
          </a:prstGeom>
          <a:noFill/>
          <a:ln w="12700">
            <a:solidFill>
              <a:srgbClr val="234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985">
            <a:solidFill>
              <a:srgbClr val="9AA9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ВКР | Информационная система управления волонтерами «Пульс»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1143000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ходе работы разработана web-ориентированная информационная система «Пульс».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1920240"/>
            <a:ext cx="3383280" cy="1371600"/>
          </a:xfrm>
          <a:prstGeom prst="rect">
            <a:avLst>
              <a:gd name="adj" fmla="val 1333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реализовано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31089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учет организаций, участников, ролей, мероприятий, задач, заявок, часов, достижений, сертификатов, аналитики и администрирования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07408" y="1920240"/>
            <a:ext cx="3383280" cy="1371600"/>
          </a:xfrm>
          <a:prstGeom prst="rect">
            <a:avLst>
              <a:gd name="adj" fmla="val 1333"/>
            </a:avLst>
          </a:prstGeom>
          <a:solidFill>
            <a:srgbClr val="F7F9FC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029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Практический эффект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2331720"/>
            <a:ext cx="31089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координаторы работают с едиными данными, руководитель получает отчеты, а волонтер видит подтвержденную историю участия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28432" y="1920240"/>
            <a:ext cx="3383280" cy="1371600"/>
          </a:xfrm>
          <a:prstGeom prst="rect">
            <a:avLst>
              <a:gd name="adj" fmla="val 1333"/>
            </a:avLst>
          </a:prstGeom>
          <a:solidFill>
            <a:srgbClr val="EAF1FB"/>
          </a:solidFill>
          <a:ln w="8255">
            <a:solidFill>
              <a:srgbClr val="9AA9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2029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F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Дальнейшее развитие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65592" y="2331720"/>
            <a:ext cx="31089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пилотная эксплуатация, расширение мобильных сценариев, интеграции с внешними сервисами и развитие отчетности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11680" y="46177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Спасибо за внимание!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МГТУ им. Г.И. Носова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информационной системы управления волонтерами</dc:title>
  <dc:subject>Защита ВКР</dc:subject>
  <dc:creator>Зозин Павел Алексеевич</dc:creator>
  <cp:lastModifiedBy>Зозин Павел Алексеевич</cp:lastModifiedBy>
  <cp:revision>1</cp:revision>
  <dcterms:created xsi:type="dcterms:W3CDTF">2026-06-14T17:40:14Z</dcterms:created>
  <dcterms:modified xsi:type="dcterms:W3CDTF">2026-06-14T17:40:14Z</dcterms:modified>
</cp:coreProperties>
</file>