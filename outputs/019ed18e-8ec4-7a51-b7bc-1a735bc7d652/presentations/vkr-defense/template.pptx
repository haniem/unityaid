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23A000-300F-4321-BD49-D472AD37DB6F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0EE18-6841-44B7-98B3-4321BA39AF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FE1E-E85B-4195-B4E8-C1D1D84C93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4A625-951D-4C96-B60A-EC5357906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3ED59-8629-46C3-AD35-DC26283031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084A-B51C-433C-8518-40D78FA7A5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2CAB3-D243-4BCB-A5DF-63320D3763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CD19D-A3A5-4E2F-B5EF-6B1A4C916B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2FCF-D13D-4F83-B132-897658FD0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8CF32-AC94-409A-9DDC-E0C3F9D0C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DD7CC-A80C-4608-A608-35178B5FA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40CFD-615F-4F8B-8E4F-8DFA527060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Министерство науки и высшего образования Российской Федерации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ФГБОУ ВО «Магнитогорский государственный технический университет им. Г.И. Носова»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Институт энергетики и автоматизированных систем · Кафедра ВТиП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РАЗРАБОТКА ВЕБ-СЕРВИСА ДЛЯ РЕДАКТИРОВАНИЯ ИЗОБРАЖЕНИЙ С ИСПОЛЬЗОВАНИЕМ ТЕХНОЛОГИЙ ИСКУССТВЕННОГО ИНТЕЛЛЕКТА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Выполнил: обучающийся Поляков С.А.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Направление 09.03.01 — Информатика и вычислительная техника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430"/>
                </a:solidFill>
                <a:latin typeface="Century Gothic"/>
                <a:ea typeface="Century Gothic"/>
              </a:rPr>
              <a:t>Руководитель: зав. кафедрой ВТиП, д.т.н., профессор Логунова О.С.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Магнитогорск, 2026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Цель и задачи работы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640080" y="1234440"/>
            <a:ext cx="10908360" cy="1371240"/>
          </a:xfrm>
          <a:prstGeom prst="roundRect">
            <a:avLst>
              <a:gd name="adj" fmla="val 5333"/>
            </a:avLst>
          </a:prstGeom>
          <a:solidFill>
            <a:srgbClr val="323c8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13716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c0392b"/>
                </a:solidFill>
                <a:latin typeface="Arial"/>
                <a:ea typeface="Arial"/>
              </a:rPr>
              <a:t>ЦЕЛЬ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914400" y="173736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Проектирование и разработка веб-сервиса AI Image Editor — доступной платформы для редактирования изображений средствами искусственного интеллекта без специальных знаний в области машинного обучения.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640080" y="2834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323c8d"/>
                </a:solidFill>
                <a:latin typeface="Arial"/>
                <a:ea typeface="Arial"/>
              </a:rPr>
              <a:t>ЗАДАЧИ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640080" y="324612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804600" y="345204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804600" y="3452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1417320" y="324612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Проанализировать существующие решения AI-редактирования и выявить их недостатки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6199560" y="324612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6364080" y="345204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364080" y="3452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6976800" y="324612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Спроектировать архитектуру, базу данных и REST API веб-сервиса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640080" y="429768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804600" y="450360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804600" y="450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1417320" y="429768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Разработать алгоритмы асинхронной обработки изображений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6199560" y="429768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6364080" y="450360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6364080" y="4503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6976800" y="429768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Реализовать серверную и клиентскую части с интеграцией ComfyUI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1"/>
          <p:cNvSpPr/>
          <p:nvPr/>
        </p:nvSpPr>
        <p:spPr>
          <a:xfrm>
            <a:off x="640080" y="534924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804600" y="555516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804600" y="5555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1417320" y="534924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Провести функциональное и нагрузочное тестирование системы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6199560" y="5349240"/>
            <a:ext cx="534888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6"/>
          <p:cNvSpPr/>
          <p:nvPr/>
        </p:nvSpPr>
        <p:spPr>
          <a:xfrm>
            <a:off x="6364080" y="5555160"/>
            <a:ext cx="456840" cy="45684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7"/>
          <p:cNvSpPr/>
          <p:nvPr/>
        </p:nvSpPr>
        <p:spPr>
          <a:xfrm>
            <a:off x="6364080" y="5555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GB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6976800" y="534924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Выполнить юзабилити-исследование и сформулировать улучшения интерфейса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Анализ существующих решений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4008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147204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001e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47204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1a8ff"/>
                </a:solidFill>
                <a:latin typeface="Arial"/>
                <a:ea typeface="Arial"/>
              </a:rPr>
              <a:t>Ps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77724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Adobe Photoshop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+ Firefly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1005840" y="3429000"/>
            <a:ext cx="193824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82296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2296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Высокая стоимость лицензии, настольное приложение, требует опыта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345636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428868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7d2a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428868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C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359352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Canva AI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382212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363924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363924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Ограниченный набор функций, нет тонкой настройки и своих воркфлоу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627264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710496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2222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710496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A1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640980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AUTOMATIC1111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Stable Diffusion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663840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645552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645552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Сложный интерфейс для технических специалистов, нет пресетов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9089280" y="1280160"/>
            <a:ext cx="2669760" cy="41601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9921240" y="1554480"/>
            <a:ext cx="1005480" cy="100548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9921240" y="155448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R</a:t>
            </a:r>
            <a:endParaRPr b="0" lang="en-GB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9226440" y="2697480"/>
            <a:ext cx="239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3c8d"/>
                </a:solidFill>
                <a:latin typeface="Arial"/>
                <a:ea typeface="Arial"/>
              </a:rPr>
              <a:t>RunwayML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6"/>
          <p:cNvSpPr/>
          <p:nvPr/>
        </p:nvSpPr>
        <p:spPr>
          <a:xfrm>
            <a:off x="9454680" y="3429000"/>
            <a:ext cx="1938600" cy="360"/>
          </a:xfrm>
          <a:prstGeom prst="line">
            <a:avLst/>
          </a:prstGeom>
          <a:ln w="12700">
            <a:solidFill>
              <a:srgbClr val="eae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9272160" y="3520440"/>
            <a:ext cx="230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0392b"/>
                </a:solidFill>
                <a:latin typeface="Arial"/>
                <a:ea typeface="Arial"/>
              </a:rPr>
              <a:t>НЕДОСТАТКИ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9272160" y="382212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a6473"/>
                </a:solidFill>
                <a:latin typeface="Arial"/>
                <a:ea typeface="Arial"/>
              </a:rPr>
              <a:t>Высокая цена, узкий бесплатный тариф, нельзя интегрировать свои модели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9"/>
          <p:cNvSpPr/>
          <p:nvPr/>
        </p:nvSpPr>
        <p:spPr>
          <a:xfrm>
            <a:off x="640080" y="5623560"/>
            <a:ext cx="10908360" cy="712800"/>
          </a:xfrm>
          <a:prstGeom prst="roundRect">
            <a:avLst>
              <a:gd name="adj" fmla="val 7692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0"/>
          <p:cNvSpPr/>
          <p:nvPr/>
        </p:nvSpPr>
        <p:spPr>
          <a:xfrm>
            <a:off x="914400" y="5623560"/>
            <a:ext cx="10332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0392b"/>
                </a:solidFill>
                <a:latin typeface="Arial"/>
                <a:ea typeface="Arial"/>
              </a:rPr>
              <a:t>Вывод:  </a:t>
            </a:r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ни одно решение не сочетает доступную цену, низкий порог входа, специализацию под прикладные ниши и расширяемость своими AI-воркфлоу.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3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Технологический стек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64008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64008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640080" y="1654920"/>
            <a:ext cx="3520080" cy="328680"/>
          </a:xfrm>
          <a:prstGeom prst="rect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64008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Frontend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1" descr="logos/react.png"/>
          <p:cNvPicPr/>
          <p:nvPr/>
        </p:nvPicPr>
        <p:blipFill>
          <a:blip r:embed="rId2"/>
          <a:stretch/>
        </p:blipFill>
        <p:spPr>
          <a:xfrm>
            <a:off x="93276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5" name="Text 5"/>
          <p:cNvSpPr/>
          <p:nvPr/>
        </p:nvSpPr>
        <p:spPr>
          <a:xfrm>
            <a:off x="140832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React 19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2" descr="logos/typescript.png"/>
          <p:cNvPicPr/>
          <p:nvPr/>
        </p:nvPicPr>
        <p:blipFill>
          <a:blip r:embed="rId3"/>
          <a:stretch/>
        </p:blipFill>
        <p:spPr>
          <a:xfrm>
            <a:off x="93276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7" name="Text 6"/>
          <p:cNvSpPr/>
          <p:nvPr/>
        </p:nvSpPr>
        <p:spPr>
          <a:xfrm>
            <a:off x="140832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TypeScript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3" descr="logos/tailwindcss.png"/>
          <p:cNvPicPr/>
          <p:nvPr/>
        </p:nvPicPr>
        <p:blipFill>
          <a:blip r:embed="rId4"/>
          <a:stretch/>
        </p:blipFill>
        <p:spPr>
          <a:xfrm>
            <a:off x="93276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9" name="Text 7"/>
          <p:cNvSpPr/>
          <p:nvPr/>
        </p:nvSpPr>
        <p:spPr>
          <a:xfrm>
            <a:off x="140832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Tailwind CSS + shadcn/ui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4" descr="logos/vite.png"/>
          <p:cNvPicPr/>
          <p:nvPr/>
        </p:nvPicPr>
        <p:blipFill>
          <a:blip r:embed="rId5"/>
          <a:stretch/>
        </p:blipFill>
        <p:spPr>
          <a:xfrm>
            <a:off x="93276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1" name="Text 8"/>
          <p:cNvSpPr/>
          <p:nvPr/>
        </p:nvSpPr>
        <p:spPr>
          <a:xfrm>
            <a:off x="140832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Vite — сборка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140832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6" descr="logos/reactquery.png"/>
          <p:cNvPicPr/>
          <p:nvPr/>
        </p:nvPicPr>
        <p:blipFill>
          <a:blip r:embed="rId6"/>
          <a:stretch/>
        </p:blipFill>
        <p:spPr>
          <a:xfrm>
            <a:off x="949320" y="4500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4" name="Text 10"/>
          <p:cNvSpPr/>
          <p:nvPr/>
        </p:nvSpPr>
        <p:spPr>
          <a:xfrm>
            <a:off x="1440000" y="4500000"/>
            <a:ext cx="234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React Query — polling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7" descr="logos/framer.png"/>
          <p:cNvPicPr/>
          <p:nvPr/>
        </p:nvPicPr>
        <p:blipFill>
          <a:blip r:embed="rId7"/>
          <a:stretch/>
        </p:blipFill>
        <p:spPr>
          <a:xfrm>
            <a:off x="932760" y="5269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6" name="Text 11"/>
          <p:cNvSpPr/>
          <p:nvPr/>
        </p:nvSpPr>
        <p:spPr>
          <a:xfrm>
            <a:off x="1440000" y="5220000"/>
            <a:ext cx="252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Framer Motion — анимации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33440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433440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4334400" y="1654920"/>
            <a:ext cx="3520080" cy="328680"/>
          </a:xfrm>
          <a:prstGeom prst="rect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433440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Backend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8" descr="logos/fastapi.png"/>
          <p:cNvPicPr/>
          <p:nvPr/>
        </p:nvPicPr>
        <p:blipFill>
          <a:blip r:embed="rId8"/>
          <a:stretch/>
        </p:blipFill>
        <p:spPr>
          <a:xfrm>
            <a:off x="462672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2" name="Text 16"/>
          <p:cNvSpPr/>
          <p:nvPr/>
        </p:nvSpPr>
        <p:spPr>
          <a:xfrm>
            <a:off x="510228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FastAPI (Python, ASGI)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Image 9" descr="logos/sqlalchemy.png"/>
          <p:cNvPicPr/>
          <p:nvPr/>
        </p:nvPicPr>
        <p:blipFill>
          <a:blip r:embed="rId9"/>
          <a:stretch/>
        </p:blipFill>
        <p:spPr>
          <a:xfrm>
            <a:off x="462672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4" name="Text 17"/>
          <p:cNvSpPr/>
          <p:nvPr/>
        </p:nvSpPr>
        <p:spPr>
          <a:xfrm>
            <a:off x="510228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SQLAlchemy + Alembic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10" descr="logos/celery.png"/>
          <p:cNvPicPr/>
          <p:nvPr/>
        </p:nvPicPr>
        <p:blipFill>
          <a:blip r:embed="rId10"/>
          <a:stretch/>
        </p:blipFill>
        <p:spPr>
          <a:xfrm>
            <a:off x="462672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6" name="Text 18"/>
          <p:cNvSpPr/>
          <p:nvPr/>
        </p:nvSpPr>
        <p:spPr>
          <a:xfrm>
            <a:off x="510228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Celery — очередь задач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Image 11" descr="logos/redis.png"/>
          <p:cNvPicPr/>
          <p:nvPr/>
        </p:nvPicPr>
        <p:blipFill>
          <a:blip r:embed="rId11"/>
          <a:stretch/>
        </p:blipFill>
        <p:spPr>
          <a:xfrm>
            <a:off x="462672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8" name="Text 19"/>
          <p:cNvSpPr/>
          <p:nvPr/>
        </p:nvSpPr>
        <p:spPr>
          <a:xfrm>
            <a:off x="510228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Redis — брокер и кэш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12" descr="logos/pydantic.png"/>
          <p:cNvPicPr/>
          <p:nvPr/>
        </p:nvPicPr>
        <p:blipFill>
          <a:blip r:embed="rId12"/>
          <a:stretch/>
        </p:blipFill>
        <p:spPr>
          <a:xfrm>
            <a:off x="462672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0" name="Text 20"/>
          <p:cNvSpPr/>
          <p:nvPr/>
        </p:nvSpPr>
        <p:spPr>
          <a:xfrm>
            <a:off x="510228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Pydantic — валидация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13" descr="logos/jsonwebtokens.png"/>
          <p:cNvPicPr/>
          <p:nvPr/>
        </p:nvPicPr>
        <p:blipFill>
          <a:blip r:embed="rId13"/>
          <a:stretch/>
        </p:blipFill>
        <p:spPr>
          <a:xfrm>
            <a:off x="4626720" y="49194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2" name="Text 21"/>
          <p:cNvSpPr/>
          <p:nvPr/>
        </p:nvSpPr>
        <p:spPr>
          <a:xfrm>
            <a:off x="5102280" y="48463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JWT + bcrypt — авторизация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8028360" y="1325880"/>
            <a:ext cx="3520080" cy="4708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8028360" y="1325880"/>
            <a:ext cx="3520080" cy="658080"/>
          </a:xfrm>
          <a:prstGeom prst="roundRect">
            <a:avLst>
              <a:gd name="adj" fmla="val 9722"/>
            </a:avLst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8028360" y="1654920"/>
            <a:ext cx="3520080" cy="3286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8028360" y="1325880"/>
            <a:ext cx="3520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AI / Данные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14" descr="logos/comfyui.png"/>
          <p:cNvPicPr/>
          <p:nvPr/>
        </p:nvPicPr>
        <p:blipFill>
          <a:blip r:embed="rId14"/>
          <a:stretch/>
        </p:blipFill>
        <p:spPr>
          <a:xfrm>
            <a:off x="8321040" y="2267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8" name="Text 26"/>
          <p:cNvSpPr/>
          <p:nvPr/>
        </p:nvSpPr>
        <p:spPr>
          <a:xfrm>
            <a:off x="8796600" y="21945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ComfyUI — движок AI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5" descr="logos/flux.png"/>
          <p:cNvPicPr/>
          <p:nvPr/>
        </p:nvPicPr>
        <p:blipFill>
          <a:blip r:embed="rId15"/>
          <a:stretch/>
        </p:blipFill>
        <p:spPr>
          <a:xfrm>
            <a:off x="8321040" y="2797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0" name="Text 27"/>
          <p:cNvSpPr/>
          <p:nvPr/>
        </p:nvSpPr>
        <p:spPr>
          <a:xfrm>
            <a:off x="8796600" y="27248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Flux Kontext Dev (fp8)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6" descr="logos/postgresql.png"/>
          <p:cNvPicPr/>
          <p:nvPr/>
        </p:nvPicPr>
        <p:blipFill>
          <a:blip r:embed="rId16"/>
          <a:stretch/>
        </p:blipFill>
        <p:spPr>
          <a:xfrm>
            <a:off x="8321040" y="3328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2" name="Text 28"/>
          <p:cNvSpPr/>
          <p:nvPr/>
        </p:nvSpPr>
        <p:spPr>
          <a:xfrm>
            <a:off x="8796600" y="32551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PostgreSQL 16 (JSONB)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17" descr="logos/minio.png"/>
          <p:cNvPicPr/>
          <p:nvPr/>
        </p:nvPicPr>
        <p:blipFill>
          <a:blip r:embed="rId17"/>
          <a:stretch/>
        </p:blipFill>
        <p:spPr>
          <a:xfrm>
            <a:off x="832104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4" name="Text 29"/>
          <p:cNvSpPr/>
          <p:nvPr/>
        </p:nvSpPr>
        <p:spPr>
          <a:xfrm>
            <a:off x="8796600" y="378576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MinIO — S3-хранилище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18" descr="logos/docker.png"/>
          <p:cNvPicPr/>
          <p:nvPr/>
        </p:nvPicPr>
        <p:blipFill>
          <a:blip r:embed="rId18"/>
          <a:stretch/>
        </p:blipFill>
        <p:spPr>
          <a:xfrm>
            <a:off x="8321040" y="4389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6" name="Text 30"/>
          <p:cNvSpPr/>
          <p:nvPr/>
        </p:nvSpPr>
        <p:spPr>
          <a:xfrm>
            <a:off x="8796600" y="431604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Docker — контейнеризация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19" descr="logos/nvidia.png"/>
          <p:cNvPicPr/>
          <p:nvPr/>
        </p:nvPicPr>
        <p:blipFill>
          <a:blip r:embed="rId19"/>
          <a:stretch/>
        </p:blipFill>
        <p:spPr>
          <a:xfrm>
            <a:off x="8321040" y="49194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8" name="Text 31"/>
          <p:cNvSpPr/>
          <p:nvPr/>
        </p:nvSpPr>
        <p:spPr>
          <a:xfrm>
            <a:off x="8796600" y="4846320"/>
            <a:ext cx="2568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NVIDIA CUDA 12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4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Архитектура веб-сервиса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640080" y="105156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473"/>
                </a:solidFill>
                <a:latin typeface="Arial"/>
                <a:ea typeface="Arial"/>
              </a:rPr>
              <a:t>Трёхуровневая клиент-серверная архитектура с асинхронной обработкой задач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640080" y="155448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640080" y="155448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3383280" y="1554480"/>
            <a:ext cx="365400" cy="1078560"/>
          </a:xfrm>
          <a:prstGeom prst="rect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914400" y="17006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представления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914400" y="21578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Frontend · SPA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023360" y="155448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React-приложение (SPA). Взаимодействие с сервером только через REST API. Состояние — Zustand и React Query.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6094440" y="2651760"/>
            <a:ext cx="360" cy="164520"/>
          </a:xfrm>
          <a:prstGeom prst="line">
            <a:avLst/>
          </a:prstGeom>
          <a:ln w="38100">
            <a:solidFill>
              <a:srgbClr val="5b7fc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640080" y="283464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640080" y="283464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3383280" y="2834640"/>
            <a:ext cx="365400" cy="1078560"/>
          </a:xfrm>
          <a:prstGeom prst="rect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914400" y="29808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бизнес-логики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914400" y="34380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Backend · FastAPI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4023360" y="283464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Аутентификация (JWT), управление задачами, хранение метаданных в PostgreSQL, постановка задач в очередь Celery.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6094440" y="3931920"/>
            <a:ext cx="360" cy="164520"/>
          </a:xfrm>
          <a:prstGeom prst="line">
            <a:avLst/>
          </a:prstGeom>
          <a:ln w="38100">
            <a:solidFill>
              <a:srgbClr val="5b7fc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640080" y="4114800"/>
            <a:ext cx="10908360" cy="1078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640080" y="4114800"/>
            <a:ext cx="3108600" cy="1078560"/>
          </a:xfrm>
          <a:prstGeom prst="roundRect">
            <a:avLst>
              <a:gd name="adj" fmla="val 5085"/>
            </a:avLst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3383280" y="4114800"/>
            <a:ext cx="365400" cy="10785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914400" y="4260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Уровень данных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914400" y="47181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6f6"/>
                </a:solidFill>
                <a:latin typeface="Arial"/>
                <a:ea typeface="Arial"/>
              </a:rPr>
              <a:t>Хранилища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023360" y="4114800"/>
            <a:ext cx="72507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e2430"/>
                </a:solidFill>
                <a:latin typeface="Arial"/>
                <a:ea typeface="Arial"/>
              </a:rPr>
              <a:t>PostgreSQL — структурированные данные (пользователи, задачи, сервисы). MinIO — изображения. Масштабируются независимо.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640080" y="5760720"/>
            <a:ext cx="10908360" cy="566640"/>
          </a:xfrm>
          <a:prstGeom prst="roundRect">
            <a:avLst>
              <a:gd name="adj" fmla="val 8065"/>
            </a:avLst>
          </a:prstGeom>
          <a:solidFill>
            <a:srgbClr val="eae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914400" y="5760720"/>
            <a:ext cx="10332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23c8d"/>
                </a:solidFill>
                <a:latin typeface="Arial"/>
                <a:ea typeface="Arial"/>
              </a:rPr>
              <a:t>Асинхронность:  </a:t>
            </a: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ресурсоёмкая обработка (15–60 с) вынесена в Celery-worker через Redis — HTTP-запросы не блокируются.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Проектирование базы данных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40080" y="105156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473"/>
                </a:solidFill>
                <a:latin typeface="Arial"/>
                <a:ea typeface="Arial"/>
              </a:rPr>
              <a:t>PostgreSQL 16 · 4 сущности · тип JSONB для воркфлоу ComfyUI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40080" y="155448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804600" y="173736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804600" y="173736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users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2788920" y="155448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Учётные записи: email, хеш пароля (bcrypt), баланс кредитов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640080" y="268848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804600" y="287136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804600" y="287136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services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2788920" y="268848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AI-инструменты: slug, JSONB-воркфлоу, стоимость обработки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640080" y="382212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804600" y="400500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804600" y="400500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tasks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2788920" y="382212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Задачи: статус, параметры (JSONB), ссылки на изображения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640080" y="4956120"/>
            <a:ext cx="60346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804600" y="5139000"/>
            <a:ext cx="1828440" cy="603000"/>
          </a:xfrm>
          <a:prstGeom prst="roundRect">
            <a:avLst>
              <a:gd name="adj" fmla="val 7576"/>
            </a:avLst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804600" y="5139000"/>
            <a:ext cx="18284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gallery_items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2788920" y="4956120"/>
            <a:ext cx="3702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Публичная галерея: лайки, видимость, связь 1:1 с задачей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6903720" y="1554480"/>
            <a:ext cx="4644720" cy="4571640"/>
          </a:xfrm>
          <a:prstGeom prst="roundRect">
            <a:avLst>
              <a:gd name="adj" fmla="val 1400"/>
            </a:avLst>
          </a:prstGeom>
          <a:solidFill>
            <a:srgbClr val="323c8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7178040" y="1737360"/>
            <a:ext cx="409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Связи между сущностями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7178040" y="2286000"/>
            <a:ext cx="40960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users → tasks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services → tasks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tasks → gallery_items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 одному (1:1)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fb3ff"/>
                </a:solidFill>
                <a:latin typeface="Arial"/>
                <a:ea typeface="Arial"/>
              </a:rPr>
              <a:t>users → gallery_items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ce6f6"/>
                </a:solidFill>
                <a:latin typeface="Arial"/>
                <a:ea typeface="Arial"/>
              </a:rPr>
              <a:t>один ко многим (1:N)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1"/>
          <p:cNvSpPr/>
          <p:nvPr/>
        </p:nvSpPr>
        <p:spPr>
          <a:xfrm>
            <a:off x="7178040" y="5212080"/>
            <a:ext cx="4096440" cy="360"/>
          </a:xfrm>
          <a:prstGeom prst="line">
            <a:avLst/>
          </a:prstGeom>
          <a:ln w="12700">
            <a:solidFill>
              <a:srgbClr val="5b7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7178040" y="5349240"/>
            <a:ext cx="4096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9d6ec"/>
                </a:solidFill>
                <a:latin typeface="Arial"/>
                <a:ea typeface="Arial"/>
              </a:rPr>
              <a:t>ON DELETE CASCADE, частичные индексы, уникальные ключи email / username / slug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6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Алгоритм асинхронной обработки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640080" y="1371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822960" y="1604880"/>
            <a:ext cx="502560" cy="50256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822960" y="1604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1508760" y="1371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Пользователь загружает изображение → файл сохраняется в MinIO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6199560" y="1371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6382440" y="1604880"/>
            <a:ext cx="502560" cy="502560"/>
          </a:xfrm>
          <a:prstGeom prst="ellipse">
            <a:avLst/>
          </a:prstGeom>
          <a:solidFill>
            <a:srgbClr val="2e5a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6382440" y="1604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7068240" y="1371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POST /tasks/create → FastAPI создаёт запись со статусом pending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640080" y="2505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822960" y="2738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822960" y="2738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1508760" y="2505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FastAPI ставит задачу в очередь Celery через Redis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6199560" y="250560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6382440" y="2738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6382440" y="2738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7068240" y="250560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Celery-worker загружает изображение в ComfyUI (/upload/image)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7"/>
          <p:cNvSpPr/>
          <p:nvPr/>
        </p:nvSpPr>
        <p:spPr>
          <a:xfrm>
            <a:off x="640080" y="3639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822960" y="3872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822960" y="3872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508760" y="3639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Worker подставляет параметры в JSON-воркфлоу → /prompt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6199560" y="3639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6382440" y="3872520"/>
            <a:ext cx="502560" cy="502560"/>
          </a:xfrm>
          <a:prstGeom prst="ellipse">
            <a:avLst/>
          </a:prstGeom>
          <a:solidFill>
            <a:srgbClr val="323c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6382440" y="3872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7068240" y="3639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Worker опрашивает ComfyUI каждые 2 с (/history/{id})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5"/>
          <p:cNvSpPr/>
          <p:nvPr/>
        </p:nvSpPr>
        <p:spPr>
          <a:xfrm>
            <a:off x="640080" y="4773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6"/>
          <p:cNvSpPr/>
          <p:nvPr/>
        </p:nvSpPr>
        <p:spPr>
          <a:xfrm>
            <a:off x="822960" y="5006520"/>
            <a:ext cx="502560" cy="5025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7"/>
          <p:cNvSpPr/>
          <p:nvPr/>
        </p:nvSpPr>
        <p:spPr>
          <a:xfrm>
            <a:off x="822960" y="5006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1508760" y="4773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Результат скачивается в MinIO, статус → completed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9"/>
          <p:cNvSpPr/>
          <p:nvPr/>
        </p:nvSpPr>
        <p:spPr>
          <a:xfrm>
            <a:off x="6199560" y="4773240"/>
            <a:ext cx="5348880" cy="9687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0"/>
          <p:cNvSpPr/>
          <p:nvPr/>
        </p:nvSpPr>
        <p:spPr>
          <a:xfrm>
            <a:off x="6382440" y="5006520"/>
            <a:ext cx="502560" cy="5025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1"/>
          <p:cNvSpPr/>
          <p:nvPr/>
        </p:nvSpPr>
        <p:spPr>
          <a:xfrm>
            <a:off x="6382440" y="5006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7068240" y="4773240"/>
            <a:ext cx="42973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Frontend опрашивает /tasks/{id} и показывает результат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3"/>
          <p:cNvSpPr/>
          <p:nvPr/>
        </p:nvSpPr>
        <p:spPr>
          <a:xfrm>
            <a:off x="640080" y="58978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323c8d"/>
                </a:solidFill>
                <a:latin typeface="Arial"/>
                <a:ea typeface="Arial"/>
              </a:rPr>
              <a:t>Преимущество: немедленный ответ сервера и параллельная обработка задач за счёт масштабирования числа Celery-worker'ов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7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Блок-схема работы системы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Image 1" descr="architecture_diagram.png"/>
          <p:cNvPicPr/>
          <p:nvPr/>
        </p:nvPicPr>
        <p:blipFill>
          <a:blip r:embed="rId2"/>
          <a:stretch/>
        </p:blipFill>
        <p:spPr>
          <a:xfrm>
            <a:off x="2160000" y="1080000"/>
            <a:ext cx="8337600" cy="5210640"/>
          </a:xfrm>
          <a:prstGeom prst="rect">
            <a:avLst/>
          </a:prstGeom>
          <a:ln w="0">
            <a:noFill/>
          </a:ln>
        </p:spPr>
      </p:pic>
      <p:sp>
        <p:nvSpPr>
          <p:cNvPr id="224" name="Text 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8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7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Интерфейс и цветовые решения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640080" y="1325880"/>
            <a:ext cx="5486040" cy="457164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914400" y="155448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23c8d"/>
                </a:solidFill>
                <a:latin typeface="Arial"/>
                <a:ea typeface="Arial"/>
              </a:rPr>
              <a:t>Тёмная тема + фиолетово-синий градиент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914400" y="2148840"/>
            <a:ext cx="49374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Тёмный фон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не искажает восприятие цветов обрабатываемой фотографии и снижает зрительное утомление — стандарт профессиональных редакторов (Photoshop, Lightroom).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Фиолетово-синий градиент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(#7C3AED → #3B82F6) ассоциируется с технологичностью и AI, задаёт фирменный стиль.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Контраст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текста и фона по WCAG 2.1 AA (≥ 4,5:1).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Шрифты: </a:t>
            </a:r>
            <a:r>
              <a:rPr b="0" lang="en-US" sz="1300" spc="-1" strike="noStrike">
                <a:solidFill>
                  <a:srgbClr val="1e2430"/>
                </a:solidFill>
                <a:latin typeface="Arial"/>
                <a:ea typeface="Arial"/>
              </a:rPr>
              <a:t>Syne (заголовки) + DM Sans (текст). Реализация — CSS-переменные + Tailwind CSS.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6446520" y="1325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0d0d12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6675120" y="1325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#0D0D12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8229600" y="1325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Фон приложения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6446520" y="1892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16161f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6675120" y="1892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#16161F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8229600" y="1892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Поверхности / карточки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6446520" y="245988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1e1e2e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6675120" y="2459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#1E1E2E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8229600" y="245988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Границы и разделители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6446520" y="3026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7c3aed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6675120" y="3026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#7C3AED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8229600" y="3026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Акцент — фиолетовый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6446520" y="3593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3b82f6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6675120" y="3593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#3B82F6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8229600" y="3593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Акцент — синий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6446520" y="4160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f5f5f7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0"/>
          <p:cNvSpPr/>
          <p:nvPr/>
        </p:nvSpPr>
        <p:spPr>
          <a:xfrm>
            <a:off x="6675120" y="4160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430"/>
                </a:solidFill>
                <a:latin typeface="Courier New"/>
                <a:ea typeface="Courier New"/>
              </a:rPr>
              <a:t>#F5F5F7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8229600" y="4160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430"/>
                </a:solidFill>
                <a:latin typeface="Arial"/>
                <a:ea typeface="Arial"/>
              </a:rPr>
              <a:t>Основной текст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6446520" y="4727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8c8ca1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6675120" y="4727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#8C8CA1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4"/>
          <p:cNvSpPr/>
          <p:nvPr/>
        </p:nvSpPr>
        <p:spPr>
          <a:xfrm>
            <a:off x="8229600" y="4727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Второстепенный текст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6446520" y="5294520"/>
            <a:ext cx="5101920" cy="529920"/>
          </a:xfrm>
          <a:prstGeom prst="roundRect">
            <a:avLst>
              <a:gd name="adj" fmla="val 6897"/>
            </a:avLst>
          </a:prstGeom>
          <a:solidFill>
            <a:srgbClr val="dc2626"/>
          </a:solidFill>
          <a:ln w="9525">
            <a:solidFill>
              <a:srgbClr val="d5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6675120" y="5294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ourier New"/>
                <a:ea typeface="Courier New"/>
              </a:rPr>
              <a:t>#DC2626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8229600" y="5294520"/>
            <a:ext cx="3090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Arial"/>
              </a:rPr>
              <a:t>Ошибка / предупреждение</a:t>
            </a:r>
            <a:endParaRPr b="0" lang="en-GB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9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Результаты тестирования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64008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64008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8b57"/>
                </a:solidFill>
                <a:latin typeface="Arial"/>
                <a:ea typeface="Arial"/>
              </a:rPr>
              <a:t>20/20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77724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тест-кейсов пройдено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345636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345636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e5aac"/>
                </a:solidFill>
                <a:latin typeface="Arial"/>
                <a:ea typeface="Arial"/>
              </a:rPr>
              <a:t>22–27 с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359352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среднее время обработки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627264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627264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323c8d"/>
                </a:solidFill>
                <a:latin typeface="Arial"/>
                <a:ea typeface="Arial"/>
              </a:rPr>
              <a:t>7/7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640980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требований FR выполнено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9089280" y="1280160"/>
            <a:ext cx="2669760" cy="12340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aecf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9089280" y="1444680"/>
            <a:ext cx="266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0392b"/>
                </a:solidFill>
                <a:latin typeface="Arial"/>
                <a:ea typeface="Arial"/>
              </a:rPr>
              <a:t>≤ </a:t>
            </a:r>
            <a:r>
              <a:rPr b="1" lang="en-US" sz="3000" spc="-1" strike="noStrike">
                <a:solidFill>
                  <a:srgbClr val="c0392b"/>
                </a:solidFill>
                <a:latin typeface="Arial"/>
                <a:ea typeface="Arial"/>
              </a:rPr>
              <a:t>60 с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9226440" y="205740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a6473"/>
                </a:solidFill>
                <a:latin typeface="Arial"/>
                <a:ea typeface="Arial"/>
              </a:rPr>
              <a:t>целевой показатель достигнут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64008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c8d"/>
                </a:solidFill>
                <a:latin typeface="Arial"/>
                <a:ea typeface="Arial"/>
              </a:rPr>
              <a:t>Нагрузочное тестирование (RTX 4090)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2" name="Table 0"/>
          <p:cNvGraphicFramePr/>
          <p:nvPr/>
        </p:nvGraphicFramePr>
        <p:xfrm>
          <a:off x="640080" y="3200400"/>
          <a:ext cx="5348880" cy="210276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1371600"/>
                <a:gridCol w="13716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Задач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Среднее,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Макс.,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Задач/мин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22.4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24.1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26.8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29.3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4.5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44.7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48.6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5.4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85.2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91.4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5.6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Text 14"/>
          <p:cNvSpPr/>
          <p:nvPr/>
        </p:nvSpPr>
        <p:spPr>
          <a:xfrm>
            <a:off x="626364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c8d"/>
                </a:solidFill>
                <a:latin typeface="Arial"/>
                <a:ea typeface="Arial"/>
              </a:rPr>
              <a:t>Производительность по сервисам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4" name="Table 1"/>
          <p:cNvGraphicFramePr/>
          <p:nvPr/>
        </p:nvGraphicFramePr>
        <p:xfrm>
          <a:off x="6263640" y="3200400"/>
          <a:ext cx="5284800" cy="21027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1703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Сервис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Время, с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Шагов</a:t>
                      </a:r>
                      <a:endParaRPr b="0" lang="en-GB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323c8d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Перекраска авто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24.1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25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Удаление фона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9.7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Стилизация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27.3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30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aecf6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Улучшение качества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15.4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1e243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GB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5" name="Text 15"/>
          <p:cNvSpPr/>
          <p:nvPr/>
        </p:nvSpPr>
        <p:spPr>
          <a:xfrm>
            <a:off x="640080" y="55778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e8b57"/>
                </a:solidFill>
                <a:latin typeface="Arial"/>
                <a:ea typeface="Arial"/>
              </a:rPr>
              <a:t>Все функциональные и нагрузочные тесты пройдены — сервис готов к эксплуатации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23c8d"/>
                </a:solidFill>
                <a:latin typeface="Calibri"/>
                <a:ea typeface="Calibri"/>
              </a:rPr>
              <a:t>10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23c8d"/>
                </a:solidFill>
                <a:latin typeface="Century Gothic"/>
                <a:ea typeface="Century Gothic"/>
              </a:rPr>
              <a:t>Спасибо за внимание!</a:t>
            </a:r>
            <a:endParaRPr b="0" lang="en-GB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2026-06-15T16:22:23Z</dcterms:created>
  <dc:creator>Поляков С.А.</dc:creator>
  <dc:description/>
  <dc:language>en-GB</dc:language>
  <cp:lastModifiedBy/>
  <dcterms:modified xsi:type="dcterms:W3CDTF">2026-06-15T18:31:15Z</dcterms:modified>
  <cp:revision>2</cp:revision>
  <dc:subject>PptxGenJS Presentation</dc:subject>
  <dc:title>ВКР — AI Image Editor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