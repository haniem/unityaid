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23A000-300F-4321-BD49-D472AD37DB6F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0EE18-6841-44B7-98B3-4321BA39AFC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9FE1E-E85B-4195-B4E8-C1D1D84C93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4A625-951D-4C96-B60A-EC535790688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3ED59-8629-46C3-AD35-DC262830315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1084A-B51C-433C-8518-40D78FA7A56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2CAB3-D243-4BCB-A5DF-63320D3763D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ECD19D-A3A5-4E2F-B5EF-6B1A4C916B3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02FCF-D13D-4F83-B132-897658FD0EF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8CF32-AC94-409A-9DDC-E0C3F9D0C5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3DD7CC-A80C-4608-A608-35178B5FA5C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40CFD-615F-4F8B-8E4F-8DFA527060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947600" y="320040"/>
            <a:ext cx="996660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Министерство науки и высшего образования Российской Федерации
ФГБОУ ВО «Магнитогорский государственный технический университет им. Г.И. Носова»
Институт энергетики и автоматизированных систем · Кафедра ВТиП</a:t>
            </a:r>
            <a:endParaRPr lang="en-GB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792080" y="246888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sz="2500" b="1">
                <a:solidFill>
                  <a:srgbClr val="323C8D"/>
                </a:solidFill>
                <a:latin typeface="Arial"/>
              </a:rPr>
              <a:t>ПРОЕКТИРОВАНИЕ И РАЗРАБОТКА ИНФОРМАЦИОННОЙ СИСТЕМЫ УПРАВЛЕНИЯ ВОЛОНТЕРАМИ С ЭЛЕМЕНТАМИ ГЕЙМИФИКАЦИИ И АНАЛИТИКИ</a:t>
            </a:r>
            <a:endParaRPr lang="en-GB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218760" y="5650920"/>
            <a:ext cx="8595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r"/>
            <a:r>
              <a:rPr sz="1400" b="0" dirty="0" err="1">
                <a:solidFill>
                  <a:srgbClr val="1F2637"/>
                </a:solidFill>
                <a:latin typeface="Arial"/>
              </a:rPr>
              <a:t>Выполнил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обучающийся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Зозин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П.А.
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Направление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09.03.01 —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Информатика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вычислительная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техника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
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Руководитель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доцент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кафедры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ВТиП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к.п.н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Гладышева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М.М.</a:t>
            </a:r>
            <a:endParaRPr lang="en-GB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0" y="65106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Магнитогорск, 2026</a:t>
            </a:r>
            <a:endParaRPr lang="en-GB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Цель, объект, предмет и задачи работы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2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0080" y="1143000"/>
            <a:ext cx="10881360" cy="114300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1553000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Arial"/>
              </a:rPr>
              <a:t>ЦЕЛЬ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1257407"/>
            <a:ext cx="914400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Arial"/>
              </a:rPr>
              <a:t>Повысить эффективность </a:t>
            </a:r>
            <a:r>
              <a:rPr lang="ru-RU" dirty="0" smtClean="0">
                <a:solidFill>
                  <a:srgbClr val="FFFFFF"/>
                </a:solidFill>
                <a:latin typeface="Arial"/>
              </a:rPr>
              <a:t>управления волонтерской деятельностью за счет разработки 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web-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ориентированной информационной системы 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«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Пульс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» 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с 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учетом заявок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</a:t>
            </a:r>
            <a:r>
              <a:rPr lang="ru-RU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dirty="0" smtClean="0">
                <a:solidFill>
                  <a:srgbClr val="FFFFFF"/>
                </a:solidFill>
                <a:latin typeface="Arial"/>
              </a:rPr>
              <a:t>задач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 часов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 сертификатов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 </a:t>
            </a:r>
            <a:r>
              <a:rPr lang="ru-RU" sz="1800" b="0" dirty="0" err="1" smtClean="0">
                <a:solidFill>
                  <a:srgbClr val="FFFFFF"/>
                </a:solidFill>
                <a:latin typeface="Arial"/>
              </a:rPr>
              <a:t>геймификации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и</a:t>
            </a:r>
            <a:r>
              <a:rPr lang="ru-RU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dirty="0" smtClean="0">
                <a:solidFill>
                  <a:srgbClr val="FFFFFF"/>
                </a:solidFill>
                <a:latin typeface="Arial"/>
              </a:rPr>
              <a:t>аналитики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.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40080" y="251460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2820924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E5AAC"/>
                </a:solidFill>
                <a:latin typeface="Arial"/>
              </a:rPr>
              <a:t>ОБЪЕКТ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2671941"/>
            <a:ext cx="37033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500" dirty="0" smtClean="0">
                <a:solidFill>
                  <a:srgbClr val="1F2637"/>
                </a:solidFill>
                <a:latin typeface="Arial"/>
              </a:rPr>
              <a:t>Процесс управления</a:t>
            </a:r>
            <a:r>
              <a:rPr sz="150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lang="ru-RU" sz="1500" b="0" dirty="0" smtClean="0">
                <a:solidFill>
                  <a:srgbClr val="1F2637"/>
                </a:solidFill>
                <a:latin typeface="Arial"/>
              </a:rPr>
              <a:t>волонтерской деятельностью</a:t>
            </a:r>
            <a:r>
              <a:rPr sz="150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в </a:t>
            </a:r>
            <a:r>
              <a:rPr lang="ru-RU" sz="1500" b="0" dirty="0" smtClean="0">
                <a:solidFill>
                  <a:srgbClr val="1F2637"/>
                </a:solidFill>
                <a:latin typeface="Arial"/>
              </a:rPr>
              <a:t>организации</a:t>
            </a:r>
            <a:endParaRPr sz="15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172200" y="25146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2788920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E5AAC"/>
                </a:solidFill>
                <a:latin typeface="Arial"/>
              </a:rPr>
              <a:t>ПРЕДМЕТ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61791"/>
            <a:ext cx="3611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400" dirty="0" smtClean="0">
                <a:solidFill>
                  <a:srgbClr val="1F2637"/>
                </a:solidFill>
                <a:latin typeface="Arial"/>
              </a:rPr>
              <a:t>Информационная система «Пульс» и связанные пользовательские сценарии</a:t>
            </a:r>
            <a:endParaRPr sz="14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40080" y="3657600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77240" y="3758184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3730752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Проанализировать предметную область и аналоги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657600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09360" y="3758184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730752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Спроектировать архитектуру, БД и REST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4370832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7240" y="4471416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4440" y="4443984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Реализовать backend, frontend и роли доступа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4370832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309360" y="4471416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4443984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Связать заявки, часы, достижения и сертификаты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084064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77240" y="5184648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5157216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Проверить сборку и ключевые сценарии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72200" y="5084064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309360" y="5184648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5157216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Оценить практический эффект и план пилота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Анализ аналогов: нужен локальный полный контур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3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40080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353312" y="1508760"/>
            <a:ext cx="1024128" cy="65836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59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Добро.рф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>
                <a:solidFill>
                  <a:srgbClr val="5B6476"/>
                </a:solidFill>
                <a:latin typeface="Arial"/>
              </a:rPr>
              <a:t>М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асштабная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публичная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экосистема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не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локальное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пространство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организации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447287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160520" y="1508760"/>
            <a:ext cx="1024128" cy="65836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rial"/>
              </a:rPr>
              <a:t>I/V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0168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Idealist / VolunteerMatch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03320" y="2913900"/>
            <a:ext cx="1965960" cy="62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 err="1">
                <a:solidFill>
                  <a:srgbClr val="5B6476"/>
                </a:solidFill>
                <a:latin typeface="Arial"/>
              </a:rPr>
              <a:t>С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ильный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поиск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возможностей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слабый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учет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внутреннего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вклада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6254496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967728" y="1508760"/>
            <a:ext cx="1024128" cy="65836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37376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Timecounts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10528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 err="1">
                <a:solidFill>
                  <a:srgbClr val="5B6476"/>
                </a:solidFill>
                <a:latin typeface="Arial"/>
              </a:rPr>
              <a:t>О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перационная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работа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событий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нужна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адаптация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под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аналитику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и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сертификаты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9061703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9774935" y="1508760"/>
            <a:ext cx="1024128" cy="658368"/>
          </a:xfrm>
          <a:prstGeom prst="roundRect">
            <a:avLst/>
          </a:prstGeom>
          <a:solidFill>
            <a:srgbClr val="1F2637"/>
          </a:solidFill>
          <a:ln>
            <a:solidFill>
              <a:srgbClr val="1F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44583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Golden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17735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 err="1">
                <a:solidFill>
                  <a:srgbClr val="5B6476"/>
                </a:solidFill>
                <a:latin typeface="Arial"/>
              </a:rPr>
              <a:t>К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оммерческая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SaaS-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платформа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меньше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контроля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над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моделью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данных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0080" y="4233672"/>
            <a:ext cx="10881360" cy="96012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68679" y="4268347"/>
            <a:ext cx="10415015" cy="854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FFFF"/>
                </a:solidFill>
                <a:latin typeface="Arial"/>
              </a:rPr>
              <a:t>Вывод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: </a:t>
            </a:r>
            <a:r>
              <a:rPr lang="ru-RU" sz="1650" b="1" dirty="0" err="1">
                <a:solidFill>
                  <a:srgbClr val="FFFFFF"/>
                </a:solidFill>
                <a:latin typeface="Arial"/>
              </a:rPr>
              <a:t>С</a:t>
            </a:r>
            <a:r>
              <a:rPr sz="1650" b="1" dirty="0" err="1" smtClean="0">
                <a:solidFill>
                  <a:srgbClr val="FFFFFF"/>
                </a:solidFill>
                <a:latin typeface="Arial"/>
              </a:rPr>
              <a:t>уществующие</a:t>
            </a:r>
            <a:r>
              <a:rPr sz="165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решения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закрывают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отдельные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части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процесса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но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связывают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локальные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роли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заявки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подтвержденные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часы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достижения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сертификаты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аналитику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в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одном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контуре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413248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B6476"/>
                </a:solidFill>
                <a:latin typeface="Arial"/>
              </a:rPr>
              <a:t>Покрытие полного цикла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17520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каталог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30752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3730752" y="5449824"/>
            <a:ext cx="274320" cy="118872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90288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5AAC"/>
                </a:solidFill>
                <a:latin typeface="Arial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83479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event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96712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696712" y="5449824"/>
            <a:ext cx="411480" cy="118872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56247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5AAC"/>
                </a:solidFill>
                <a:latin typeface="Arial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49440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SaaS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662671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662671" y="5449824"/>
            <a:ext cx="548640" cy="118872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522208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5AAC"/>
                </a:solidFill>
                <a:latin typeface="Arial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15400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Пульс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628632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9628632" y="5449824"/>
            <a:ext cx="822960" cy="118872"/>
          </a:xfrm>
          <a:prstGeom prst="roundRect">
            <a:avLst/>
          </a:prstGeom>
          <a:solidFill>
            <a:srgbClr val="1F9D72"/>
          </a:solidFill>
          <a:ln w="12700"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488168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9D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Технологический стек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4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640080" y="1298448"/>
            <a:ext cx="3246120" cy="27417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40080" y="1298448"/>
            <a:ext cx="3246120" cy="621792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40080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32688" y="2176272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353312" y="2135011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 smtClean="0">
                <a:solidFill>
                  <a:srgbClr val="1F2637"/>
                </a:solidFill>
                <a:latin typeface="Arial"/>
              </a:rPr>
              <a:t>Vue.js </a:t>
            </a:r>
            <a:r>
              <a:rPr sz="1600" b="1" dirty="0">
                <a:solidFill>
                  <a:srgbClr val="1F2637"/>
                </a:solidFill>
                <a:latin typeface="Arial"/>
              </a:rPr>
              <a:t>3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32688" y="2798064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353312" y="2756803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TypeScript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32688" y="3419856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353312" y="3378595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Vite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325112" y="1298448"/>
            <a:ext cx="3246120" cy="3442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325112" y="1298448"/>
            <a:ext cx="3246120" cy="621792"/>
          </a:xfrm>
          <a:prstGeom prst="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325112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617720" y="2176272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038344" y="2130791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Go + Gin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617720" y="2798064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038344" y="2752583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REST API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17720" y="3419856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038344" y="3251265"/>
            <a:ext cx="21031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JWT / refresh-сессии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17720" y="4040241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038344" y="3994760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F2637"/>
                </a:solidFill>
                <a:latin typeface="Arial"/>
              </a:rPr>
              <a:t>audit log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10144" y="1298448"/>
            <a:ext cx="3246120" cy="27417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010144" y="1298448"/>
            <a:ext cx="32461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010144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Данные / DevOps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302752" y="2176272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723376" y="2130791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PostgreSQL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302752" y="2798064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723376" y="2752583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миграции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302752" y="3419856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723376" y="3374375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F2637"/>
                </a:solidFill>
                <a:latin typeface="Arial"/>
              </a:rPr>
              <a:t>Docker Compose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1520" y="5715000"/>
            <a:ext cx="10241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 err="1">
                <a:solidFill>
                  <a:srgbClr val="5B6476"/>
                </a:solidFill>
                <a:latin typeface="Arial"/>
              </a:rPr>
              <a:t>Стек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выбран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под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web-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приложение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с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разграничением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ролей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воспроизводимым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развертыванием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реляционной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целостностью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данных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Архитектура «Пульс» связывает роли, API и данные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5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157"/>
          <p:cNvSpPr/>
          <p:nvPr/>
        </p:nvSpPr>
        <p:spPr>
          <a:xfrm>
            <a:off x="640080" y="123444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640080" y="1234440"/>
            <a:ext cx="3063240" cy="960120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14400" y="1444815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FFFF"/>
                </a:solidFill>
                <a:latin typeface="Arial"/>
              </a:rPr>
              <a:t>Уровень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представления</a:t>
            </a:r>
            <a:endParaRPr sz="16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14400" y="1810575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Vue.js SPA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77639" y="1389888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личный кабинет волонтера, панели координатора, администратора организации и суперадминистратора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715000" y="2249550"/>
            <a:ext cx="566928" cy="329184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40080" y="2648796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40080" y="2648796"/>
            <a:ext cx="3063240" cy="960120"/>
          </a:xfrm>
          <a:prstGeom prst="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14400" y="2862072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rial"/>
              </a:rPr>
              <a:t>Уровень бизнес-логики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4400" y="322783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Arial"/>
              </a:rPr>
              <a:t>Go / Gin REST API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977639" y="2804244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637"/>
                </a:solidFill>
                <a:latin typeface="Arial"/>
              </a:rPr>
              <a:t>авторизация, организации, мероприятия, заявки, задачи, часы, достижения, сертификаты, аналитика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715000" y="3669934"/>
            <a:ext cx="566928" cy="329184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0080" y="4059936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40080" y="4059936"/>
            <a:ext cx="30632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14400" y="4215384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FFFF"/>
                </a:solidFill>
                <a:latin typeface="Arial"/>
              </a:rPr>
              <a:t>Уровень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данных</a:t>
            </a:r>
            <a:endParaRPr sz="16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914400" y="4581144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977639" y="4215384"/>
            <a:ext cx="6903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dirty="0" err="1">
                <a:solidFill>
                  <a:srgbClr val="1F2637"/>
                </a:solidFill>
                <a:latin typeface="Arial"/>
              </a:rPr>
              <a:t>пользователи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роли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организации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события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time entries, audit log и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агрегаты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отчетности</a:t>
            </a:r>
            <a:endParaRPr sz="15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640080" y="5257800"/>
            <a:ext cx="10881360" cy="566928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868680" y="5276532"/>
            <a:ext cx="996696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FFFFFF"/>
                </a:solidFill>
                <a:latin typeface="Arial"/>
              </a:rPr>
              <a:t>Ключевой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принцип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заявка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посещаемость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подтвержденные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часы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достижение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сертификат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и KPI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разрознены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а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проходят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через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единую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400" b="1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покрывает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обязательный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контур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управления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6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83"/>
          <p:cNvSpPr/>
          <p:nvPr/>
        </p:nvSpPr>
        <p:spPr>
          <a:xfrm>
            <a:off x="640080" y="11704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68680" y="1246152"/>
            <a:ext cx="20574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Пользователи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роли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2880360" y="135086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 dirty="0">
                <a:solidFill>
                  <a:srgbClr val="5B6476"/>
                </a:solidFill>
                <a:latin typeface="Arial"/>
              </a:rPr>
              <a:t>users, </a:t>
            </a:r>
            <a:r>
              <a:rPr sz="1180" b="0" dirty="0" err="1">
                <a:solidFill>
                  <a:srgbClr val="5B6476"/>
                </a:solidFill>
                <a:latin typeface="Arial"/>
              </a:rPr>
              <a:t>system_roles</a:t>
            </a:r>
            <a:r>
              <a:rPr sz="1180" b="0" dirty="0">
                <a:solidFill>
                  <a:srgbClr val="5B6476"/>
                </a:solidFill>
                <a:latin typeface="Arial"/>
              </a:rPr>
              <a:t>, memberships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40080" y="20848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868680" y="2164233"/>
            <a:ext cx="20574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Организации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события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2880360" y="2268945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organizations, events, applications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40080" y="29992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868680" y="3138677"/>
            <a:ext cx="205740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Работа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вклад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2880360" y="3131820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 dirty="0">
                <a:solidFill>
                  <a:srgbClr val="5B6476"/>
                </a:solidFill>
                <a:latin typeface="Arial"/>
              </a:rPr>
              <a:t>tasks, attendance, </a:t>
            </a:r>
            <a:r>
              <a:rPr sz="1180" b="0" dirty="0" err="1">
                <a:solidFill>
                  <a:srgbClr val="5B6476"/>
                </a:solidFill>
                <a:latin typeface="Arial"/>
              </a:rPr>
              <a:t>time_entries</a:t>
            </a:r>
            <a:endParaRPr sz="118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640080" y="39136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868680" y="3942951"/>
            <a:ext cx="20574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Мотивация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отчетность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880360" y="4047663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achievements, certificates, analytics, audit_log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7240" y="4775285"/>
            <a:ext cx="507492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dirty="0" err="1">
                <a:solidFill>
                  <a:srgbClr val="1F2637"/>
                </a:solidFill>
                <a:latin typeface="Arial"/>
              </a:rPr>
              <a:t>Физическая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модель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: </a:t>
            </a:r>
            <a:r>
              <a:rPr lang="ru-RU" sz="1350" b="1" dirty="0" smtClean="0">
                <a:solidFill>
                  <a:srgbClr val="1F2637"/>
                </a:solidFill>
                <a:latin typeface="Arial"/>
              </a:rPr>
              <a:t>46</a:t>
            </a:r>
            <a:r>
              <a:rPr sz="1350" b="1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предметных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таблиц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,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внешние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ключи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,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статусы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и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журнал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аудита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.</a:t>
            </a:r>
          </a:p>
        </p:txBody>
      </p:sp>
      <p:pic>
        <p:nvPicPr>
          <p:cNvPr id="197" name="Picture 196" descr="imag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73501"/>
            <a:ext cx="4617720" cy="2825197"/>
          </a:xfrm>
          <a:prstGeom prst="rect">
            <a:avLst/>
          </a:prstGeom>
        </p:spPr>
      </p:pic>
      <p:sp>
        <p:nvSpPr>
          <p:cNvPr id="198" name="Rounded Rectangle 197"/>
          <p:cNvSpPr/>
          <p:nvPr/>
        </p:nvSpPr>
        <p:spPr>
          <a:xfrm>
            <a:off x="6446520" y="5166360"/>
            <a:ext cx="4617720" cy="661684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6629400" y="5169420"/>
            <a:ext cx="4251960" cy="6555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 dirty="0">
                <a:solidFill>
                  <a:srgbClr val="FFFFFF"/>
                </a:solidFill>
                <a:latin typeface="Arial"/>
              </a:rPr>
              <a:t>ER-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диаграмма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ядра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данные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волонтера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связаны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с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организацией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заявками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задачами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подтвержденным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вкладом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Ключевой сценарий проходит от заявки до управленческого отчета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7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685800" y="1234440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ounded Rectangle 221"/>
          <p:cNvSpPr/>
          <p:nvPr/>
        </p:nvSpPr>
        <p:spPr>
          <a:xfrm>
            <a:off x="886968" y="1463040"/>
            <a:ext cx="475488" cy="47548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554480" y="1399032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Волонтер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554480" y="1664208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подает заявку на мероприятие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172200" y="1234440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ounded Rectangle 225"/>
          <p:cNvSpPr/>
          <p:nvPr/>
        </p:nvSpPr>
        <p:spPr>
          <a:xfrm>
            <a:off x="6373368" y="1463040"/>
            <a:ext cx="475488" cy="47548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040880" y="1399032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Координатор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040880" y="1664208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рассматривает заявку и фиксирует участие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685800" y="2532888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ounded Rectangle 229"/>
          <p:cNvSpPr/>
          <p:nvPr/>
        </p:nvSpPr>
        <p:spPr>
          <a:xfrm>
            <a:off x="886968" y="2761488"/>
            <a:ext cx="475488" cy="47548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554480" y="269748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Система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554480" y="2962656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связывает мероприятие, задачу и запись времени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6172200" y="2532888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ounded Rectangle 233"/>
          <p:cNvSpPr/>
          <p:nvPr/>
        </p:nvSpPr>
        <p:spPr>
          <a:xfrm>
            <a:off x="6373368" y="2761488"/>
            <a:ext cx="475488" cy="47548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040880" y="269748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Координатор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040880" y="2962656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подтверждает часы по основанию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85800" y="3831335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ounded Rectangle 237"/>
          <p:cNvSpPr/>
          <p:nvPr/>
        </p:nvSpPr>
        <p:spPr>
          <a:xfrm>
            <a:off x="886968" y="4059935"/>
            <a:ext cx="475488" cy="475488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554480" y="3995927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Пульс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554480" y="4261103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начисляет достижения и формирует сертификат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6172200" y="3831335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ounded Rectangle 241"/>
          <p:cNvSpPr/>
          <p:nvPr/>
        </p:nvSpPr>
        <p:spPr>
          <a:xfrm>
            <a:off x="6373368" y="4059935"/>
            <a:ext cx="475488" cy="47548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0" y="3995927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Руководитель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040880" y="4261103"/>
            <a:ext cx="3794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F2637"/>
                </a:solidFill>
                <a:latin typeface="Arial"/>
              </a:rPr>
              <a:t>видит KPI и выгружает отчет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85800" y="5422391"/>
            <a:ext cx="10561320" cy="665381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14400" y="5466704"/>
            <a:ext cx="1001268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dirty="0" err="1">
                <a:solidFill>
                  <a:srgbClr val="FFFFFF"/>
                </a:solidFill>
                <a:latin typeface="Arial"/>
              </a:rPr>
              <a:t>Главный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результат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сценария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управленческие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показатели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строятся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подтвержденных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операционных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, а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ручном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сведении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таблиц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Реализованный интерфейс закрывает основные роли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8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ounded Rectangle 225"/>
          <p:cNvSpPr/>
          <p:nvPr/>
        </p:nvSpPr>
        <p:spPr>
          <a:xfrm>
            <a:off x="68580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7" name="Picture 226" descr="image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234440"/>
            <a:ext cx="3118104" cy="1481328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850392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вход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438912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0" name="Picture 229" descr="image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234440"/>
            <a:ext cx="3118104" cy="1481328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4553712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панель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09244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3" name="Picture 232" descr="image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7" y="1234440"/>
            <a:ext cx="3118104" cy="1481328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8257031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мероприятия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8580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6" name="Picture 235" descr="image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474720"/>
            <a:ext cx="3118104" cy="1481328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850392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задачи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38912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9" name="Picture 238" descr="image1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3474720"/>
            <a:ext cx="3118104" cy="1481328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4553712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часы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09244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2" name="Picture 241" descr="image1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167" y="3474720"/>
            <a:ext cx="3118104" cy="1481328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8257031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сертификаты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77240" y="5687568"/>
            <a:ext cx="10424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dirty="0" err="1">
                <a:solidFill>
                  <a:srgbClr val="5B6476"/>
                </a:solidFill>
                <a:latin typeface="Arial"/>
              </a:rPr>
              <a:t>Экранные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формы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показывают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что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результат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работы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не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ограничен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схемами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: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реализованы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рабочие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разделы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для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заявок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задач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часов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сертификатов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и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администрирования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7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Проверка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работоспособности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что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подтверждено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9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256"/>
          <p:cNvSpPr/>
          <p:nvPr/>
        </p:nvSpPr>
        <p:spPr>
          <a:xfrm>
            <a:off x="685800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822960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npm build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22960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успешно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22960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1782 модуля Vite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3447288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3584448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go test ./...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584448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5AAC"/>
                </a:solidFill>
                <a:latin typeface="Arial"/>
              </a:rPr>
              <a:t>сборка OK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584448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автотестов нет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208776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6345936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Профиль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345936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проверен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345936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миграция 020 + API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970264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9107424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Аватар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107424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проверен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107424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upload PNG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85800" y="2697480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914400" y="285292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Матрица сценариев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60120" y="33375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подтверждено запуском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3108960" y="337413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ounded Rectangle 276"/>
          <p:cNvSpPr/>
          <p:nvPr/>
        </p:nvSpPr>
        <p:spPr>
          <a:xfrm>
            <a:off x="3108960" y="3374136"/>
            <a:ext cx="2011680" cy="146304"/>
          </a:xfrm>
          <a:prstGeom prst="roundRect">
            <a:avLst/>
          </a:prstGeom>
          <a:solidFill>
            <a:srgbClr val="1F9D72"/>
          </a:solidFill>
          <a:ln w="12700"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5120640" y="33101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F9D72"/>
                </a:solidFill>
                <a:latin typeface="Arial"/>
              </a:rPr>
              <a:t>4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60120" y="384048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подтверждено реализацией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108960" y="387705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ounded Rectangle 280"/>
          <p:cNvSpPr/>
          <p:nvPr/>
        </p:nvSpPr>
        <p:spPr>
          <a:xfrm>
            <a:off x="3108960" y="3877056"/>
            <a:ext cx="1005840" cy="146304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512064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E5AAC"/>
                </a:solidFill>
                <a:latin typeface="Arial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60120" y="434340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требует опытной проверки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3108960" y="437997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ounded Rectangle 284"/>
          <p:cNvSpPr/>
          <p:nvPr/>
        </p:nvSpPr>
        <p:spPr>
          <a:xfrm>
            <a:off x="3108960" y="4379976"/>
            <a:ext cx="1005840" cy="146304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5120640" y="43159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0392B"/>
                </a:solidFill>
                <a:latin typeface="Arial"/>
              </a:rPr>
              <a:t>2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14400" y="498348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5B6476"/>
                </a:solidFill>
                <a:latin typeface="Arial"/>
              </a:rPr>
              <a:t>Формулировка результата остается корректной: подтверждены сборка, часть API и реализованный контур; полный приемочный вывод переносится в пилот.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6263640" y="2697480"/>
            <a:ext cx="4983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6492240" y="285292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Ограничения закрываются планом пилота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492240" y="3273552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чистая PostgreSQL и миграции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сценарий заявка -&gt; часы -&gt; аналитика -&gt; сертификат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unit/integration tests прав доступа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измерение времени на контрольных сценариях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58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Практический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эффект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меньше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ручного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сведения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быстрее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сценарии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10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731520" y="1252728"/>
            <a:ext cx="5120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B6476"/>
                </a:solidFill>
                <a:latin typeface="Arial"/>
              </a:rPr>
              <a:t>Расчетная оценка времени основных сценариев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896112" y="2372868"/>
            <a:ext cx="1377695" cy="1376172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896112" y="2061972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35 с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5039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заявка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602992" y="1979676"/>
            <a:ext cx="1377695" cy="1769364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602992" y="1668780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45 с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55727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часы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309872" y="1783080"/>
            <a:ext cx="1377695" cy="1965960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4309872" y="1472184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50 с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26415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KPI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31520" y="3749040"/>
            <a:ext cx="5120640" cy="9144"/>
          </a:xfrm>
          <a:prstGeom prst="rect">
            <a:avLst/>
          </a:prstGeom>
          <a:solidFill>
            <a:srgbClr val="EAECF6"/>
          </a:solidFill>
          <a:ln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ounded Rectangle 288"/>
          <p:cNvSpPr/>
          <p:nvPr/>
        </p:nvSpPr>
        <p:spPr>
          <a:xfrm>
            <a:off x="6263640" y="1234440"/>
            <a:ext cx="48920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6492240" y="1417320"/>
            <a:ext cx="4434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Что заменяет система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492240" y="1874519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Сбор заявок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001000" y="1874519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статусная заявка в системе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492240" y="231343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Учет часов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001000" y="2313432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запись связана с задачей/событием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492240" y="2752344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Сертификат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8001000" y="2752344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формируется по подтвержденным данным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492240" y="3191256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Отчетность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001000" y="319125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KPI строятся из операционной БД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731520" y="4434840"/>
            <a:ext cx="10424160" cy="105156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1005840" y="4522039"/>
            <a:ext cx="9875520" cy="8771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 err="1">
                <a:solidFill>
                  <a:srgbClr val="FFFFFF"/>
                </a:solidFill>
                <a:latin typeface="Arial"/>
              </a:rPr>
              <a:t>Практическая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значимость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: «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Пульс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»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можно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использовать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как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основу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автоматизации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малых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средних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волонтерских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организаций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студенческих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объединений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социальных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проектов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1828800" y="265176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4200" b="1">
                <a:solidFill>
                  <a:srgbClr val="323C8D"/>
                </a:solidFill>
                <a:latin typeface="Arial"/>
              </a:rPr>
              <a:t>Спасибо за внимание!</a:t>
            </a:r>
            <a:endParaRPr lang="en-GB" sz="4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828800" y="38404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800" b="0">
                <a:solidFill>
                  <a:srgbClr val="5B6476"/>
                </a:solidFill>
                <a:latin typeface="Arial"/>
              </a:rPr>
              <a:t>Информационная система «Пульс»: заявки, задачи, часы, достижения, сертификаты и аналитика в едином контуре</a:t>
            </a:r>
            <a:endParaRPr lang="en-GB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883</Words>
  <Application>Microsoft Office PowerPoint</Application>
  <PresentationFormat>Широкоэкранный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AI Image Editor</dc:title>
  <dc:subject>PptxGenJS Presentation</dc:subject>
  <dc:creator>Поляков С.А.</dc:creator>
  <dc:description/>
  <cp:lastModifiedBy>Павел</cp:lastModifiedBy>
  <cp:revision>4</cp:revision>
  <dcterms:created xsi:type="dcterms:W3CDTF">2026-06-15T16:22:23Z</dcterms:created>
  <dcterms:modified xsi:type="dcterms:W3CDTF">2026-06-16T18:21:40Z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